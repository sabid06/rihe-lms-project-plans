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fbd0822-149c-e302-7a1b-6aa6bc0a6400}">
          <p14:sldIdLst>
            <p14:sldId id="256"/>
            <p14:sldId id="257"/>
            <p14:sldId id="258"/>
            <p14:sldId id="259"/>
          </p14:sldIdLst>
        </p14:section>
        <p14:section name="Objectives, scope and platform" id="{1fef3b77-5a3e-8303-08ab-cd04aa131068}">
          <p14:sldIdLst>
            <p14:sldId id="260"/>
            <p14:sldId id="261"/>
            <p14:sldId id="262"/>
            <p14:sldId id="263"/>
            <p14:sldId id="264"/>
          </p14:sldIdLst>
        </p14:section>
        <p14:section name="Plan and schedule" id="{e38d6920-faa6-2fc5-458d-a10aea3c1643}">
          <p14:sldIdLst>
            <p14:sldId id="265"/>
            <p14:sldId id="266"/>
            <p14:sldId id="267"/>
            <p14:sldId id="268"/>
            <p14:sldId id="269"/>
            <p14:sldId id="270"/>
          </p14:sldIdLst>
        </p14:section>
        <p14:section name="Control processes" id="{0d7af271-9f9e-a88e-11b3-d06de67dccf0}">
          <p14:sldIdLst>
            <p14:sldId id="271"/>
            <p14:sldId id="272"/>
            <p14:sldId id="273"/>
            <p14:sldId id="274"/>
            <p14:sldId id="275"/>
            <p14:sldId id="276"/>
          </p14:sldIdLst>
        </p14:section>
        <p14:section name="Delivery and close" id="{272fd040-f7e1-9739-6c76-47a0303321be}">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84B"/>
                </a:solidFill>
                <a:latin typeface="+mn-lt"/>
              </a:defRPr>
            </a:pPr>
            <a:r>
              <a:rPr sz="1400" b="0" i="0" u="none" strike="noStrike">
                <a:solidFill>
                  <a:srgbClr val="14284B"/>
                </a:solidFill>
                <a:latin typeface="+mn-lt"/>
              </a:rPr>
              <a:t>Cost by category (AUD, planning estimate)</a:t>
            </a:r>
          </a:p>
        </c:rich>
      </c:tx>
      <c:layout/>
      <c:overlay val="0"/>
    </c:title>
    <c:autoTitleDeleted val="0"/>
    <c:plotArea>
      <c:layout/>
      <c:barChart>
        <c:barDir val="bar"/>
        <c:grouping val="clustered"/>
        <c:varyColors val="0"/>
        <c:ser>
          <c:idx val="0"/>
          <c:order val="0"/>
          <c:tx>
            <c:strRef>
              <c:f>Sheet1!$B$1</c:f>
              <c:strCache>
                <c:ptCount val="1"/>
                <c:pt idx="0">
                  <c:v>AUD</c:v>
                </c:pt>
              </c:strCache>
            </c:strRef>
          </c:tx>
          <c:spPr>
            <a:solidFill>
              <a:srgbClr val="14284B"/>
            </a:solidFill>
            <a:effectLst/>
          </c:spPr>
          <c:invertIfNegative val="0"/>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Sheet1!$A$2:$A$7</c:f>
              <c:multiLvlStrCache>
                <c:ptCount val="6"/>
                <c:lvl>
                  <c:pt idx="0">
                    <c:v>Security and accessibility review</c:v>
                  </c:pt>
                  <c:pt idx="1">
                    <c:v>Training delivery and materials</c:v>
                  </c:pt>
                  <c:pt idx="2">
                    <c:v>Moodle Partner retainer (optional)</c:v>
                  </c:pt>
                  <c:pt idx="3">
                    <c:v>Cloud hosting (4 envs, year 1)</c:v>
                  </c:pt>
                  <c:pt idx="4">
                    <c:v>Contingency (10%)</c:v>
                  </c:pt>
                  <c:pt idx="5">
                    <c:v>Project labour</c:v>
                  </c:pt>
                </c:lvl>
              </c:multiLvlStrCache>
            </c:multiLvlStrRef>
          </c:cat>
          <c:val>
            <c:numRef>
              <c:f>Sheet1!$B$2:$B$7</c:f>
              <c:numCache>
                <c:formatCode>General</c:formatCode>
                <c:ptCount val="6"/>
                <c:pt idx="0">
                  <c:v>12000</c:v>
                </c:pt>
                <c:pt idx="1">
                  <c:v>14000</c:v>
                </c:pt>
                <c:pt idx="2">
                  <c:v>15000</c:v>
                </c:pt>
                <c:pt idx="3">
                  <c:v>18000</c:v>
                </c:pt>
                <c:pt idx="4">
                  <c:v>30700</c:v>
                </c:pt>
                <c:pt idx="5">
                  <c:v>248000</c:v>
                </c:pt>
              </c:numCache>
            </c:numRef>
          </c:val>
        </c:ser>
        <c:dLbls>
          <c:numFmt formatCode="#,##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290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We are presenting our project plan for developing and deploying a Learning Management System for Riverbend Institute of Higher Education, a fictional Melbourne-based private provider. Everything we show is a plan: institutional figures, dates and costs are hypothetical planning assumptions taken from our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talk has five parts: the problem and why the project is needed; objectives, scope and platform choice; the plan and schedule; the control processes for risk, issues, change, communication and quality; and finally configuration management, deployment and our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RIHE has roughly 2,800 students, 140 academic staff and four schools. Learning materials sit in shared drives, email and an ageing portal that is near the end of vendor support. Submission and feedback are partly manual, and student data is spread across systems with inconsistent access control, which weakens privacy compliance. These figures are hypothetical planning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propose one centralised, web-based LMS, recommended to be Moodle. It will provide course delivery, assignment submission and feedback, quizzes and a gradebook, progress tracking, announcements, and role-based access to student information. These are planned capabilities, not delivered results. The image on the right is an AWS reference pattern for hosting Moodle, shown only to illustrate a typical cloud architecture; our actual design is a deliverable of work package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SMART objectives define acceptance. O1 and O2 are measured at the go/no-go review in Week 24, so UAT defects can be fixed before go-live. O3 covers migration by Week 16, O4 the 90% training target by Week 21, O5 accessibility and security by Week 17, and O6 budget and closure by Week 28. On the right are the broader benefits we expect, which are not acceptance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shape our plan. First, perceived usefulness and ease of use drive adoption, so we test usability and use course templates. Second, lecturer workload and resistance are the most persistent barriers, seen in both Swedish and Philippine studies, so this is our only High risk. Third, the Oslo case shows that a pilot and support help, while sudden introduction hurts, so we pilot five courses first. Fourth, system and information quality drive satisfaction, so our quality plan measures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gives every decision one accountable owner. Dr Helen Carter, the sponsor, chairs the steering committee and the Change Control Board, and holds go/no-go authority. Daniel Reyes, the project manager, runs day-to-day control and may approve only minor changes up to 5,000 dollars that do not touch scope or the critical path. The charter is planned for signature at milestone M1; nothing has been signed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boundaries protect the baseline. In scope we have requirements and platform evaluation, four environments, installation and configuration, current-trimester migration, the full test programme and UAT, training, a five-course pilot, deployment, two weeks of hypercare, handover, and GitHub configuration management. Out of scope are video conferencing, payments, a native mobile app, real-time SIS integration, archived courses and curriculum redesign. Any change to this goes through change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compared Moodle and Canvas on seven weighted criteria. Moodle scores 4.05 and Canvas 3.80, mainly because of cost and control. The margin is narrow: if usability were weighted 25% and licensing 15%, Canvas would win 4.00 to 3.85. So the decision reflects RIHE's budget and data-control priorities, and Moodle's weaknesses are treated as explicit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WBS is deliverable-oriented, following the 100% rule. Level 1 has 13 work packages from initiation through support and closure, plus a cross-cutting project management package. Each Level 2 deliverable is mapped to one of the 25 scheduled tasks, so the WBS and schedule cover exactly the same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zero-duration milestones gate the plan, from charter approval on 5 February to project closure on 13 August 2027. No phase starts until its approver signs off. Below the timeline are the major deliverables grouped by stage. These are planning dates from an assumed start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Gantt chart from our report. The project runs 28 weeks from an assumed start of 1 February 2027. Go-live is in Week 25, 19 to 23 July, just before Trimester 2 teaching starts, and closure is in Week 28. Red bars are the critical path, diamonds are milestones and dashed arrows show the two start-to-start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forward and backward pass gives 28 weeks. The critical path runs from the charter through requirements, design, environments, configuration, testing, the pilot, remediation, UAT, retest, deployment, hypercare and closure. Environment provisioning starts one week after design starts, a start-to-start link shown in purple. Any delay on these tasks delays go-live. Content migration has only one week of float, so it is monitored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RACI matrix gives every deliverable exactly one Accountable role, usually the project manager, with the sponsor accountable for the charter, platform decision, go-live and closure. Resource peaks occur in Weeks 14 to 16 and 19 to 21; we use float, a casual assistant funded from contingency, and lecturer champions as co-trainers.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indicative budget is 337,700 Australian dollars. Labour is the largest item at 248,000. Hosting, an optional Moodle Partner retainer, an external security and accessibility review and training make up the rest, plus a 10% contingency of 30,700. Moodle has no per-seat licence, but it is not free to run. These are illustrative planning estimates, not quotations or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identified 14 risks from the literature, scope and schedule, scored on a five-by-five likelihood and impact matrix. The heat map shows each risk before and after controls. R1, low lecturer adoption, is the only High inherent risk. After controls everything except R1 falls into the Low band; R5 and R6 keep maximum impact because controls reduce likelihood, not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risk has preventive controls that reduce likelihood and a contingency response if it still occurs. We then priced residual risk as expected monetary value: probability times cost impact. For example, R1 is 20% times 25,000, or 5,000 dollars. The total across all 14 risks is 29,750 dollars, which the 30,700 dollar contingency covers. So the contingency is calculated from the risk register, not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Issues follow eight steps: log as a GitHub Issue, assess severity and priority, assign one owner, set a target date, escalate if overdue or if the baseline is affected, track corrective action, verify and close, and record lessons. Target resolution is one working day for Critical up to the next release for Low. The ISS-007 example is a template illustration, not a real resolved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change control has ten steps, from submitting a change request as a GitHub Issue through impact assessment, a CCB decision, implementation on a feature branch, testing, a reviewed merge, communication and closure. In our worked example, CR-014 asks for video conferencing. It would add three weeks to a critical task, push go-live into the teaching trimester and use 60% of contingency, so the CCB rejects it for this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supports adoption. The sponsor and steering committee get fortnightly reports and monthly meetings. Lecturers get monthly bulletins and training notices, pilot users get weekly updates, and students hear four weeks and one week before go-live. Engagement follows a power-interest grid: we manage the sponsor, heads of school and IT closely, and actively involve lecturers.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assurance prevents defects through reviews and controlled processes; quality control detects them through testing. Our gates run from requirements traceability through functional, security, accessibility, performance and backup testing, the pilot, UAT, and the go/no-go review. Every mandatory gate must pass before deployment. These are planned controls, not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is our configuration management tool. Every change starts as a labelled issue, is made on a feature branch with conventional commit messages, goes through a pull request approved by another member, and merges into a protected main branch. Approved baselines are tagged from v0.1 to v2.0. Secrets, student data and the database are never committed. This slide shows the planned workflow; repository evidence will be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 phased. A three-week, five-course pilot is followed by remediation, UAT, retest and the go/no-go decision in Week 24. Go-live is Week 25, followed by two weeks of hypercare and handover in Week 28. If cut-over fails, we restore the last verified backup. Our conclusion: a pilot-led, change-managed Moodle implementation is the lowest-risk way for RIHE to replace its fragmented tools. This is a plan, not a completed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listening. We are happy to take questions about any part of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rtlCol="0"/>
          <a:lstStyle>
            <a:lvl1pPr indent="0" marL="0">
              <a:buNone/>
              <a:defRPr lang="en-US" sz="2800" b="1" dirty="0">
                <a:solidFill>
                  <a:srgbClr val="14284B"/>
                </a:solidFill>
                <a:latin typeface="Calibri" pitchFamily="34" charset="0"/>
                <a:ea typeface="Calibri" pitchFamily="34" charset="-122"/>
                <a:cs typeface="Calibri"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jp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2.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2.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slideLayout" Target="../slideLayouts/slideLayout2.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cover2.jpg">    </p:cNvPr>
          <p:cNvPicPr>
            <a:picLocks noChangeAspect="1"/>
          </p:cNvPicPr>
          <p:nvPr/>
        </p:nvPicPr>
        <p:blipFill>
          <a:blip r:embed="rId1"/>
          <a:stretch>
            <a:fillRect/>
          </a:stretch>
        </p:blipFill>
        <p:spPr>
          <a:xfrm>
            <a:off x="7068312" y="0"/>
            <a:ext cx="5120640" cy="6858000"/>
          </a:xfrm>
          <a:prstGeom prst="rect">
            <a:avLst/>
          </a:prstGeom>
        </p:spPr>
      </p:pic>
      <p:sp>
        <p:nvSpPr>
          <p:cNvPr id="3" name="Shape 0"/>
          <p:cNvSpPr/>
          <p:nvPr/>
        </p:nvSpPr>
        <p:spPr>
          <a:xfrm>
            <a:off x="7068312" y="0"/>
            <a:ext cx="5120640" cy="6858000"/>
          </a:xfrm>
          <a:prstGeom prst="rect">
            <a:avLst/>
          </a:prstGeom>
          <a:solidFill>
            <a:srgbClr val="14284B">
              <a:alpha val="18000"/>
            </a:srgbClr>
          </a:solidFill>
          <a:ln w="12700">
            <a:solidFill>
              <a:srgbClr val="14284B"/>
            </a:solidFill>
            <a:prstDash val="solid"/>
          </a:ln>
        </p:spPr>
      </p:sp>
      <p:pic>
        <p:nvPicPr>
          <p:cNvPr id="4" name="Image 1" descr="assets/logo.png">    </p:cNvPr>
          <p:cNvPicPr>
            <a:picLocks noChangeAspect="1"/>
          </p:cNvPicPr>
          <p:nvPr/>
        </p:nvPicPr>
        <p:blipFill>
          <a:blip r:embed="rId2"/>
          <a:stretch>
            <a:fillRect/>
          </a:stretch>
        </p:blipFill>
        <p:spPr>
          <a:xfrm>
            <a:off x="548640" y="411480"/>
            <a:ext cx="2377440" cy="914400"/>
          </a:xfrm>
          <a:prstGeom prst="rect">
            <a:avLst/>
          </a:prstGeom>
        </p:spPr>
      </p:pic>
      <p:sp>
        <p:nvSpPr>
          <p:cNvPr id="5" name="Text 1"/>
          <p:cNvSpPr txBox="1"/>
          <p:nvPr/>
        </p:nvSpPr>
        <p:spPr>
          <a:xfrm>
            <a:off x="548640" y="1600200"/>
            <a:ext cx="6217920" cy="320040"/>
          </a:xfrm>
          <a:prstGeom prst="rect">
            <a:avLst/>
          </a:prstGeom>
          <a:noFill/>
          <a:ln/>
        </p:spPr>
        <p:txBody>
          <a:bodyPr wrap="square" lIns="0" tIns="0" rIns="0" bIns="0" rtlCol="0" anchor="t"/>
          <a:lstStyle/>
          <a:p>
            <a:pPr indent="0" marL="0">
              <a:buNone/>
            </a:pPr>
            <a:r>
              <a:rPr lang="en-US" sz="1400" b="1" dirty="0">
                <a:solidFill>
                  <a:srgbClr val="0F8B8D"/>
                </a:solidFill>
                <a:latin typeface="Calibri" pitchFamily="34" charset="0"/>
                <a:ea typeface="Calibri" pitchFamily="34" charset="-122"/>
                <a:cs typeface="Calibri" pitchFamily="34" charset="-120"/>
              </a:rPr>
              <a:t>ITSU2006R — Project Management  |  Assessment Item 3</a:t>
            </a:r>
            <a:endParaRPr lang="en-US" sz="1400" dirty="0"/>
          </a:p>
        </p:txBody>
      </p:sp>
      <p:sp>
        <p:nvSpPr>
          <p:cNvPr id="6" name="Text 2"/>
          <p:cNvSpPr txBox="1"/>
          <p:nvPr/>
        </p:nvSpPr>
        <p:spPr>
          <a:xfrm>
            <a:off x="548640" y="1920240"/>
            <a:ext cx="6217920" cy="32004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Project Plan Presentation</a:t>
            </a:r>
            <a:endParaRPr lang="en-US" sz="1400" dirty="0"/>
          </a:p>
        </p:txBody>
      </p:sp>
      <p:sp>
        <p:nvSpPr>
          <p:cNvPr id="7" name="Text 3"/>
          <p:cNvSpPr txBox="1"/>
          <p:nvPr/>
        </p:nvSpPr>
        <p:spPr>
          <a:xfrm>
            <a:off x="548640" y="2331720"/>
            <a:ext cx="6309360" cy="1417320"/>
          </a:xfrm>
          <a:prstGeom prst="rect">
            <a:avLst/>
          </a:prstGeom>
          <a:noFill/>
          <a:ln/>
        </p:spPr>
        <p:txBody>
          <a:bodyPr wrap="square" lIns="0" tIns="0" rIns="0" bIns="0" rtlCol="0" anchor="ctr"/>
          <a:lstStyle/>
          <a:p>
            <a:pPr indent="0" marL="0">
              <a:buNone/>
            </a:pPr>
            <a:r>
              <a:rPr lang="en-US" sz="3000" b="1" dirty="0">
                <a:solidFill>
                  <a:srgbClr val="14284B"/>
                </a:solidFill>
                <a:latin typeface="Calibri" pitchFamily="34" charset="0"/>
                <a:ea typeface="Calibri" pitchFamily="34" charset="-122"/>
                <a:cs typeface="Calibri" pitchFamily="34" charset="-120"/>
              </a:rPr>
              <a:t>Development and Deployment of a Learning Management System (LMS) for Online Education</a:t>
            </a:r>
            <a:endParaRPr lang="en-US" sz="3000" dirty="0"/>
          </a:p>
        </p:txBody>
      </p:sp>
      <p:sp>
        <p:nvSpPr>
          <p:cNvPr id="8" name="Shape 4"/>
          <p:cNvSpPr/>
          <p:nvPr/>
        </p:nvSpPr>
        <p:spPr>
          <a:xfrm>
            <a:off x="548640" y="3931920"/>
            <a:ext cx="6217920" cy="1828800"/>
          </a:xfrm>
          <a:prstGeom prst="roundRect">
            <a:avLst>
              <a:gd name="adj" fmla="val 4000"/>
            </a:avLst>
          </a:prstGeom>
          <a:solidFill>
            <a:srgbClr val="F3F5F8"/>
          </a:solidFill>
          <a:ln w="12700">
            <a:solidFill>
              <a:srgbClr val="F3F5F8"/>
            </a:solidFill>
            <a:prstDash val="solid"/>
          </a:ln>
        </p:spPr>
      </p:sp>
      <p:sp>
        <p:nvSpPr>
          <p:cNvPr id="9" name="Text 5"/>
          <p:cNvSpPr txBox="1"/>
          <p:nvPr/>
        </p:nvSpPr>
        <p:spPr>
          <a:xfrm>
            <a:off x="777240" y="4041648"/>
            <a:ext cx="2743200" cy="274320"/>
          </a:xfrm>
          <a:prstGeom prst="rect">
            <a:avLst/>
          </a:prstGeom>
          <a:noFill/>
          <a:ln/>
        </p:spPr>
        <p:txBody>
          <a:bodyPr wrap="square" lIns="0" tIns="0" rIns="0" bIns="0" rtlCol="0" anchor="t"/>
          <a:lstStyle/>
          <a:p>
            <a:pPr indent="0" marL="0">
              <a:buNone/>
            </a:pPr>
            <a:r>
              <a:rPr lang="en-US" sz="1200" b="1" dirty="0">
                <a:solidFill>
                  <a:srgbClr val="0F8B8D"/>
                </a:solidFill>
                <a:latin typeface="Calibri" pitchFamily="34" charset="0"/>
                <a:ea typeface="Calibri" pitchFamily="34" charset="-122"/>
                <a:cs typeface="Calibri" pitchFamily="34" charset="-120"/>
              </a:rPr>
              <a:t>Prepared by</a:t>
            </a:r>
            <a:endParaRPr lang="en-US" sz="1200" dirty="0"/>
          </a:p>
        </p:txBody>
      </p:sp>
      <p:sp>
        <p:nvSpPr>
          <p:cNvPr id="10" name="Text 6"/>
          <p:cNvSpPr txBox="1"/>
          <p:nvPr/>
        </p:nvSpPr>
        <p:spPr>
          <a:xfrm>
            <a:off x="777240" y="4370832"/>
            <a:ext cx="2926080" cy="530352"/>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MD Sabid Hossen</a:t>
            </a:r>
            <a:endParaRPr lang="en-US" sz="1400" dirty="0"/>
          </a:p>
          <a:p>
            <a:pPr indent="0" marL="0">
              <a:buNone/>
            </a:pPr>
            <a:r>
              <a:rPr lang="en-US" sz="1200" dirty="0">
                <a:solidFill>
                  <a:srgbClr val="5B6576"/>
                </a:solidFill>
                <a:latin typeface="Calibri" pitchFamily="34" charset="0"/>
                <a:ea typeface="Calibri" pitchFamily="34" charset="-122"/>
                <a:cs typeface="Calibri" pitchFamily="34" charset="-120"/>
              </a:rPr>
              <a:t>Student ID: 66311</a:t>
            </a:r>
            <a:endParaRPr lang="en-US" sz="1400" dirty="0"/>
          </a:p>
        </p:txBody>
      </p:sp>
      <p:sp>
        <p:nvSpPr>
          <p:cNvPr id="11" name="Text 7"/>
          <p:cNvSpPr txBox="1"/>
          <p:nvPr/>
        </p:nvSpPr>
        <p:spPr>
          <a:xfrm>
            <a:off x="3794760" y="4370832"/>
            <a:ext cx="2926080" cy="530352"/>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Yousuf Ali</a:t>
            </a:r>
            <a:endParaRPr lang="en-US" sz="1400" dirty="0"/>
          </a:p>
          <a:p>
            <a:pPr indent="0" marL="0">
              <a:buNone/>
            </a:pPr>
            <a:r>
              <a:rPr lang="en-US" sz="1200" dirty="0">
                <a:solidFill>
                  <a:srgbClr val="5B6576"/>
                </a:solidFill>
                <a:latin typeface="Calibri" pitchFamily="34" charset="0"/>
                <a:ea typeface="Calibri" pitchFamily="34" charset="-122"/>
                <a:cs typeface="Calibri" pitchFamily="34" charset="-120"/>
              </a:rPr>
              <a:t>Student ID: 68306</a:t>
            </a:r>
            <a:endParaRPr lang="en-US" sz="1400" dirty="0"/>
          </a:p>
        </p:txBody>
      </p:sp>
      <p:sp>
        <p:nvSpPr>
          <p:cNvPr id="12" name="Text 8"/>
          <p:cNvSpPr txBox="1"/>
          <p:nvPr/>
        </p:nvSpPr>
        <p:spPr>
          <a:xfrm>
            <a:off x="777240" y="4937760"/>
            <a:ext cx="2926080" cy="530352"/>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M Arnab bin Zaman</a:t>
            </a:r>
            <a:endParaRPr lang="en-US" sz="1400" dirty="0"/>
          </a:p>
          <a:p>
            <a:pPr indent="0" marL="0">
              <a:buNone/>
            </a:pPr>
            <a:r>
              <a:rPr lang="en-US" sz="1200" dirty="0">
                <a:solidFill>
                  <a:srgbClr val="5B6576"/>
                </a:solidFill>
                <a:latin typeface="Calibri" pitchFamily="34" charset="0"/>
                <a:ea typeface="Calibri" pitchFamily="34" charset="-122"/>
                <a:cs typeface="Calibri" pitchFamily="34" charset="-120"/>
              </a:rPr>
              <a:t>Student ID: 71963</a:t>
            </a:r>
            <a:endParaRPr lang="en-US" sz="1400" dirty="0"/>
          </a:p>
        </p:txBody>
      </p:sp>
      <p:sp>
        <p:nvSpPr>
          <p:cNvPr id="13" name="Text 9"/>
          <p:cNvSpPr txBox="1"/>
          <p:nvPr/>
        </p:nvSpPr>
        <p:spPr>
          <a:xfrm>
            <a:off x="3794760" y="4937760"/>
            <a:ext cx="2926080" cy="530352"/>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Mahmudul Hassan Joy</a:t>
            </a:r>
            <a:endParaRPr lang="en-US" sz="1400" dirty="0"/>
          </a:p>
          <a:p>
            <a:pPr indent="0" marL="0">
              <a:buNone/>
            </a:pPr>
            <a:r>
              <a:rPr lang="en-US" sz="1200" dirty="0">
                <a:solidFill>
                  <a:srgbClr val="5B6576"/>
                </a:solidFill>
                <a:latin typeface="Calibri" pitchFamily="34" charset="0"/>
                <a:ea typeface="Calibri" pitchFamily="34" charset="-122"/>
                <a:cs typeface="Calibri" pitchFamily="34" charset="-120"/>
              </a:rPr>
              <a:t>Student ID: 68121</a:t>
            </a:r>
            <a:endParaRPr lang="en-US" sz="1400" dirty="0"/>
          </a:p>
        </p:txBody>
      </p:sp>
      <p:sp>
        <p:nvSpPr>
          <p:cNvPr id="14" name="Text 10"/>
          <p:cNvSpPr txBox="1"/>
          <p:nvPr/>
        </p:nvSpPr>
        <p:spPr>
          <a:xfrm>
            <a:off x="548640" y="5989320"/>
            <a:ext cx="6309360" cy="457200"/>
          </a:xfrm>
          <a:prstGeom prst="rect">
            <a:avLst/>
          </a:prstGeom>
          <a:noFill/>
          <a:ln/>
        </p:spPr>
        <p:txBody>
          <a:bodyPr wrap="square" lIns="0" tIns="0" rIns="0" bIns="0" rtlCol="0" anchor="t"/>
          <a:lstStyle/>
          <a:p>
            <a:pPr indent="0" marL="0">
              <a:buNone/>
            </a:pPr>
            <a:r>
              <a:rPr lang="en-US" sz="1100" i="1" dirty="0">
                <a:solidFill>
                  <a:srgbClr val="5B6576"/>
                </a:solidFill>
                <a:latin typeface="Calibri" pitchFamily="34" charset="0"/>
                <a:ea typeface="Calibri" pitchFamily="34" charset="-122"/>
                <a:cs typeface="Calibri" pitchFamily="34" charset="-120"/>
              </a:rPr>
              <a:t>Riverbend Institute of Higher Education (RIHE) is a fictional organisation. Institutional figures, costs and targets are hypothetical planning assumptions.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Presentation overview</a:t>
            </a:r>
            <a:endParaRPr lang="en-US" sz="2800" dirty="0"/>
          </a:p>
        </p:txBody>
      </p:sp>
      <p:pic>
        <p:nvPicPr>
          <p:cNvPr id="3" name="Image 0" descr="assets/agenda.jpg">    </p:cNvPr>
          <p:cNvPicPr>
            <a:picLocks noChangeAspect="1"/>
          </p:cNvPicPr>
          <p:nvPr/>
        </p:nvPicPr>
        <p:blipFill>
          <a:blip r:embed="rId1"/>
          <a:stretch>
            <a:fillRect/>
          </a:stretch>
        </p:blipFill>
        <p:spPr>
          <a:xfrm>
            <a:off x="7818120" y="1188720"/>
            <a:ext cx="3822192" cy="4800600"/>
          </a:xfrm>
          <a:prstGeom prst="rect">
            <a:avLst/>
          </a:prstGeom>
        </p:spPr>
      </p:pic>
      <p:sp>
        <p:nvSpPr>
          <p:cNvPr id="4" name="Shape 1"/>
          <p:cNvSpPr/>
          <p:nvPr/>
        </p:nvSpPr>
        <p:spPr>
          <a:xfrm>
            <a:off x="548640" y="1234440"/>
            <a:ext cx="658368" cy="658368"/>
          </a:xfrm>
          <a:prstGeom prst="ellipse">
            <a:avLst/>
          </a:prstGeom>
          <a:solidFill>
            <a:srgbClr val="14284B"/>
          </a:solidFill>
          <a:ln w="12700">
            <a:solidFill>
              <a:srgbClr val="14284B"/>
            </a:solidFill>
            <a:prstDash val="solid"/>
          </a:ln>
        </p:spPr>
      </p:sp>
      <p:pic>
        <p:nvPicPr>
          <p:cNvPr id="5" name="Image 1" descr="preencoded.png">    </p:cNvPr>
          <p:cNvPicPr>
            <a:picLocks noChangeAspect="1"/>
          </p:cNvPicPr>
          <p:nvPr/>
        </p:nvPicPr>
        <p:blipFill>
          <a:blip r:embed="rId2"/>
          <a:stretch>
            <a:fillRect/>
          </a:stretch>
        </p:blipFill>
        <p:spPr>
          <a:xfrm>
            <a:off x="706648" y="1392448"/>
            <a:ext cx="342351" cy="342351"/>
          </a:xfrm>
          <a:prstGeom prst="rect">
            <a:avLst/>
          </a:prstGeom>
        </p:spPr>
      </p:pic>
      <p:sp>
        <p:nvSpPr>
          <p:cNvPr id="6" name="Text 2"/>
          <p:cNvSpPr txBox="1"/>
          <p:nvPr/>
        </p:nvSpPr>
        <p:spPr>
          <a:xfrm>
            <a:off x="1371600" y="1252728"/>
            <a:ext cx="548640" cy="32004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01</a:t>
            </a:r>
            <a:endParaRPr lang="en-US" sz="1400" dirty="0"/>
          </a:p>
        </p:txBody>
      </p:sp>
      <p:sp>
        <p:nvSpPr>
          <p:cNvPr id="7" name="Text 3"/>
          <p:cNvSpPr txBox="1"/>
          <p:nvPr/>
        </p:nvSpPr>
        <p:spPr>
          <a:xfrm>
            <a:off x="1874520" y="1216152"/>
            <a:ext cx="5669280" cy="365760"/>
          </a:xfrm>
          <a:prstGeom prst="rect">
            <a:avLst/>
          </a:prstGeom>
          <a:noFill/>
          <a:ln/>
        </p:spPr>
        <p:txBody>
          <a:bodyPr wrap="square" lIns="0" tIns="0" rIns="0" bIns="0" rtlCol="0" anchor="t"/>
          <a:lstStyle/>
          <a:p>
            <a:pPr indent="0" marL="0">
              <a:buNone/>
            </a:pPr>
            <a:r>
              <a:rPr lang="en-US" sz="1800" b="1" dirty="0">
                <a:solidFill>
                  <a:srgbClr val="14284B"/>
                </a:solidFill>
                <a:latin typeface="Calibri" pitchFamily="34" charset="0"/>
                <a:ea typeface="Calibri" pitchFamily="34" charset="-122"/>
                <a:cs typeface="Calibri" pitchFamily="34" charset="-120"/>
              </a:rPr>
              <a:t>Problem and rationale</a:t>
            </a:r>
            <a:endParaRPr lang="en-US" sz="1800" dirty="0"/>
          </a:p>
        </p:txBody>
      </p:sp>
      <p:sp>
        <p:nvSpPr>
          <p:cNvPr id="8" name="Text 4"/>
          <p:cNvSpPr txBox="1"/>
          <p:nvPr/>
        </p:nvSpPr>
        <p:spPr>
          <a:xfrm>
            <a:off x="1874520" y="1581912"/>
            <a:ext cx="5669280" cy="36576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Why RIHE needs a centralised LMS, and what the literature says about adoption</a:t>
            </a:r>
            <a:endParaRPr lang="en-US" sz="1400" dirty="0"/>
          </a:p>
        </p:txBody>
      </p:sp>
      <p:sp>
        <p:nvSpPr>
          <p:cNvPr id="9" name="Shape 5"/>
          <p:cNvSpPr/>
          <p:nvPr/>
        </p:nvSpPr>
        <p:spPr>
          <a:xfrm>
            <a:off x="548640" y="2194560"/>
            <a:ext cx="658368" cy="658368"/>
          </a:xfrm>
          <a:prstGeom prst="ellipse">
            <a:avLst/>
          </a:prstGeom>
          <a:solidFill>
            <a:srgbClr val="14284B"/>
          </a:solidFill>
          <a:ln w="12700">
            <a:solidFill>
              <a:srgbClr val="14284B"/>
            </a:solidFill>
            <a:prstDash val="solid"/>
          </a:ln>
        </p:spPr>
      </p:sp>
      <p:pic>
        <p:nvPicPr>
          <p:cNvPr id="10" name="Image 2" descr="preencoded.png">    </p:cNvPr>
          <p:cNvPicPr>
            <a:picLocks noChangeAspect="1"/>
          </p:cNvPicPr>
          <p:nvPr/>
        </p:nvPicPr>
        <p:blipFill>
          <a:blip r:embed="rId3"/>
          <a:stretch>
            <a:fillRect/>
          </a:stretch>
        </p:blipFill>
        <p:spPr>
          <a:xfrm>
            <a:off x="706648" y="2352568"/>
            <a:ext cx="342351" cy="342351"/>
          </a:xfrm>
          <a:prstGeom prst="rect">
            <a:avLst/>
          </a:prstGeom>
        </p:spPr>
      </p:pic>
      <p:sp>
        <p:nvSpPr>
          <p:cNvPr id="11" name="Text 6"/>
          <p:cNvSpPr txBox="1"/>
          <p:nvPr/>
        </p:nvSpPr>
        <p:spPr>
          <a:xfrm>
            <a:off x="1371600" y="2212848"/>
            <a:ext cx="548640" cy="32004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02</a:t>
            </a:r>
            <a:endParaRPr lang="en-US" sz="1400" dirty="0"/>
          </a:p>
        </p:txBody>
      </p:sp>
      <p:sp>
        <p:nvSpPr>
          <p:cNvPr id="12" name="Text 7"/>
          <p:cNvSpPr txBox="1"/>
          <p:nvPr/>
        </p:nvSpPr>
        <p:spPr>
          <a:xfrm>
            <a:off x="1874520" y="2176272"/>
            <a:ext cx="5669280" cy="365760"/>
          </a:xfrm>
          <a:prstGeom prst="rect">
            <a:avLst/>
          </a:prstGeom>
          <a:noFill/>
          <a:ln/>
        </p:spPr>
        <p:txBody>
          <a:bodyPr wrap="square" lIns="0" tIns="0" rIns="0" bIns="0" rtlCol="0" anchor="t"/>
          <a:lstStyle/>
          <a:p>
            <a:pPr indent="0" marL="0">
              <a:buNone/>
            </a:pPr>
            <a:r>
              <a:rPr lang="en-US" sz="1800" b="1" dirty="0">
                <a:solidFill>
                  <a:srgbClr val="14284B"/>
                </a:solidFill>
                <a:latin typeface="Calibri" pitchFamily="34" charset="0"/>
                <a:ea typeface="Calibri" pitchFamily="34" charset="-122"/>
                <a:cs typeface="Calibri" pitchFamily="34" charset="-120"/>
              </a:rPr>
              <a:t>Objectives, scope and platform</a:t>
            </a:r>
            <a:endParaRPr lang="en-US" sz="1800" dirty="0"/>
          </a:p>
        </p:txBody>
      </p:sp>
      <p:sp>
        <p:nvSpPr>
          <p:cNvPr id="13" name="Text 8"/>
          <p:cNvSpPr txBox="1"/>
          <p:nvPr/>
        </p:nvSpPr>
        <p:spPr>
          <a:xfrm>
            <a:off x="1874520" y="2542032"/>
            <a:ext cx="5669280" cy="36576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SMART objectives, charter, scope boundaries and the Moodle vs Canvas decision</a:t>
            </a:r>
            <a:endParaRPr lang="en-US" sz="1400" dirty="0"/>
          </a:p>
        </p:txBody>
      </p:sp>
      <p:sp>
        <p:nvSpPr>
          <p:cNvPr id="14" name="Shape 9"/>
          <p:cNvSpPr/>
          <p:nvPr/>
        </p:nvSpPr>
        <p:spPr>
          <a:xfrm>
            <a:off x="548640" y="3154680"/>
            <a:ext cx="658368" cy="658368"/>
          </a:xfrm>
          <a:prstGeom prst="ellipse">
            <a:avLst/>
          </a:prstGeom>
          <a:solidFill>
            <a:srgbClr val="14284B"/>
          </a:solidFill>
          <a:ln w="12700">
            <a:solidFill>
              <a:srgbClr val="14284B"/>
            </a:solidFill>
            <a:prstDash val="solid"/>
          </a:ln>
        </p:spPr>
      </p:sp>
      <p:pic>
        <p:nvPicPr>
          <p:cNvPr id="15" name="Image 3" descr="preencoded.png">    </p:cNvPr>
          <p:cNvPicPr>
            <a:picLocks noChangeAspect="1"/>
          </p:cNvPicPr>
          <p:nvPr/>
        </p:nvPicPr>
        <p:blipFill>
          <a:blip r:embed="rId4"/>
          <a:stretch>
            <a:fillRect/>
          </a:stretch>
        </p:blipFill>
        <p:spPr>
          <a:xfrm>
            <a:off x="706648" y="3312688"/>
            <a:ext cx="342351" cy="342351"/>
          </a:xfrm>
          <a:prstGeom prst="rect">
            <a:avLst/>
          </a:prstGeom>
        </p:spPr>
      </p:pic>
      <p:sp>
        <p:nvSpPr>
          <p:cNvPr id="16" name="Text 10"/>
          <p:cNvSpPr txBox="1"/>
          <p:nvPr/>
        </p:nvSpPr>
        <p:spPr>
          <a:xfrm>
            <a:off x="1371600" y="3172968"/>
            <a:ext cx="548640" cy="32004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03</a:t>
            </a:r>
            <a:endParaRPr lang="en-US" sz="1400" dirty="0"/>
          </a:p>
        </p:txBody>
      </p:sp>
      <p:sp>
        <p:nvSpPr>
          <p:cNvPr id="17" name="Text 11"/>
          <p:cNvSpPr txBox="1"/>
          <p:nvPr/>
        </p:nvSpPr>
        <p:spPr>
          <a:xfrm>
            <a:off x="1874520" y="3136392"/>
            <a:ext cx="5669280" cy="365760"/>
          </a:xfrm>
          <a:prstGeom prst="rect">
            <a:avLst/>
          </a:prstGeom>
          <a:noFill/>
          <a:ln/>
        </p:spPr>
        <p:txBody>
          <a:bodyPr wrap="square" lIns="0" tIns="0" rIns="0" bIns="0" rtlCol="0" anchor="t"/>
          <a:lstStyle/>
          <a:p>
            <a:pPr indent="0" marL="0">
              <a:buNone/>
            </a:pPr>
            <a:r>
              <a:rPr lang="en-US" sz="1800" b="1" dirty="0">
                <a:solidFill>
                  <a:srgbClr val="14284B"/>
                </a:solidFill>
                <a:latin typeface="Calibri" pitchFamily="34" charset="0"/>
                <a:ea typeface="Calibri" pitchFamily="34" charset="-122"/>
                <a:cs typeface="Calibri" pitchFamily="34" charset="-120"/>
              </a:rPr>
              <a:t>Plan and schedule</a:t>
            </a:r>
            <a:endParaRPr lang="en-US" sz="1800" dirty="0"/>
          </a:p>
        </p:txBody>
      </p:sp>
      <p:sp>
        <p:nvSpPr>
          <p:cNvPr id="18" name="Text 12"/>
          <p:cNvSpPr txBox="1"/>
          <p:nvPr/>
        </p:nvSpPr>
        <p:spPr>
          <a:xfrm>
            <a:off x="1874520" y="3502152"/>
            <a:ext cx="5669280" cy="36576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WBS, milestones, Gantt chart, critical path, resources and budget</a:t>
            </a:r>
            <a:endParaRPr lang="en-US" sz="1400" dirty="0"/>
          </a:p>
        </p:txBody>
      </p:sp>
      <p:sp>
        <p:nvSpPr>
          <p:cNvPr id="19" name="Shape 13"/>
          <p:cNvSpPr/>
          <p:nvPr/>
        </p:nvSpPr>
        <p:spPr>
          <a:xfrm>
            <a:off x="548640" y="4114800"/>
            <a:ext cx="658368" cy="658368"/>
          </a:xfrm>
          <a:prstGeom prst="ellipse">
            <a:avLst/>
          </a:prstGeom>
          <a:solidFill>
            <a:srgbClr val="14284B"/>
          </a:solidFill>
          <a:ln w="12700">
            <a:solidFill>
              <a:srgbClr val="14284B"/>
            </a:solidFill>
            <a:prstDash val="solid"/>
          </a:ln>
        </p:spPr>
      </p:sp>
      <p:pic>
        <p:nvPicPr>
          <p:cNvPr id="20" name="Image 4" descr="preencoded.png">    </p:cNvPr>
          <p:cNvPicPr>
            <a:picLocks noChangeAspect="1"/>
          </p:cNvPicPr>
          <p:nvPr/>
        </p:nvPicPr>
        <p:blipFill>
          <a:blip r:embed="rId5"/>
          <a:stretch>
            <a:fillRect/>
          </a:stretch>
        </p:blipFill>
        <p:spPr>
          <a:xfrm>
            <a:off x="706648" y="4272808"/>
            <a:ext cx="342351" cy="342351"/>
          </a:xfrm>
          <a:prstGeom prst="rect">
            <a:avLst/>
          </a:prstGeom>
        </p:spPr>
      </p:pic>
      <p:sp>
        <p:nvSpPr>
          <p:cNvPr id="21" name="Text 14"/>
          <p:cNvSpPr txBox="1"/>
          <p:nvPr/>
        </p:nvSpPr>
        <p:spPr>
          <a:xfrm>
            <a:off x="1371600" y="4133088"/>
            <a:ext cx="548640" cy="32004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04</a:t>
            </a:r>
            <a:endParaRPr lang="en-US" sz="1400" dirty="0"/>
          </a:p>
        </p:txBody>
      </p:sp>
      <p:sp>
        <p:nvSpPr>
          <p:cNvPr id="22" name="Text 15"/>
          <p:cNvSpPr txBox="1"/>
          <p:nvPr/>
        </p:nvSpPr>
        <p:spPr>
          <a:xfrm>
            <a:off x="1874520" y="4096512"/>
            <a:ext cx="5669280" cy="365760"/>
          </a:xfrm>
          <a:prstGeom prst="rect">
            <a:avLst/>
          </a:prstGeom>
          <a:noFill/>
          <a:ln/>
        </p:spPr>
        <p:txBody>
          <a:bodyPr wrap="square" lIns="0" tIns="0" rIns="0" bIns="0" rtlCol="0" anchor="t"/>
          <a:lstStyle/>
          <a:p>
            <a:pPr indent="0" marL="0">
              <a:buNone/>
            </a:pPr>
            <a:r>
              <a:rPr lang="en-US" sz="1800" b="1" dirty="0">
                <a:solidFill>
                  <a:srgbClr val="14284B"/>
                </a:solidFill>
                <a:latin typeface="Calibri" pitchFamily="34" charset="0"/>
                <a:ea typeface="Calibri" pitchFamily="34" charset="-122"/>
                <a:cs typeface="Calibri" pitchFamily="34" charset="-120"/>
              </a:rPr>
              <a:t>Control processes</a:t>
            </a:r>
            <a:endParaRPr lang="en-US" sz="1800" dirty="0"/>
          </a:p>
        </p:txBody>
      </p:sp>
      <p:sp>
        <p:nvSpPr>
          <p:cNvPr id="23" name="Text 16"/>
          <p:cNvSpPr txBox="1"/>
          <p:nvPr/>
        </p:nvSpPr>
        <p:spPr>
          <a:xfrm>
            <a:off x="1874520" y="4462272"/>
            <a:ext cx="5669280" cy="36576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Risk, issue, change, communication and quality management</a:t>
            </a:r>
            <a:endParaRPr lang="en-US" sz="1400" dirty="0"/>
          </a:p>
        </p:txBody>
      </p:sp>
      <p:sp>
        <p:nvSpPr>
          <p:cNvPr id="24" name="Shape 17"/>
          <p:cNvSpPr/>
          <p:nvPr/>
        </p:nvSpPr>
        <p:spPr>
          <a:xfrm>
            <a:off x="548640" y="5074920"/>
            <a:ext cx="658368" cy="658368"/>
          </a:xfrm>
          <a:prstGeom prst="ellipse">
            <a:avLst/>
          </a:prstGeom>
          <a:solidFill>
            <a:srgbClr val="14284B"/>
          </a:solidFill>
          <a:ln w="12700">
            <a:solidFill>
              <a:srgbClr val="14284B"/>
            </a:solidFill>
            <a:prstDash val="solid"/>
          </a:ln>
        </p:spPr>
      </p:sp>
      <p:pic>
        <p:nvPicPr>
          <p:cNvPr id="25" name="Image 5" descr="preencoded.png">    </p:cNvPr>
          <p:cNvPicPr>
            <a:picLocks noChangeAspect="1"/>
          </p:cNvPicPr>
          <p:nvPr/>
        </p:nvPicPr>
        <p:blipFill>
          <a:blip r:embed="rId6"/>
          <a:stretch>
            <a:fillRect/>
          </a:stretch>
        </p:blipFill>
        <p:spPr>
          <a:xfrm>
            <a:off x="706648" y="5232928"/>
            <a:ext cx="342351" cy="342351"/>
          </a:xfrm>
          <a:prstGeom prst="rect">
            <a:avLst/>
          </a:prstGeom>
        </p:spPr>
      </p:pic>
      <p:sp>
        <p:nvSpPr>
          <p:cNvPr id="26" name="Text 18"/>
          <p:cNvSpPr txBox="1"/>
          <p:nvPr/>
        </p:nvSpPr>
        <p:spPr>
          <a:xfrm>
            <a:off x="1371600" y="5093208"/>
            <a:ext cx="548640" cy="320040"/>
          </a:xfrm>
          <a:prstGeom prst="rect">
            <a:avLst/>
          </a:prstGeom>
          <a:noFill/>
          <a:ln/>
        </p:spPr>
        <p:txBody>
          <a:bodyPr wrap="square" lIns="0" tIns="0" rIns="0" bIns="0" rtlCol="0" anchor="t"/>
          <a:lstStyle/>
          <a:p>
            <a:pPr indent="0" marL="0">
              <a:buNone/>
            </a:pPr>
            <a:r>
              <a:rPr lang="en-US" sz="1400" b="1" dirty="0">
                <a:solidFill>
                  <a:srgbClr val="E8A33D"/>
                </a:solidFill>
                <a:latin typeface="Calibri" pitchFamily="34" charset="0"/>
                <a:ea typeface="Calibri" pitchFamily="34" charset="-122"/>
                <a:cs typeface="Calibri" pitchFamily="34" charset="-120"/>
              </a:rPr>
              <a:t>05</a:t>
            </a:r>
            <a:endParaRPr lang="en-US" sz="1400" dirty="0"/>
          </a:p>
        </p:txBody>
      </p:sp>
      <p:sp>
        <p:nvSpPr>
          <p:cNvPr id="27" name="Text 19"/>
          <p:cNvSpPr txBox="1"/>
          <p:nvPr/>
        </p:nvSpPr>
        <p:spPr>
          <a:xfrm>
            <a:off x="1874520" y="5056632"/>
            <a:ext cx="5669280" cy="365760"/>
          </a:xfrm>
          <a:prstGeom prst="rect">
            <a:avLst/>
          </a:prstGeom>
          <a:noFill/>
          <a:ln/>
        </p:spPr>
        <p:txBody>
          <a:bodyPr wrap="square" lIns="0" tIns="0" rIns="0" bIns="0" rtlCol="0" anchor="t"/>
          <a:lstStyle/>
          <a:p>
            <a:pPr indent="0" marL="0">
              <a:buNone/>
            </a:pPr>
            <a:r>
              <a:rPr lang="en-US" sz="1800" b="1" dirty="0">
                <a:solidFill>
                  <a:srgbClr val="14284B"/>
                </a:solidFill>
                <a:latin typeface="Calibri" pitchFamily="34" charset="0"/>
                <a:ea typeface="Calibri" pitchFamily="34" charset="-122"/>
                <a:cs typeface="Calibri" pitchFamily="34" charset="-120"/>
              </a:rPr>
              <a:t>Delivery and close</a:t>
            </a:r>
            <a:endParaRPr lang="en-US" sz="1800" dirty="0"/>
          </a:p>
        </p:txBody>
      </p:sp>
      <p:sp>
        <p:nvSpPr>
          <p:cNvPr id="28" name="Text 20"/>
          <p:cNvSpPr txBox="1"/>
          <p:nvPr/>
        </p:nvSpPr>
        <p:spPr>
          <a:xfrm>
            <a:off x="1874520" y="5422392"/>
            <a:ext cx="5669280" cy="365760"/>
          </a:xfrm>
          <a:prstGeom prst="rect">
            <a:avLst/>
          </a:prstGeom>
          <a:noFill/>
          <a:ln/>
        </p:spPr>
        <p:txBody>
          <a:bodyPr wrap="square" lIns="0" tIns="0" rIns="0" bIns="0" rtlCol="0" anchor="t"/>
          <a:lstStyle/>
          <a:p>
            <a:pPr indent="0" marL="0">
              <a:buNone/>
            </a:pPr>
            <a:r>
              <a:rPr lang="en-US" sz="1400" dirty="0">
                <a:solidFill>
                  <a:srgbClr val="5B6576"/>
                </a:solidFill>
                <a:latin typeface="Calibri" pitchFamily="34" charset="0"/>
                <a:ea typeface="Calibri" pitchFamily="34" charset="-122"/>
                <a:cs typeface="Calibri" pitchFamily="34" charset="-120"/>
              </a:rPr>
              <a:t>GitHub configuration management, pilot, go-live, hypercare and conclusion</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RIHE today: fragmented tools create real risk</a:t>
            </a:r>
            <a:endParaRPr lang="en-US" sz="2800" dirty="0"/>
          </a:p>
        </p:txBody>
      </p:sp>
      <p:sp>
        <p:nvSpPr>
          <p:cNvPr id="3" name="Shape 1"/>
          <p:cNvSpPr/>
          <p:nvPr/>
        </p:nvSpPr>
        <p:spPr>
          <a:xfrm>
            <a:off x="548640" y="1188720"/>
            <a:ext cx="2606040" cy="1143000"/>
          </a:xfrm>
          <a:prstGeom prst="roundRect">
            <a:avLst>
              <a:gd name="adj" fmla="val 6400"/>
            </a:avLst>
          </a:prstGeom>
          <a:solidFill>
            <a:srgbClr val="E8F3F4"/>
          </a:solidFill>
          <a:ln w="12700">
            <a:solidFill>
              <a:srgbClr val="E8F3F4"/>
            </a:solidFill>
            <a:prstDash val="solid"/>
          </a:ln>
        </p:spPr>
      </p:sp>
      <p:sp>
        <p:nvSpPr>
          <p:cNvPr id="4" name="Text 2"/>
          <p:cNvSpPr txBox="1"/>
          <p:nvPr/>
        </p:nvSpPr>
        <p:spPr>
          <a:xfrm>
            <a:off x="731520" y="1261872"/>
            <a:ext cx="2286000" cy="594360"/>
          </a:xfrm>
          <a:prstGeom prst="rect">
            <a:avLst/>
          </a:prstGeom>
          <a:noFill/>
          <a:ln/>
        </p:spPr>
        <p:txBody>
          <a:bodyPr wrap="square" lIns="0" tIns="0" rIns="0" bIns="0" rtlCol="0" anchor="t"/>
          <a:lstStyle/>
          <a:p>
            <a:pPr indent="0" marL="0">
              <a:buNone/>
            </a:pPr>
            <a:r>
              <a:rPr lang="en-US" sz="3400" b="1" dirty="0">
                <a:solidFill>
                  <a:srgbClr val="14284B"/>
                </a:solidFill>
                <a:latin typeface="Calibri" pitchFamily="34" charset="0"/>
                <a:ea typeface="Calibri" pitchFamily="34" charset="-122"/>
                <a:cs typeface="Calibri" pitchFamily="34" charset="-120"/>
              </a:rPr>
              <a:t>2,800</a:t>
            </a:r>
            <a:endParaRPr lang="en-US" sz="3400" dirty="0"/>
          </a:p>
        </p:txBody>
      </p:sp>
      <p:sp>
        <p:nvSpPr>
          <p:cNvPr id="5" name="Text 3"/>
          <p:cNvSpPr txBox="1"/>
          <p:nvPr/>
        </p:nvSpPr>
        <p:spPr>
          <a:xfrm>
            <a:off x="731520" y="1828800"/>
            <a:ext cx="2286000" cy="41148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students (approx.)</a:t>
            </a:r>
            <a:endParaRPr lang="en-US" sz="1300" dirty="0"/>
          </a:p>
        </p:txBody>
      </p:sp>
      <p:sp>
        <p:nvSpPr>
          <p:cNvPr id="6" name="Shape 4"/>
          <p:cNvSpPr/>
          <p:nvPr/>
        </p:nvSpPr>
        <p:spPr>
          <a:xfrm>
            <a:off x="3364992" y="1188720"/>
            <a:ext cx="2606040" cy="1143000"/>
          </a:xfrm>
          <a:prstGeom prst="roundRect">
            <a:avLst>
              <a:gd name="adj" fmla="val 6400"/>
            </a:avLst>
          </a:prstGeom>
          <a:solidFill>
            <a:srgbClr val="E8F3F4"/>
          </a:solidFill>
          <a:ln w="12700">
            <a:solidFill>
              <a:srgbClr val="E8F3F4"/>
            </a:solidFill>
            <a:prstDash val="solid"/>
          </a:ln>
        </p:spPr>
      </p:sp>
      <p:sp>
        <p:nvSpPr>
          <p:cNvPr id="7" name="Text 5"/>
          <p:cNvSpPr txBox="1"/>
          <p:nvPr/>
        </p:nvSpPr>
        <p:spPr>
          <a:xfrm>
            <a:off x="3547872" y="1261872"/>
            <a:ext cx="2286000" cy="594360"/>
          </a:xfrm>
          <a:prstGeom prst="rect">
            <a:avLst/>
          </a:prstGeom>
          <a:noFill/>
          <a:ln/>
        </p:spPr>
        <p:txBody>
          <a:bodyPr wrap="square" lIns="0" tIns="0" rIns="0" bIns="0" rtlCol="0" anchor="t"/>
          <a:lstStyle/>
          <a:p>
            <a:pPr indent="0" marL="0">
              <a:buNone/>
            </a:pPr>
            <a:r>
              <a:rPr lang="en-US" sz="3400" b="1" dirty="0">
                <a:solidFill>
                  <a:srgbClr val="14284B"/>
                </a:solidFill>
                <a:latin typeface="Calibri" pitchFamily="34" charset="0"/>
                <a:ea typeface="Calibri" pitchFamily="34" charset="-122"/>
                <a:cs typeface="Calibri" pitchFamily="34" charset="-120"/>
              </a:rPr>
              <a:t>140</a:t>
            </a:r>
            <a:endParaRPr lang="en-US" sz="3400" dirty="0"/>
          </a:p>
        </p:txBody>
      </p:sp>
      <p:sp>
        <p:nvSpPr>
          <p:cNvPr id="8" name="Text 6"/>
          <p:cNvSpPr txBox="1"/>
          <p:nvPr/>
        </p:nvSpPr>
        <p:spPr>
          <a:xfrm>
            <a:off x="3547872" y="1828800"/>
            <a:ext cx="2286000" cy="41148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academic staff (approx.)</a:t>
            </a:r>
            <a:endParaRPr lang="en-US" sz="1300" dirty="0"/>
          </a:p>
        </p:txBody>
      </p:sp>
      <p:sp>
        <p:nvSpPr>
          <p:cNvPr id="9" name="Shape 7"/>
          <p:cNvSpPr/>
          <p:nvPr/>
        </p:nvSpPr>
        <p:spPr>
          <a:xfrm>
            <a:off x="6181344" y="1188720"/>
            <a:ext cx="2606040" cy="1143000"/>
          </a:xfrm>
          <a:prstGeom prst="roundRect">
            <a:avLst>
              <a:gd name="adj" fmla="val 6400"/>
            </a:avLst>
          </a:prstGeom>
          <a:solidFill>
            <a:srgbClr val="E8F3F4"/>
          </a:solidFill>
          <a:ln w="12700">
            <a:solidFill>
              <a:srgbClr val="E8F3F4"/>
            </a:solidFill>
            <a:prstDash val="solid"/>
          </a:ln>
        </p:spPr>
      </p:sp>
      <p:sp>
        <p:nvSpPr>
          <p:cNvPr id="10" name="Text 8"/>
          <p:cNvSpPr txBox="1"/>
          <p:nvPr/>
        </p:nvSpPr>
        <p:spPr>
          <a:xfrm>
            <a:off x="6364224" y="1261872"/>
            <a:ext cx="2286000" cy="594360"/>
          </a:xfrm>
          <a:prstGeom prst="rect">
            <a:avLst/>
          </a:prstGeom>
          <a:noFill/>
          <a:ln/>
        </p:spPr>
        <p:txBody>
          <a:bodyPr wrap="square" lIns="0" tIns="0" rIns="0" bIns="0" rtlCol="0" anchor="t"/>
          <a:lstStyle/>
          <a:p>
            <a:pPr indent="0" marL="0">
              <a:buNone/>
            </a:pPr>
            <a:r>
              <a:rPr lang="en-US" sz="3400" b="1" dirty="0">
                <a:solidFill>
                  <a:srgbClr val="14284B"/>
                </a:solidFill>
                <a:latin typeface="Calibri" pitchFamily="34" charset="0"/>
                <a:ea typeface="Calibri" pitchFamily="34" charset="-122"/>
                <a:cs typeface="Calibri" pitchFamily="34" charset="-120"/>
              </a:rPr>
              <a:t>4</a:t>
            </a:r>
            <a:endParaRPr lang="en-US" sz="3400" dirty="0"/>
          </a:p>
        </p:txBody>
      </p:sp>
      <p:sp>
        <p:nvSpPr>
          <p:cNvPr id="11" name="Text 9"/>
          <p:cNvSpPr txBox="1"/>
          <p:nvPr/>
        </p:nvSpPr>
        <p:spPr>
          <a:xfrm>
            <a:off x="6364224" y="1828800"/>
            <a:ext cx="2286000" cy="41148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schools</a:t>
            </a:r>
            <a:endParaRPr lang="en-US" sz="1300" dirty="0"/>
          </a:p>
        </p:txBody>
      </p:sp>
      <p:sp>
        <p:nvSpPr>
          <p:cNvPr id="12" name="Shape 10"/>
          <p:cNvSpPr/>
          <p:nvPr/>
        </p:nvSpPr>
        <p:spPr>
          <a:xfrm>
            <a:off x="8997696" y="1188720"/>
            <a:ext cx="2606040" cy="1143000"/>
          </a:xfrm>
          <a:prstGeom prst="roundRect">
            <a:avLst>
              <a:gd name="adj" fmla="val 6400"/>
            </a:avLst>
          </a:prstGeom>
          <a:solidFill>
            <a:srgbClr val="E8F3F4"/>
          </a:solidFill>
          <a:ln w="12700">
            <a:solidFill>
              <a:srgbClr val="E8F3F4"/>
            </a:solidFill>
            <a:prstDash val="solid"/>
          </a:ln>
        </p:spPr>
      </p:sp>
      <p:sp>
        <p:nvSpPr>
          <p:cNvPr id="13" name="Text 11"/>
          <p:cNvSpPr txBox="1"/>
          <p:nvPr/>
        </p:nvSpPr>
        <p:spPr>
          <a:xfrm>
            <a:off x="9180576" y="1261872"/>
            <a:ext cx="2286000" cy="594360"/>
          </a:xfrm>
          <a:prstGeom prst="rect">
            <a:avLst/>
          </a:prstGeom>
          <a:noFill/>
          <a:ln/>
        </p:spPr>
        <p:txBody>
          <a:bodyPr wrap="square" lIns="0" tIns="0" rIns="0" bIns="0" rtlCol="0" anchor="t"/>
          <a:lstStyle/>
          <a:p>
            <a:pPr indent="0" marL="0">
              <a:buNone/>
            </a:pPr>
            <a:r>
              <a:rPr lang="en-US" sz="3400" b="1" dirty="0">
                <a:solidFill>
                  <a:srgbClr val="14284B"/>
                </a:solidFill>
                <a:latin typeface="Calibri" pitchFamily="34" charset="0"/>
                <a:ea typeface="Calibri" pitchFamily="34" charset="-122"/>
                <a:cs typeface="Calibri" pitchFamily="34" charset="-120"/>
              </a:rPr>
              <a:t>1</a:t>
            </a:r>
            <a:endParaRPr lang="en-US" sz="3400" dirty="0"/>
          </a:p>
        </p:txBody>
      </p:sp>
      <p:sp>
        <p:nvSpPr>
          <p:cNvPr id="14" name="Text 12"/>
          <p:cNvSpPr txBox="1"/>
          <p:nvPr/>
        </p:nvSpPr>
        <p:spPr>
          <a:xfrm>
            <a:off x="9180576" y="1828800"/>
            <a:ext cx="2286000" cy="41148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ageing portal nearing end of vendor support</a:t>
            </a:r>
            <a:endParaRPr lang="en-US" sz="1300" dirty="0"/>
          </a:p>
        </p:txBody>
      </p:sp>
      <p:sp>
        <p:nvSpPr>
          <p:cNvPr id="15" name="Text 13"/>
          <p:cNvSpPr txBox="1"/>
          <p:nvPr/>
        </p:nvSpPr>
        <p:spPr>
          <a:xfrm>
            <a:off x="548640" y="2606040"/>
            <a:ext cx="5120640" cy="320040"/>
          </a:xfrm>
          <a:prstGeom prst="rect">
            <a:avLst/>
          </a:prstGeom>
          <a:noFill/>
          <a:ln/>
        </p:spPr>
        <p:txBody>
          <a:bodyPr wrap="square" lIns="0" tIns="0" rIns="0" bIns="0" rtlCol="0" anchor="t"/>
          <a:lstStyle/>
          <a:p>
            <a:pPr indent="0" marL="0">
              <a:buNone/>
            </a:pPr>
            <a:r>
              <a:rPr lang="en-US" sz="1400" b="1" dirty="0">
                <a:solidFill>
                  <a:srgbClr val="0F8B8D"/>
                </a:solidFill>
                <a:latin typeface="Calibri" pitchFamily="34" charset="0"/>
                <a:ea typeface="Calibri" pitchFamily="34" charset="-122"/>
                <a:cs typeface="Calibri" pitchFamily="34" charset="-120"/>
              </a:rPr>
              <a:t>Current problem</a:t>
            </a:r>
            <a:endParaRPr lang="en-US" sz="1400" dirty="0"/>
          </a:p>
        </p:txBody>
      </p:sp>
      <p:sp>
        <p:nvSpPr>
          <p:cNvPr id="16" name="Text 14"/>
          <p:cNvSpPr txBox="1"/>
          <p:nvPr/>
        </p:nvSpPr>
        <p:spPr>
          <a:xfrm>
            <a:off x="6720840" y="2606040"/>
            <a:ext cx="4937760" cy="320040"/>
          </a:xfrm>
          <a:prstGeom prst="rect">
            <a:avLst/>
          </a:prstGeom>
          <a:noFill/>
          <a:ln/>
        </p:spPr>
        <p:txBody>
          <a:bodyPr wrap="square" lIns="0" tIns="0" rIns="0" bIns="0" rtlCol="0" anchor="t"/>
          <a:lstStyle/>
          <a:p>
            <a:pPr indent="0" marL="0">
              <a:buNone/>
            </a:pPr>
            <a:r>
              <a:rPr lang="en-US" sz="1400" b="1" dirty="0">
                <a:solidFill>
                  <a:srgbClr val="C0392B"/>
                </a:solidFill>
                <a:latin typeface="Calibri" pitchFamily="34" charset="0"/>
                <a:ea typeface="Calibri" pitchFamily="34" charset="-122"/>
                <a:cs typeface="Calibri" pitchFamily="34" charset="-120"/>
              </a:rPr>
              <a:t>Impact</a:t>
            </a:r>
            <a:endParaRPr lang="en-US" sz="1400" dirty="0"/>
          </a:p>
        </p:txBody>
      </p:sp>
      <p:sp>
        <p:nvSpPr>
          <p:cNvPr id="17" name="Shape 15"/>
          <p:cNvSpPr/>
          <p:nvPr/>
        </p:nvSpPr>
        <p:spPr>
          <a:xfrm>
            <a:off x="548640" y="3017520"/>
            <a:ext cx="502920" cy="502920"/>
          </a:xfrm>
          <a:prstGeom prst="ellipse">
            <a:avLst/>
          </a:prstGeom>
          <a:solidFill>
            <a:srgbClr val="14284B"/>
          </a:solidFill>
          <a:ln w="12700">
            <a:solidFill>
              <a:srgbClr val="14284B"/>
            </a:solidFill>
            <a:prstDash val="solid"/>
          </a:ln>
        </p:spPr>
      </p:sp>
      <p:pic>
        <p:nvPicPr>
          <p:cNvPr id="18" name="Image 0" descr="preencoded.png">    </p:cNvPr>
          <p:cNvPicPr>
            <a:picLocks noChangeAspect="1"/>
          </p:cNvPicPr>
          <p:nvPr/>
        </p:nvPicPr>
        <p:blipFill>
          <a:blip r:embed="rId1"/>
          <a:stretch>
            <a:fillRect/>
          </a:stretch>
        </p:blipFill>
        <p:spPr>
          <a:xfrm>
            <a:off x="669341" y="3138221"/>
            <a:ext cx="261518" cy="261518"/>
          </a:xfrm>
          <a:prstGeom prst="rect">
            <a:avLst/>
          </a:prstGeom>
        </p:spPr>
      </p:pic>
      <p:sp>
        <p:nvSpPr>
          <p:cNvPr id="19" name="Text 16"/>
          <p:cNvSpPr txBox="1"/>
          <p:nvPr/>
        </p:nvSpPr>
        <p:spPr>
          <a:xfrm>
            <a:off x="1188720" y="2971800"/>
            <a:ext cx="4754880" cy="5943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Materials scattered across shared drives, email and an old portal</a:t>
            </a:r>
            <a:endParaRPr lang="en-US" sz="1400" dirty="0"/>
          </a:p>
        </p:txBody>
      </p:sp>
      <p:sp>
        <p:nvSpPr>
          <p:cNvPr id="20" name="Shape 17"/>
          <p:cNvSpPr/>
          <p:nvPr/>
        </p:nvSpPr>
        <p:spPr>
          <a:xfrm>
            <a:off x="6080760" y="3154680"/>
            <a:ext cx="457200" cy="256032"/>
          </a:xfrm>
          <a:prstGeom prst="rightArrow">
            <a:avLst/>
          </a:prstGeom>
          <a:solidFill>
            <a:srgbClr val="E8A33D"/>
          </a:solidFill>
          <a:ln w="12700">
            <a:solidFill>
              <a:srgbClr val="E8A33D"/>
            </a:solidFill>
            <a:prstDash val="solid"/>
          </a:ln>
        </p:spPr>
      </p:sp>
      <p:sp>
        <p:nvSpPr>
          <p:cNvPr id="21" name="Shape 18"/>
          <p:cNvSpPr/>
          <p:nvPr/>
        </p:nvSpPr>
        <p:spPr>
          <a:xfrm>
            <a:off x="6720840" y="2990088"/>
            <a:ext cx="4919472" cy="566928"/>
          </a:xfrm>
          <a:prstGeom prst="roundRect">
            <a:avLst>
              <a:gd name="adj" fmla="val 12903"/>
            </a:avLst>
          </a:prstGeom>
          <a:solidFill>
            <a:srgbClr val="FBECEA"/>
          </a:solidFill>
          <a:ln w="12700">
            <a:solidFill>
              <a:srgbClr val="FBECEA"/>
            </a:solidFill>
            <a:prstDash val="solid"/>
          </a:ln>
        </p:spPr>
      </p:sp>
      <p:sp>
        <p:nvSpPr>
          <p:cNvPr id="22" name="Text 19"/>
          <p:cNvSpPr txBox="1"/>
          <p:nvPr/>
        </p:nvSpPr>
        <p:spPr>
          <a:xfrm>
            <a:off x="6903720" y="2990088"/>
            <a:ext cx="4617720" cy="56692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Students cannot find resources consistently</a:t>
            </a:r>
            <a:endParaRPr lang="en-US" sz="1400" dirty="0"/>
          </a:p>
        </p:txBody>
      </p:sp>
      <p:sp>
        <p:nvSpPr>
          <p:cNvPr id="23" name="Shape 20"/>
          <p:cNvSpPr/>
          <p:nvPr/>
        </p:nvSpPr>
        <p:spPr>
          <a:xfrm>
            <a:off x="548640" y="3749040"/>
            <a:ext cx="502920" cy="502920"/>
          </a:xfrm>
          <a:prstGeom prst="ellipse">
            <a:avLst/>
          </a:prstGeom>
          <a:solidFill>
            <a:srgbClr val="14284B"/>
          </a:solidFill>
          <a:ln w="12700">
            <a:solidFill>
              <a:srgbClr val="14284B"/>
            </a:solidFill>
            <a:prstDash val="solid"/>
          </a:ln>
        </p:spPr>
      </p:sp>
      <p:pic>
        <p:nvPicPr>
          <p:cNvPr id="24" name="Image 1" descr="preencoded.png">    </p:cNvPr>
          <p:cNvPicPr>
            <a:picLocks noChangeAspect="1"/>
          </p:cNvPicPr>
          <p:nvPr/>
        </p:nvPicPr>
        <p:blipFill>
          <a:blip r:embed="rId2"/>
          <a:stretch>
            <a:fillRect/>
          </a:stretch>
        </p:blipFill>
        <p:spPr>
          <a:xfrm>
            <a:off x="669341" y="3869741"/>
            <a:ext cx="261518" cy="261518"/>
          </a:xfrm>
          <a:prstGeom prst="rect">
            <a:avLst/>
          </a:prstGeom>
        </p:spPr>
      </p:pic>
      <p:sp>
        <p:nvSpPr>
          <p:cNvPr id="25" name="Text 21"/>
          <p:cNvSpPr txBox="1"/>
          <p:nvPr/>
        </p:nvSpPr>
        <p:spPr>
          <a:xfrm>
            <a:off x="1188720" y="3703320"/>
            <a:ext cx="4754880" cy="5943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Submission and feedback are partly manual</a:t>
            </a:r>
            <a:endParaRPr lang="en-US" sz="1400" dirty="0"/>
          </a:p>
        </p:txBody>
      </p:sp>
      <p:sp>
        <p:nvSpPr>
          <p:cNvPr id="26" name="Shape 22"/>
          <p:cNvSpPr/>
          <p:nvPr/>
        </p:nvSpPr>
        <p:spPr>
          <a:xfrm>
            <a:off x="6080760" y="3886200"/>
            <a:ext cx="457200" cy="256032"/>
          </a:xfrm>
          <a:prstGeom prst="rightArrow">
            <a:avLst/>
          </a:prstGeom>
          <a:solidFill>
            <a:srgbClr val="E8A33D"/>
          </a:solidFill>
          <a:ln w="12700">
            <a:solidFill>
              <a:srgbClr val="E8A33D"/>
            </a:solidFill>
            <a:prstDash val="solid"/>
          </a:ln>
        </p:spPr>
      </p:sp>
      <p:sp>
        <p:nvSpPr>
          <p:cNvPr id="27" name="Shape 23"/>
          <p:cNvSpPr/>
          <p:nvPr/>
        </p:nvSpPr>
        <p:spPr>
          <a:xfrm>
            <a:off x="6720840" y="3721608"/>
            <a:ext cx="4919472" cy="566928"/>
          </a:xfrm>
          <a:prstGeom prst="roundRect">
            <a:avLst>
              <a:gd name="adj" fmla="val 12903"/>
            </a:avLst>
          </a:prstGeom>
          <a:solidFill>
            <a:srgbClr val="FBECEA"/>
          </a:solidFill>
          <a:ln w="12700">
            <a:solidFill>
              <a:srgbClr val="FBECEA"/>
            </a:solidFill>
            <a:prstDash val="solid"/>
          </a:ln>
        </p:spPr>
      </p:sp>
      <p:sp>
        <p:nvSpPr>
          <p:cNvPr id="28" name="Text 24"/>
          <p:cNvSpPr txBox="1"/>
          <p:nvPr/>
        </p:nvSpPr>
        <p:spPr>
          <a:xfrm>
            <a:off x="6903720" y="3721608"/>
            <a:ext cx="4617720" cy="56692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Higher admin workload; risk of lost submissions</a:t>
            </a:r>
            <a:endParaRPr lang="en-US" sz="1400" dirty="0"/>
          </a:p>
        </p:txBody>
      </p:sp>
      <p:sp>
        <p:nvSpPr>
          <p:cNvPr id="29" name="Shape 25"/>
          <p:cNvSpPr/>
          <p:nvPr/>
        </p:nvSpPr>
        <p:spPr>
          <a:xfrm>
            <a:off x="548640" y="4480560"/>
            <a:ext cx="502920" cy="502920"/>
          </a:xfrm>
          <a:prstGeom prst="ellipse">
            <a:avLst/>
          </a:prstGeom>
          <a:solidFill>
            <a:srgbClr val="14284B"/>
          </a:solidFill>
          <a:ln w="12700">
            <a:solidFill>
              <a:srgbClr val="14284B"/>
            </a:solidFill>
            <a:prstDash val="solid"/>
          </a:ln>
        </p:spPr>
      </p:sp>
      <p:pic>
        <p:nvPicPr>
          <p:cNvPr id="30" name="Image 2" descr="preencoded.png">    </p:cNvPr>
          <p:cNvPicPr>
            <a:picLocks noChangeAspect="1"/>
          </p:cNvPicPr>
          <p:nvPr/>
        </p:nvPicPr>
        <p:blipFill>
          <a:blip r:embed="rId3"/>
          <a:stretch>
            <a:fillRect/>
          </a:stretch>
        </p:blipFill>
        <p:spPr>
          <a:xfrm>
            <a:off x="669341" y="4601261"/>
            <a:ext cx="261518" cy="261518"/>
          </a:xfrm>
          <a:prstGeom prst="rect">
            <a:avLst/>
          </a:prstGeom>
        </p:spPr>
      </p:pic>
      <p:sp>
        <p:nvSpPr>
          <p:cNvPr id="31" name="Text 26"/>
          <p:cNvSpPr txBox="1"/>
          <p:nvPr/>
        </p:nvSpPr>
        <p:spPr>
          <a:xfrm>
            <a:off x="1188720" y="4434840"/>
            <a:ext cx="4754880" cy="5943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Course portal approaching end of vendor support</a:t>
            </a:r>
            <a:endParaRPr lang="en-US" sz="1400" dirty="0"/>
          </a:p>
        </p:txBody>
      </p:sp>
      <p:sp>
        <p:nvSpPr>
          <p:cNvPr id="32" name="Shape 27"/>
          <p:cNvSpPr/>
          <p:nvPr/>
        </p:nvSpPr>
        <p:spPr>
          <a:xfrm>
            <a:off x="6080760" y="4617720"/>
            <a:ext cx="457200" cy="256032"/>
          </a:xfrm>
          <a:prstGeom prst="rightArrow">
            <a:avLst/>
          </a:prstGeom>
          <a:solidFill>
            <a:srgbClr val="E8A33D"/>
          </a:solidFill>
          <a:ln w="12700">
            <a:solidFill>
              <a:srgbClr val="E8A33D"/>
            </a:solidFill>
            <a:prstDash val="solid"/>
          </a:ln>
        </p:spPr>
      </p:sp>
      <p:sp>
        <p:nvSpPr>
          <p:cNvPr id="33" name="Shape 28"/>
          <p:cNvSpPr/>
          <p:nvPr/>
        </p:nvSpPr>
        <p:spPr>
          <a:xfrm>
            <a:off x="6720840" y="4453128"/>
            <a:ext cx="4919472" cy="566928"/>
          </a:xfrm>
          <a:prstGeom prst="roundRect">
            <a:avLst>
              <a:gd name="adj" fmla="val 12903"/>
            </a:avLst>
          </a:prstGeom>
          <a:solidFill>
            <a:srgbClr val="FBECEA"/>
          </a:solidFill>
          <a:ln w="12700">
            <a:solidFill>
              <a:srgbClr val="FBECEA"/>
            </a:solidFill>
            <a:prstDash val="solid"/>
          </a:ln>
        </p:spPr>
      </p:sp>
      <p:sp>
        <p:nvSpPr>
          <p:cNvPr id="34" name="Text 29"/>
          <p:cNvSpPr txBox="1"/>
          <p:nvPr/>
        </p:nvSpPr>
        <p:spPr>
          <a:xfrm>
            <a:off x="6903720" y="4453128"/>
            <a:ext cx="4617720" cy="56692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Security and continuity risk</a:t>
            </a:r>
            <a:endParaRPr lang="en-US" sz="1400" dirty="0"/>
          </a:p>
        </p:txBody>
      </p:sp>
      <p:sp>
        <p:nvSpPr>
          <p:cNvPr id="35" name="Shape 30"/>
          <p:cNvSpPr/>
          <p:nvPr/>
        </p:nvSpPr>
        <p:spPr>
          <a:xfrm>
            <a:off x="548640" y="5212080"/>
            <a:ext cx="502920" cy="502920"/>
          </a:xfrm>
          <a:prstGeom prst="ellipse">
            <a:avLst/>
          </a:prstGeom>
          <a:solidFill>
            <a:srgbClr val="14284B"/>
          </a:solidFill>
          <a:ln w="12700">
            <a:solidFill>
              <a:srgbClr val="14284B"/>
            </a:solidFill>
            <a:prstDash val="solid"/>
          </a:ln>
        </p:spPr>
      </p:sp>
      <p:pic>
        <p:nvPicPr>
          <p:cNvPr id="36" name="Image 3" descr="preencoded.png">    </p:cNvPr>
          <p:cNvPicPr>
            <a:picLocks noChangeAspect="1"/>
          </p:cNvPicPr>
          <p:nvPr/>
        </p:nvPicPr>
        <p:blipFill>
          <a:blip r:embed="rId4"/>
          <a:stretch>
            <a:fillRect/>
          </a:stretch>
        </p:blipFill>
        <p:spPr>
          <a:xfrm>
            <a:off x="669341" y="5332781"/>
            <a:ext cx="261518" cy="261518"/>
          </a:xfrm>
          <a:prstGeom prst="rect">
            <a:avLst/>
          </a:prstGeom>
        </p:spPr>
      </p:pic>
      <p:sp>
        <p:nvSpPr>
          <p:cNvPr id="37" name="Text 31"/>
          <p:cNvSpPr txBox="1"/>
          <p:nvPr/>
        </p:nvSpPr>
        <p:spPr>
          <a:xfrm>
            <a:off x="1188720" y="5166360"/>
            <a:ext cx="4754880" cy="5943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Student data held in several places with inconsistent access controls</a:t>
            </a:r>
            <a:endParaRPr lang="en-US" sz="1400" dirty="0"/>
          </a:p>
        </p:txBody>
      </p:sp>
      <p:sp>
        <p:nvSpPr>
          <p:cNvPr id="38" name="Shape 32"/>
          <p:cNvSpPr/>
          <p:nvPr/>
        </p:nvSpPr>
        <p:spPr>
          <a:xfrm>
            <a:off x="6080760" y="5349240"/>
            <a:ext cx="457200" cy="256032"/>
          </a:xfrm>
          <a:prstGeom prst="rightArrow">
            <a:avLst/>
          </a:prstGeom>
          <a:solidFill>
            <a:srgbClr val="E8A33D"/>
          </a:solidFill>
          <a:ln w="12700">
            <a:solidFill>
              <a:srgbClr val="E8A33D"/>
            </a:solidFill>
            <a:prstDash val="solid"/>
          </a:ln>
        </p:spPr>
      </p:sp>
      <p:sp>
        <p:nvSpPr>
          <p:cNvPr id="39" name="Shape 33"/>
          <p:cNvSpPr/>
          <p:nvPr/>
        </p:nvSpPr>
        <p:spPr>
          <a:xfrm>
            <a:off x="6720840" y="5184648"/>
            <a:ext cx="4919472" cy="566928"/>
          </a:xfrm>
          <a:prstGeom prst="roundRect">
            <a:avLst>
              <a:gd name="adj" fmla="val 12903"/>
            </a:avLst>
          </a:prstGeom>
          <a:solidFill>
            <a:srgbClr val="FBECEA"/>
          </a:solidFill>
          <a:ln w="12700">
            <a:solidFill>
              <a:srgbClr val="FBECEA"/>
            </a:solidFill>
            <a:prstDash val="solid"/>
          </a:ln>
        </p:spPr>
      </p:sp>
      <p:sp>
        <p:nvSpPr>
          <p:cNvPr id="40" name="Text 34"/>
          <p:cNvSpPr txBox="1"/>
          <p:nvPr/>
        </p:nvSpPr>
        <p:spPr>
          <a:xfrm>
            <a:off x="6903720" y="5184648"/>
            <a:ext cx="4617720" cy="566928"/>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Weakens compliance with the Australian Privacy Principles [6]</a:t>
            </a:r>
            <a:endParaRPr lang="en-US" sz="1400" dirty="0"/>
          </a:p>
        </p:txBody>
      </p:sp>
      <p:sp>
        <p:nvSpPr>
          <p:cNvPr id="41" name="Text 35"/>
          <p:cNvSpPr txBox="1"/>
          <p:nvPr/>
        </p:nvSpPr>
        <p:spPr>
          <a:xfrm>
            <a:off x="548640" y="6053328"/>
            <a:ext cx="11064240" cy="274320"/>
          </a:xfrm>
          <a:prstGeom prst="rect">
            <a:avLst/>
          </a:prstGeom>
          <a:noFill/>
          <a:ln/>
        </p:spPr>
        <p:txBody>
          <a:bodyPr wrap="square" lIns="0" tIns="0" rIns="0" bIns="0" rtlCol="0" anchor="b"/>
          <a:lstStyle/>
          <a:p>
            <a:pPr indent="0" marL="0">
              <a:buNone/>
            </a:pPr>
            <a:r>
              <a:rPr lang="en-US" sz="1000" i="1" dirty="0">
                <a:solidFill>
                  <a:srgbClr val="5B6576"/>
                </a:solidFill>
                <a:latin typeface="Calibri" pitchFamily="34" charset="0"/>
                <a:ea typeface="Calibri" pitchFamily="34" charset="-122"/>
                <a:cs typeface="Calibri" pitchFamily="34" charset="-120"/>
              </a:rPr>
              <a:t>Problem statement: RIHE has no single, secure and supported platform for online learning, and the deadline is set by the start of the next teaching trimester.</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Proposed solution: one centralised Moodle LMS</a:t>
            </a:r>
            <a:endParaRPr lang="en-US" sz="2800" dirty="0"/>
          </a:p>
        </p:txBody>
      </p:sp>
      <p:sp>
        <p:nvSpPr>
          <p:cNvPr id="3" name="Shape 1"/>
          <p:cNvSpPr/>
          <p:nvPr/>
        </p:nvSpPr>
        <p:spPr>
          <a:xfrm>
            <a:off x="1280160" y="1600200"/>
            <a:ext cx="1600200" cy="1554480"/>
          </a:xfrm>
          <a:prstGeom prst="line">
            <a:avLst/>
          </a:prstGeom>
          <a:noFill/>
          <a:ln w="19050">
            <a:solidFill>
              <a:srgbClr val="9FB3C8"/>
            </a:solidFill>
            <a:prstDash val="dash"/>
          </a:ln>
        </p:spPr>
      </p:sp>
      <p:sp>
        <p:nvSpPr>
          <p:cNvPr id="4" name="Shape 2"/>
          <p:cNvSpPr/>
          <p:nvPr/>
        </p:nvSpPr>
        <p:spPr>
          <a:xfrm flipH="1">
            <a:off x="2880360" y="1600200"/>
            <a:ext cx="1645920" cy="1554480"/>
          </a:xfrm>
          <a:prstGeom prst="line">
            <a:avLst/>
          </a:prstGeom>
          <a:noFill/>
          <a:ln w="19050">
            <a:solidFill>
              <a:srgbClr val="9FB3C8"/>
            </a:solidFill>
            <a:prstDash val="dash"/>
          </a:ln>
        </p:spPr>
      </p:sp>
      <p:sp>
        <p:nvSpPr>
          <p:cNvPr id="5" name="Shape 3"/>
          <p:cNvSpPr/>
          <p:nvPr/>
        </p:nvSpPr>
        <p:spPr>
          <a:xfrm flipH="1">
            <a:off x="1280160" y="3154680"/>
            <a:ext cx="1600200" cy="1554480"/>
          </a:xfrm>
          <a:prstGeom prst="line">
            <a:avLst/>
          </a:prstGeom>
          <a:noFill/>
          <a:ln w="19050">
            <a:solidFill>
              <a:srgbClr val="9FB3C8"/>
            </a:solidFill>
            <a:prstDash val="dash"/>
          </a:ln>
        </p:spPr>
      </p:sp>
      <p:sp>
        <p:nvSpPr>
          <p:cNvPr id="6" name="Shape 4"/>
          <p:cNvSpPr/>
          <p:nvPr/>
        </p:nvSpPr>
        <p:spPr>
          <a:xfrm>
            <a:off x="2880360" y="3154680"/>
            <a:ext cx="1645920" cy="1554480"/>
          </a:xfrm>
          <a:prstGeom prst="line">
            <a:avLst/>
          </a:prstGeom>
          <a:noFill/>
          <a:ln w="19050">
            <a:solidFill>
              <a:srgbClr val="9FB3C8"/>
            </a:solidFill>
            <a:prstDash val="dash"/>
          </a:ln>
        </p:spPr>
      </p:sp>
      <p:sp>
        <p:nvSpPr>
          <p:cNvPr id="7" name="Shape 5"/>
          <p:cNvSpPr/>
          <p:nvPr/>
        </p:nvSpPr>
        <p:spPr>
          <a:xfrm>
            <a:off x="1965960" y="2240280"/>
            <a:ext cx="1828800" cy="1828800"/>
          </a:xfrm>
          <a:prstGeom prst="ellipse">
            <a:avLst/>
          </a:prstGeom>
          <a:solidFill>
            <a:srgbClr val="14284B"/>
          </a:solidFill>
          <a:ln w="38100">
            <a:solidFill>
              <a:srgbClr val="0F8B8D"/>
            </a:solidFill>
            <a:prstDash val="solid"/>
          </a:ln>
        </p:spPr>
      </p:sp>
      <p:sp>
        <p:nvSpPr>
          <p:cNvPr id="8" name="Text 6"/>
          <p:cNvSpPr txBox="1"/>
          <p:nvPr/>
        </p:nvSpPr>
        <p:spPr>
          <a:xfrm>
            <a:off x="2011680" y="2743200"/>
            <a:ext cx="1737360" cy="8229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Moodle LMS</a:t>
            </a:r>
            <a:endParaRPr lang="en-US" sz="1400" dirty="0"/>
          </a:p>
          <a:p>
            <a:pPr algn="ctr" indent="0" marL="0">
              <a:buNone/>
            </a:pPr>
            <a:r>
              <a:rPr lang="en-US" sz="1200" dirty="0">
                <a:solidFill>
                  <a:srgbClr val="FFFFFF"/>
                </a:solidFill>
                <a:latin typeface="Calibri" pitchFamily="34" charset="0"/>
                <a:ea typeface="Calibri" pitchFamily="34" charset="-122"/>
                <a:cs typeface="Calibri" pitchFamily="34" charset="-120"/>
              </a:rPr>
              <a:t>(planned)</a:t>
            </a:r>
            <a:endParaRPr lang="en-US" sz="1400" dirty="0"/>
          </a:p>
        </p:txBody>
      </p:sp>
      <p:sp>
        <p:nvSpPr>
          <p:cNvPr id="9" name="Shape 7"/>
          <p:cNvSpPr/>
          <p:nvPr/>
        </p:nvSpPr>
        <p:spPr>
          <a:xfrm>
            <a:off x="914400" y="1234440"/>
            <a:ext cx="731520" cy="731520"/>
          </a:xfrm>
          <a:prstGeom prst="ellipse">
            <a:avLst/>
          </a:prstGeom>
          <a:solidFill>
            <a:srgbClr val="0F8B8D"/>
          </a:solidFill>
          <a:ln w="12700">
            <a:solidFill>
              <a:srgbClr val="0F8B8D"/>
            </a:solidFill>
            <a:prstDash val="solid"/>
          </a:ln>
        </p:spPr>
      </p:sp>
      <p:pic>
        <p:nvPicPr>
          <p:cNvPr id="10" name="Image 0" descr="preencoded.png">    </p:cNvPr>
          <p:cNvPicPr>
            <a:picLocks noChangeAspect="1"/>
          </p:cNvPicPr>
          <p:nvPr/>
        </p:nvPicPr>
        <p:blipFill>
          <a:blip r:embed="rId1"/>
          <a:stretch>
            <a:fillRect/>
          </a:stretch>
        </p:blipFill>
        <p:spPr>
          <a:xfrm>
            <a:off x="1089965" y="1410005"/>
            <a:ext cx="380390" cy="380390"/>
          </a:xfrm>
          <a:prstGeom prst="rect">
            <a:avLst/>
          </a:prstGeom>
        </p:spPr>
      </p:pic>
      <p:sp>
        <p:nvSpPr>
          <p:cNvPr id="11" name="Text 8"/>
          <p:cNvSpPr txBox="1"/>
          <p:nvPr/>
        </p:nvSpPr>
        <p:spPr>
          <a:xfrm>
            <a:off x="457200" y="2011680"/>
            <a:ext cx="1645920" cy="2743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Students</a:t>
            </a:r>
            <a:endParaRPr lang="en-US" sz="1300" dirty="0"/>
          </a:p>
        </p:txBody>
      </p:sp>
      <p:sp>
        <p:nvSpPr>
          <p:cNvPr id="12" name="Shape 9"/>
          <p:cNvSpPr/>
          <p:nvPr/>
        </p:nvSpPr>
        <p:spPr>
          <a:xfrm>
            <a:off x="4160520" y="1234440"/>
            <a:ext cx="731520" cy="731520"/>
          </a:xfrm>
          <a:prstGeom prst="ellipse">
            <a:avLst/>
          </a:prstGeom>
          <a:solidFill>
            <a:srgbClr val="0F8B8D"/>
          </a:solidFill>
          <a:ln w="12700">
            <a:solidFill>
              <a:srgbClr val="0F8B8D"/>
            </a:solidFill>
            <a:prstDash val="solid"/>
          </a:ln>
        </p:spPr>
      </p:sp>
      <p:pic>
        <p:nvPicPr>
          <p:cNvPr id="13" name="Image 1" descr="preencoded.png">    </p:cNvPr>
          <p:cNvPicPr>
            <a:picLocks noChangeAspect="1"/>
          </p:cNvPicPr>
          <p:nvPr/>
        </p:nvPicPr>
        <p:blipFill>
          <a:blip r:embed="rId2"/>
          <a:stretch>
            <a:fillRect/>
          </a:stretch>
        </p:blipFill>
        <p:spPr>
          <a:xfrm>
            <a:off x="4336085" y="1410005"/>
            <a:ext cx="380390" cy="380390"/>
          </a:xfrm>
          <a:prstGeom prst="rect">
            <a:avLst/>
          </a:prstGeom>
        </p:spPr>
      </p:pic>
      <p:sp>
        <p:nvSpPr>
          <p:cNvPr id="14" name="Text 10"/>
          <p:cNvSpPr txBox="1"/>
          <p:nvPr/>
        </p:nvSpPr>
        <p:spPr>
          <a:xfrm>
            <a:off x="3703320" y="2011680"/>
            <a:ext cx="1645920" cy="2743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Lecturers</a:t>
            </a:r>
            <a:endParaRPr lang="en-US" sz="1300" dirty="0"/>
          </a:p>
        </p:txBody>
      </p:sp>
      <p:sp>
        <p:nvSpPr>
          <p:cNvPr id="15" name="Shape 11"/>
          <p:cNvSpPr/>
          <p:nvPr/>
        </p:nvSpPr>
        <p:spPr>
          <a:xfrm>
            <a:off x="914400" y="4343400"/>
            <a:ext cx="731520" cy="731520"/>
          </a:xfrm>
          <a:prstGeom prst="ellipse">
            <a:avLst/>
          </a:prstGeom>
          <a:solidFill>
            <a:srgbClr val="0F8B8D"/>
          </a:solidFill>
          <a:ln w="12700">
            <a:solidFill>
              <a:srgbClr val="0F8B8D"/>
            </a:solidFill>
            <a:prstDash val="solid"/>
          </a:ln>
        </p:spPr>
      </p:sp>
      <p:pic>
        <p:nvPicPr>
          <p:cNvPr id="16" name="Image 2" descr="preencoded.png">    </p:cNvPr>
          <p:cNvPicPr>
            <a:picLocks noChangeAspect="1"/>
          </p:cNvPicPr>
          <p:nvPr/>
        </p:nvPicPr>
        <p:blipFill>
          <a:blip r:embed="rId3"/>
          <a:stretch>
            <a:fillRect/>
          </a:stretch>
        </p:blipFill>
        <p:spPr>
          <a:xfrm>
            <a:off x="1089965" y="4518965"/>
            <a:ext cx="380390" cy="380390"/>
          </a:xfrm>
          <a:prstGeom prst="rect">
            <a:avLst/>
          </a:prstGeom>
        </p:spPr>
      </p:pic>
      <p:sp>
        <p:nvSpPr>
          <p:cNvPr id="17" name="Text 12"/>
          <p:cNvSpPr txBox="1"/>
          <p:nvPr/>
        </p:nvSpPr>
        <p:spPr>
          <a:xfrm>
            <a:off x="457200" y="5120640"/>
            <a:ext cx="1645920" cy="2743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Administrators</a:t>
            </a:r>
            <a:endParaRPr lang="en-US" sz="1300" dirty="0"/>
          </a:p>
        </p:txBody>
      </p:sp>
      <p:sp>
        <p:nvSpPr>
          <p:cNvPr id="18" name="Shape 13"/>
          <p:cNvSpPr/>
          <p:nvPr/>
        </p:nvSpPr>
        <p:spPr>
          <a:xfrm>
            <a:off x="4160520" y="4343400"/>
            <a:ext cx="731520" cy="731520"/>
          </a:xfrm>
          <a:prstGeom prst="ellipse">
            <a:avLst/>
          </a:prstGeom>
          <a:solidFill>
            <a:srgbClr val="0F8B8D"/>
          </a:solidFill>
          <a:ln w="12700">
            <a:solidFill>
              <a:srgbClr val="0F8B8D"/>
            </a:solidFill>
            <a:prstDash val="solid"/>
          </a:ln>
        </p:spPr>
      </p:sp>
      <p:pic>
        <p:nvPicPr>
          <p:cNvPr id="19" name="Image 3" descr="preencoded.png">    </p:cNvPr>
          <p:cNvPicPr>
            <a:picLocks noChangeAspect="1"/>
          </p:cNvPicPr>
          <p:nvPr/>
        </p:nvPicPr>
        <p:blipFill>
          <a:blip r:embed="rId4"/>
          <a:stretch>
            <a:fillRect/>
          </a:stretch>
        </p:blipFill>
        <p:spPr>
          <a:xfrm>
            <a:off x="4336085" y="4518965"/>
            <a:ext cx="380390" cy="380390"/>
          </a:xfrm>
          <a:prstGeom prst="rect">
            <a:avLst/>
          </a:prstGeom>
        </p:spPr>
      </p:pic>
      <p:sp>
        <p:nvSpPr>
          <p:cNvPr id="20" name="Text 14"/>
          <p:cNvSpPr txBox="1"/>
          <p:nvPr/>
        </p:nvSpPr>
        <p:spPr>
          <a:xfrm>
            <a:off x="3703320" y="5120640"/>
            <a:ext cx="1645920" cy="2743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IT services</a:t>
            </a:r>
            <a:endParaRPr lang="en-US" sz="1300" dirty="0"/>
          </a:p>
        </p:txBody>
      </p:sp>
      <p:sp>
        <p:nvSpPr>
          <p:cNvPr id="21" name="Text 15"/>
          <p:cNvSpPr txBox="1"/>
          <p:nvPr/>
        </p:nvSpPr>
        <p:spPr>
          <a:xfrm>
            <a:off x="5715000" y="1188720"/>
            <a:ext cx="5852160" cy="292608"/>
          </a:xfrm>
          <a:prstGeom prst="rect">
            <a:avLst/>
          </a:prstGeom>
          <a:noFill/>
          <a:ln/>
        </p:spPr>
        <p:txBody>
          <a:bodyPr wrap="square" lIns="0" tIns="0" rIns="0" bIns="0" rtlCol="0" anchor="t"/>
          <a:lstStyle/>
          <a:p>
            <a:pPr indent="0" marL="0">
              <a:buNone/>
            </a:pPr>
            <a:r>
              <a:rPr lang="en-US" sz="1400" b="1" dirty="0">
                <a:solidFill>
                  <a:srgbClr val="0F8B8D"/>
                </a:solidFill>
                <a:latin typeface="Calibri" pitchFamily="34" charset="0"/>
                <a:ea typeface="Calibri" pitchFamily="34" charset="-122"/>
                <a:cs typeface="Calibri" pitchFamily="34" charset="-120"/>
              </a:rPr>
              <a:t>Planned capabilities</a:t>
            </a:r>
            <a:endParaRPr lang="en-US" sz="1400" dirty="0"/>
          </a:p>
        </p:txBody>
      </p:sp>
      <p:sp>
        <p:nvSpPr>
          <p:cNvPr id="22" name="Shape 16"/>
          <p:cNvSpPr/>
          <p:nvPr/>
        </p:nvSpPr>
        <p:spPr>
          <a:xfrm>
            <a:off x="5715000" y="1536192"/>
            <a:ext cx="1874520" cy="365760"/>
          </a:xfrm>
          <a:prstGeom prst="roundRect">
            <a:avLst>
              <a:gd name="adj" fmla="val 20000"/>
            </a:avLst>
          </a:prstGeom>
          <a:solidFill>
            <a:srgbClr val="E8F3F4"/>
          </a:solidFill>
          <a:ln w="12700">
            <a:solidFill>
              <a:srgbClr val="E8F3F4"/>
            </a:solidFill>
            <a:prstDash val="solid"/>
          </a:ln>
        </p:spPr>
      </p:sp>
      <p:sp>
        <p:nvSpPr>
          <p:cNvPr id="23" name="Text 17"/>
          <p:cNvSpPr txBox="1"/>
          <p:nvPr/>
        </p:nvSpPr>
        <p:spPr>
          <a:xfrm>
            <a:off x="5715000" y="1536192"/>
            <a:ext cx="1874520" cy="365760"/>
          </a:xfrm>
          <a:prstGeom prst="rect">
            <a:avLst/>
          </a:prstGeom>
          <a:noFill/>
          <a:ln/>
        </p:spPr>
        <p:txBody>
          <a:bodyPr wrap="square" lIns="0" tIns="0" rIns="0" bIns="0" rtlCol="0" anchor="ctr"/>
          <a:lstStyle/>
          <a:p>
            <a:pPr algn="ctr" indent="0" marL="0">
              <a:buNone/>
            </a:pPr>
            <a:r>
              <a:rPr lang="en-US" sz="1200" b="1" dirty="0">
                <a:solidFill>
                  <a:srgbClr val="14284B"/>
                </a:solidFill>
                <a:latin typeface="Calibri" pitchFamily="34" charset="0"/>
                <a:ea typeface="Calibri" pitchFamily="34" charset="-122"/>
                <a:cs typeface="Calibri" pitchFamily="34" charset="-120"/>
              </a:rPr>
              <a:t>Course delivery</a:t>
            </a:r>
            <a:endParaRPr lang="en-US" sz="1200" dirty="0"/>
          </a:p>
        </p:txBody>
      </p:sp>
      <p:sp>
        <p:nvSpPr>
          <p:cNvPr id="24" name="Shape 18"/>
          <p:cNvSpPr/>
          <p:nvPr/>
        </p:nvSpPr>
        <p:spPr>
          <a:xfrm>
            <a:off x="7708392" y="1536192"/>
            <a:ext cx="1874520" cy="365760"/>
          </a:xfrm>
          <a:prstGeom prst="roundRect">
            <a:avLst>
              <a:gd name="adj" fmla="val 20000"/>
            </a:avLst>
          </a:prstGeom>
          <a:solidFill>
            <a:srgbClr val="E8F3F4"/>
          </a:solidFill>
          <a:ln w="12700">
            <a:solidFill>
              <a:srgbClr val="E8F3F4"/>
            </a:solidFill>
            <a:prstDash val="solid"/>
          </a:ln>
        </p:spPr>
      </p:sp>
      <p:sp>
        <p:nvSpPr>
          <p:cNvPr id="25" name="Text 19"/>
          <p:cNvSpPr txBox="1"/>
          <p:nvPr/>
        </p:nvSpPr>
        <p:spPr>
          <a:xfrm>
            <a:off x="7708392" y="1536192"/>
            <a:ext cx="1874520" cy="365760"/>
          </a:xfrm>
          <a:prstGeom prst="rect">
            <a:avLst/>
          </a:prstGeom>
          <a:noFill/>
          <a:ln/>
        </p:spPr>
        <p:txBody>
          <a:bodyPr wrap="square" lIns="0" tIns="0" rIns="0" bIns="0" rtlCol="0" anchor="ctr"/>
          <a:lstStyle/>
          <a:p>
            <a:pPr algn="ctr" indent="0" marL="0">
              <a:buNone/>
            </a:pPr>
            <a:r>
              <a:rPr lang="en-US" sz="1200" b="1" dirty="0">
                <a:solidFill>
                  <a:srgbClr val="14284B"/>
                </a:solidFill>
                <a:latin typeface="Calibri" pitchFamily="34" charset="0"/>
                <a:ea typeface="Calibri" pitchFamily="34" charset="-122"/>
                <a:cs typeface="Calibri" pitchFamily="34" charset="-120"/>
              </a:rPr>
              <a:t>Assignments and feedback</a:t>
            </a:r>
            <a:endParaRPr lang="en-US" sz="1200" dirty="0"/>
          </a:p>
        </p:txBody>
      </p:sp>
      <p:sp>
        <p:nvSpPr>
          <p:cNvPr id="26" name="Shape 20"/>
          <p:cNvSpPr/>
          <p:nvPr/>
        </p:nvSpPr>
        <p:spPr>
          <a:xfrm>
            <a:off x="9701784" y="1536192"/>
            <a:ext cx="1874520" cy="365760"/>
          </a:xfrm>
          <a:prstGeom prst="roundRect">
            <a:avLst>
              <a:gd name="adj" fmla="val 20000"/>
            </a:avLst>
          </a:prstGeom>
          <a:solidFill>
            <a:srgbClr val="E8F3F4"/>
          </a:solidFill>
          <a:ln w="12700">
            <a:solidFill>
              <a:srgbClr val="E8F3F4"/>
            </a:solidFill>
            <a:prstDash val="solid"/>
          </a:ln>
        </p:spPr>
      </p:sp>
      <p:sp>
        <p:nvSpPr>
          <p:cNvPr id="27" name="Text 21"/>
          <p:cNvSpPr txBox="1"/>
          <p:nvPr/>
        </p:nvSpPr>
        <p:spPr>
          <a:xfrm>
            <a:off x="9701784" y="1536192"/>
            <a:ext cx="1874520" cy="365760"/>
          </a:xfrm>
          <a:prstGeom prst="rect">
            <a:avLst/>
          </a:prstGeom>
          <a:noFill/>
          <a:ln/>
        </p:spPr>
        <p:txBody>
          <a:bodyPr wrap="square" lIns="0" tIns="0" rIns="0" bIns="0" rtlCol="0" anchor="ctr"/>
          <a:lstStyle/>
          <a:p>
            <a:pPr algn="ctr" indent="0" marL="0">
              <a:buNone/>
            </a:pPr>
            <a:r>
              <a:rPr lang="en-US" sz="1200" b="1" dirty="0">
                <a:solidFill>
                  <a:srgbClr val="14284B"/>
                </a:solidFill>
                <a:latin typeface="Calibri" pitchFamily="34" charset="0"/>
                <a:ea typeface="Calibri" pitchFamily="34" charset="-122"/>
                <a:cs typeface="Calibri" pitchFamily="34" charset="-120"/>
              </a:rPr>
              <a:t>Quizzes and gradebook</a:t>
            </a:r>
            <a:endParaRPr lang="en-US" sz="1200" dirty="0"/>
          </a:p>
        </p:txBody>
      </p:sp>
      <p:sp>
        <p:nvSpPr>
          <p:cNvPr id="28" name="Shape 22"/>
          <p:cNvSpPr/>
          <p:nvPr/>
        </p:nvSpPr>
        <p:spPr>
          <a:xfrm>
            <a:off x="5715000" y="1993392"/>
            <a:ext cx="1874520" cy="365760"/>
          </a:xfrm>
          <a:prstGeom prst="roundRect">
            <a:avLst>
              <a:gd name="adj" fmla="val 20000"/>
            </a:avLst>
          </a:prstGeom>
          <a:solidFill>
            <a:srgbClr val="E8F3F4"/>
          </a:solidFill>
          <a:ln w="12700">
            <a:solidFill>
              <a:srgbClr val="E8F3F4"/>
            </a:solidFill>
            <a:prstDash val="solid"/>
          </a:ln>
        </p:spPr>
      </p:sp>
      <p:sp>
        <p:nvSpPr>
          <p:cNvPr id="29" name="Text 23"/>
          <p:cNvSpPr txBox="1"/>
          <p:nvPr/>
        </p:nvSpPr>
        <p:spPr>
          <a:xfrm>
            <a:off x="5715000" y="1993392"/>
            <a:ext cx="1874520" cy="365760"/>
          </a:xfrm>
          <a:prstGeom prst="rect">
            <a:avLst/>
          </a:prstGeom>
          <a:noFill/>
          <a:ln/>
        </p:spPr>
        <p:txBody>
          <a:bodyPr wrap="square" lIns="0" tIns="0" rIns="0" bIns="0" rtlCol="0" anchor="ctr"/>
          <a:lstStyle/>
          <a:p>
            <a:pPr algn="ctr" indent="0" marL="0">
              <a:buNone/>
            </a:pPr>
            <a:r>
              <a:rPr lang="en-US" sz="1200" b="1" dirty="0">
                <a:solidFill>
                  <a:srgbClr val="14284B"/>
                </a:solidFill>
                <a:latin typeface="Calibri" pitchFamily="34" charset="0"/>
                <a:ea typeface="Calibri" pitchFamily="34" charset="-122"/>
                <a:cs typeface="Calibri" pitchFamily="34" charset="-120"/>
              </a:rPr>
              <a:t>Progress tracking</a:t>
            </a:r>
            <a:endParaRPr lang="en-US" sz="1200" dirty="0"/>
          </a:p>
        </p:txBody>
      </p:sp>
      <p:sp>
        <p:nvSpPr>
          <p:cNvPr id="30" name="Shape 24"/>
          <p:cNvSpPr/>
          <p:nvPr/>
        </p:nvSpPr>
        <p:spPr>
          <a:xfrm>
            <a:off x="7708392" y="1993392"/>
            <a:ext cx="1874520" cy="365760"/>
          </a:xfrm>
          <a:prstGeom prst="roundRect">
            <a:avLst>
              <a:gd name="adj" fmla="val 20000"/>
            </a:avLst>
          </a:prstGeom>
          <a:solidFill>
            <a:srgbClr val="E8F3F4"/>
          </a:solidFill>
          <a:ln w="12700">
            <a:solidFill>
              <a:srgbClr val="E8F3F4"/>
            </a:solidFill>
            <a:prstDash val="solid"/>
          </a:ln>
        </p:spPr>
      </p:sp>
      <p:sp>
        <p:nvSpPr>
          <p:cNvPr id="31" name="Text 25"/>
          <p:cNvSpPr txBox="1"/>
          <p:nvPr/>
        </p:nvSpPr>
        <p:spPr>
          <a:xfrm>
            <a:off x="7708392" y="1993392"/>
            <a:ext cx="1874520" cy="365760"/>
          </a:xfrm>
          <a:prstGeom prst="rect">
            <a:avLst/>
          </a:prstGeom>
          <a:noFill/>
          <a:ln/>
        </p:spPr>
        <p:txBody>
          <a:bodyPr wrap="square" lIns="0" tIns="0" rIns="0" bIns="0" rtlCol="0" anchor="ctr"/>
          <a:lstStyle/>
          <a:p>
            <a:pPr algn="ctr" indent="0" marL="0">
              <a:buNone/>
            </a:pPr>
            <a:r>
              <a:rPr lang="en-US" sz="1200" b="1" dirty="0">
                <a:solidFill>
                  <a:srgbClr val="14284B"/>
                </a:solidFill>
                <a:latin typeface="Calibri" pitchFamily="34" charset="0"/>
                <a:ea typeface="Calibri" pitchFamily="34" charset="-122"/>
                <a:cs typeface="Calibri" pitchFamily="34" charset="-120"/>
              </a:rPr>
              <a:t>Announcements</a:t>
            </a:r>
            <a:endParaRPr lang="en-US" sz="1200" dirty="0"/>
          </a:p>
        </p:txBody>
      </p:sp>
      <p:sp>
        <p:nvSpPr>
          <p:cNvPr id="32" name="Shape 26"/>
          <p:cNvSpPr/>
          <p:nvPr/>
        </p:nvSpPr>
        <p:spPr>
          <a:xfrm>
            <a:off x="9701784" y="1993392"/>
            <a:ext cx="1874520" cy="365760"/>
          </a:xfrm>
          <a:prstGeom prst="roundRect">
            <a:avLst>
              <a:gd name="adj" fmla="val 20000"/>
            </a:avLst>
          </a:prstGeom>
          <a:solidFill>
            <a:srgbClr val="E8F3F4"/>
          </a:solidFill>
          <a:ln w="12700">
            <a:solidFill>
              <a:srgbClr val="E8F3F4"/>
            </a:solidFill>
            <a:prstDash val="solid"/>
          </a:ln>
        </p:spPr>
      </p:sp>
      <p:sp>
        <p:nvSpPr>
          <p:cNvPr id="33" name="Text 27"/>
          <p:cNvSpPr txBox="1"/>
          <p:nvPr/>
        </p:nvSpPr>
        <p:spPr>
          <a:xfrm>
            <a:off x="9701784" y="1993392"/>
            <a:ext cx="1874520" cy="365760"/>
          </a:xfrm>
          <a:prstGeom prst="rect">
            <a:avLst/>
          </a:prstGeom>
          <a:noFill/>
          <a:ln/>
        </p:spPr>
        <p:txBody>
          <a:bodyPr wrap="square" lIns="0" tIns="0" rIns="0" bIns="0" rtlCol="0" anchor="ctr"/>
          <a:lstStyle/>
          <a:p>
            <a:pPr algn="ctr" indent="0" marL="0">
              <a:buNone/>
            </a:pPr>
            <a:r>
              <a:rPr lang="en-US" sz="1200" b="1" dirty="0">
                <a:solidFill>
                  <a:srgbClr val="14284B"/>
                </a:solidFill>
                <a:latin typeface="Calibri" pitchFamily="34" charset="0"/>
                <a:ea typeface="Calibri" pitchFamily="34" charset="-122"/>
                <a:cs typeface="Calibri" pitchFamily="34" charset="-120"/>
              </a:rPr>
              <a:t>Role-based access</a:t>
            </a:r>
            <a:endParaRPr lang="en-US" sz="1200" dirty="0"/>
          </a:p>
        </p:txBody>
      </p:sp>
      <p:pic>
        <p:nvPicPr>
          <p:cNvPr id="34" name="Image 4" descr="assets/aws.jpg">    </p:cNvPr>
          <p:cNvPicPr>
            <a:picLocks noChangeAspect="1"/>
          </p:cNvPicPr>
          <p:nvPr/>
        </p:nvPicPr>
        <p:blipFill>
          <a:blip r:embed="rId5"/>
          <a:stretch>
            <a:fillRect/>
          </a:stretch>
        </p:blipFill>
        <p:spPr>
          <a:xfrm>
            <a:off x="5715000" y="2560320"/>
            <a:ext cx="5925312" cy="3602736"/>
          </a:xfrm>
          <a:prstGeom prst="rect">
            <a:avLst/>
          </a:prstGeom>
        </p:spPr>
      </p:pic>
      <p:sp>
        <p:nvSpPr>
          <p:cNvPr id="35" name="Text 28"/>
          <p:cNvSpPr txBox="1"/>
          <p:nvPr/>
        </p:nvSpPr>
        <p:spPr>
          <a:xfrm>
            <a:off x="5715000" y="6053328"/>
            <a:ext cx="5925312" cy="329184"/>
          </a:xfrm>
          <a:prstGeom prst="rect">
            <a:avLst/>
          </a:prstGeom>
          <a:noFill/>
          <a:ln/>
        </p:spPr>
        <p:txBody>
          <a:bodyPr wrap="square" lIns="0" tIns="0" rIns="0" bIns="0" rtlCol="0" anchor="t"/>
          <a:lstStyle/>
          <a:p>
            <a:pPr indent="0" marL="0">
              <a:buNone/>
            </a:pPr>
            <a:r>
              <a:rPr lang="en-US" sz="1000" i="1" dirty="0">
                <a:solidFill>
                  <a:srgbClr val="5B6576"/>
                </a:solidFill>
                <a:latin typeface="Calibri" pitchFamily="34" charset="0"/>
                <a:ea typeface="Calibri" pitchFamily="34" charset="-122"/>
                <a:cs typeface="Calibri" pitchFamily="34" charset="-120"/>
              </a:rPr>
              <a:t>Illustrative cloud hosting pattern for Moodle (AWS reference architecture, image supplied by the group). Not RIHE's approved design: the solution architecture is produced in WBS 4.1.</a:t>
            </a:r>
            <a:endParaRPr lang="en-US" sz="1000" dirty="0"/>
          </a:p>
        </p:txBody>
      </p:sp>
      <p:sp>
        <p:nvSpPr>
          <p:cNvPr id="36" name="Text 29"/>
          <p:cNvSpPr txBox="1"/>
          <p:nvPr/>
        </p:nvSpPr>
        <p:spPr>
          <a:xfrm>
            <a:off x="548640" y="5623560"/>
            <a:ext cx="4846320" cy="548640"/>
          </a:xfrm>
          <a:prstGeom prst="rect">
            <a:avLst/>
          </a:prstGeom>
          <a:noFill/>
          <a:ln/>
        </p:spPr>
        <p:txBody>
          <a:bodyPr wrap="square" lIns="0" tIns="0" rIns="0" bIns="0" rtlCol="0" anchor="t"/>
          <a:lstStyle/>
          <a:p>
            <a:pPr indent="0" marL="0">
              <a:buNone/>
            </a:pPr>
            <a:r>
              <a:rPr lang="en-US" sz="1200" i="1" dirty="0">
                <a:solidFill>
                  <a:srgbClr val="5B6576"/>
                </a:solidFill>
                <a:latin typeface="Calibri" pitchFamily="34" charset="0"/>
                <a:ea typeface="Calibri" pitchFamily="34" charset="-122"/>
                <a:cs typeface="Calibri" pitchFamily="34" charset="-120"/>
              </a:rPr>
              <a:t>Moodle was selected after a weighted evaluation (slide 9). Implementation is phased: five-course pilot first, then institution-wide go-live.</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SMART objectives define what acceptance means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635240" cy="914400"/>
        </p:xfrm>
        <a:graphic>
          <a:graphicData uri="http://schemas.openxmlformats.org/drawingml/2006/table">
            <a:tbl>
              <a:tblPr/>
              <a:tblGrid>
                <a:gridCol w="502920"/>
                <a:gridCol w="2377440"/>
                <a:gridCol w="3840480"/>
                <a:gridCol w="914400"/>
              </a:tblGrid>
              <a:tr h="676656">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Objective</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Measure (planning target)</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r>
              <a:tr h="676656">
                <a:tc>
                  <a:txBody>
                    <a:bodyPr/>
                    <a:lstStyle/>
                    <a:p>
                      <a:pPr indent="0" marL="0">
                        <a:buNone/>
                      </a:pPr>
                      <a:r>
                        <a:rPr lang="en-US" sz="1400" b="1" dirty="0">
                          <a:solidFill>
                            <a:srgbClr val="14284B"/>
                          </a:solidFill>
                          <a:latin typeface="Calibri" pitchFamily="34" charset="0"/>
                          <a:ea typeface="Calibri" pitchFamily="34" charset="-122"/>
                          <a:cs typeface="Calibri" pitchFamily="34" charset="-120"/>
                        </a:rPr>
                        <a:t>O1</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Formal acceptance of the configured LMS</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100% of must-have requirements pass UAT (incl. retest); sponsor signs acceptance</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Week 24</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676656">
                <a:tc>
                  <a:txBody>
                    <a:bodyPr/>
                    <a:lstStyle/>
                    <a:p>
                      <a:pPr indent="0" marL="0">
                        <a:buNone/>
                      </a:pPr>
                      <a:r>
                        <a:rPr lang="en-US" sz="1400" b="1" dirty="0">
                          <a:solidFill>
                            <a:srgbClr val="14284B"/>
                          </a:solidFill>
                          <a:latin typeface="Calibri" pitchFamily="34" charset="0"/>
                          <a:ea typeface="Calibri" pitchFamily="34" charset="-122"/>
                          <a:cs typeface="Calibri" pitchFamily="34" charset="-120"/>
                        </a:rPr>
                        <a:t>O2</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Pilot and remediation completed</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Zero open critical or high defects at the go/no-go review</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Week 24</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676656">
                <a:tc>
                  <a:txBody>
                    <a:bodyPr/>
                    <a:lstStyle/>
                    <a:p>
                      <a:pPr indent="0" marL="0">
                        <a:buNone/>
                      </a:pPr>
                      <a:r>
                        <a:rPr lang="en-US" sz="1400" b="1" dirty="0">
                          <a:solidFill>
                            <a:srgbClr val="14284B"/>
                          </a:solidFill>
                          <a:latin typeface="Calibri" pitchFamily="34" charset="0"/>
                          <a:ea typeface="Calibri" pitchFamily="34" charset="-122"/>
                          <a:cs typeface="Calibri" pitchFamily="34" charset="-120"/>
                        </a:rPr>
                        <a:t>O3</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Current-trimester content migrated</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100% of agreed courses migrated, reconciled and approved by lecturers</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Week 16</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676656">
                <a:tc>
                  <a:txBody>
                    <a:bodyPr/>
                    <a:lstStyle/>
                    <a:p>
                      <a:pPr indent="0" marL="0">
                        <a:buNone/>
                      </a:pPr>
                      <a:r>
                        <a:rPr lang="en-US" sz="1400" b="1" dirty="0">
                          <a:solidFill>
                            <a:srgbClr val="14284B"/>
                          </a:solidFill>
                          <a:latin typeface="Calibri" pitchFamily="34" charset="0"/>
                          <a:ea typeface="Calibri" pitchFamily="34" charset="-122"/>
                          <a:cs typeface="Calibri" pitchFamily="34" charset="-120"/>
                        </a:rPr>
                        <a:t>O4</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Lecturers trained before go-live</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At least 90% of teaching staff complete core training</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Week 21</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676656">
                <a:tc>
                  <a:txBody>
                    <a:bodyPr/>
                    <a:lstStyle/>
                    <a:p>
                      <a:pPr indent="0" marL="0">
                        <a:buNone/>
                      </a:pPr>
                      <a:r>
                        <a:rPr lang="en-US" sz="1400" b="1" dirty="0">
                          <a:solidFill>
                            <a:srgbClr val="14284B"/>
                          </a:solidFill>
                          <a:latin typeface="Calibri" pitchFamily="34" charset="0"/>
                          <a:ea typeface="Calibri" pitchFamily="34" charset="-122"/>
                          <a:cs typeface="Calibri" pitchFamily="34" charset="-120"/>
                        </a:rPr>
                        <a:t>O5</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Accessibility and security criteria met</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No unresolved WCAG 2.2 A/AA failures in core workflows; no unresolved high-risk security findings</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Week 17</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676656">
                <a:tc>
                  <a:txBody>
                    <a:bodyPr/>
                    <a:lstStyle/>
                    <a:p>
                      <a:pPr indent="0" marL="0">
                        <a:buNone/>
                      </a:pPr>
                      <a:r>
                        <a:rPr lang="en-US" sz="1400" b="1" dirty="0">
                          <a:solidFill>
                            <a:srgbClr val="14284B"/>
                          </a:solidFill>
                          <a:latin typeface="Calibri" pitchFamily="34" charset="0"/>
                          <a:ea typeface="Calibri" pitchFamily="34" charset="-122"/>
                          <a:cs typeface="Calibri" pitchFamily="34" charset="-120"/>
                        </a:rPr>
                        <a:t>O6</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Within budget and schedule</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Final cost within approved budget incl. contingency; closure by Week 28</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400" dirty="0">
                          <a:solidFill>
                            <a:srgbClr val="1F2937"/>
                          </a:solidFill>
                          <a:latin typeface="Calibri" pitchFamily="34" charset="0"/>
                          <a:ea typeface="Calibri" pitchFamily="34" charset="-122"/>
                          <a:cs typeface="Calibri" pitchFamily="34" charset="-120"/>
                        </a:rPr>
                        <a:t>Week 28</a:t>
                      </a:r>
                      <a:endParaRPr lang="en-US" sz="14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bl>
          </a:graphicData>
        </a:graphic>
      </p:graphicFrame>
      <p:sp>
        <p:nvSpPr>
          <p:cNvPr id="4" name="Shape 1"/>
          <p:cNvSpPr/>
          <p:nvPr/>
        </p:nvSpPr>
        <p:spPr>
          <a:xfrm>
            <a:off x="8458200" y="1188720"/>
            <a:ext cx="3182112" cy="4800600"/>
          </a:xfrm>
          <a:prstGeom prst="roundRect">
            <a:avLst>
              <a:gd name="adj" fmla="val 2299"/>
            </a:avLst>
          </a:prstGeom>
          <a:solidFill>
            <a:srgbClr val="E8F3F4"/>
          </a:solidFill>
          <a:ln w="12700">
            <a:solidFill>
              <a:srgbClr val="E8F3F4"/>
            </a:solidFill>
            <a:prstDash val="solid"/>
          </a:ln>
        </p:spPr>
      </p:sp>
      <p:sp>
        <p:nvSpPr>
          <p:cNvPr id="5" name="Shape 2"/>
          <p:cNvSpPr/>
          <p:nvPr/>
        </p:nvSpPr>
        <p:spPr>
          <a:xfrm>
            <a:off x="8686800" y="1371600"/>
            <a:ext cx="548640" cy="54864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8818474" y="1503274"/>
            <a:ext cx="285293" cy="285293"/>
          </a:xfrm>
          <a:prstGeom prst="rect">
            <a:avLst/>
          </a:prstGeom>
        </p:spPr>
      </p:pic>
      <p:sp>
        <p:nvSpPr>
          <p:cNvPr id="7" name="Text 3"/>
          <p:cNvSpPr txBox="1"/>
          <p:nvPr/>
        </p:nvSpPr>
        <p:spPr>
          <a:xfrm>
            <a:off x="9372600" y="1444752"/>
            <a:ext cx="2194560" cy="411480"/>
          </a:xfrm>
          <a:prstGeom prst="rect">
            <a:avLst/>
          </a:prstGeom>
          <a:noFill/>
          <a:ln/>
        </p:spPr>
        <p:txBody>
          <a:bodyPr wrap="square" lIns="0" tIns="0" rIns="0" bIns="0" rtlCol="0" anchor="t"/>
          <a:lstStyle/>
          <a:p>
            <a:pPr indent="0" marL="0">
              <a:buNone/>
            </a:pPr>
            <a:r>
              <a:rPr lang="en-US" sz="1600" b="1" dirty="0">
                <a:solidFill>
                  <a:srgbClr val="14284B"/>
                </a:solidFill>
                <a:latin typeface="Calibri" pitchFamily="34" charset="0"/>
                <a:ea typeface="Calibri" pitchFamily="34" charset="-122"/>
                <a:cs typeface="Calibri" pitchFamily="34" charset="-120"/>
              </a:rPr>
              <a:t>Expected benefits</a:t>
            </a:r>
            <a:endParaRPr lang="en-US" sz="1600" dirty="0"/>
          </a:p>
        </p:txBody>
      </p:sp>
      <p:sp>
        <p:nvSpPr>
          <p:cNvPr id="8" name="Text 4"/>
          <p:cNvSpPr txBox="1"/>
          <p:nvPr/>
        </p:nvSpPr>
        <p:spPr>
          <a:xfrm>
            <a:off x="8686800" y="2011680"/>
            <a:ext cx="2788920" cy="457200"/>
          </a:xfrm>
          <a:prstGeom prst="rect">
            <a:avLst/>
          </a:prstGeom>
          <a:noFill/>
          <a:ln/>
        </p:spPr>
        <p:txBody>
          <a:bodyPr wrap="square" lIns="0" tIns="0" rIns="0" bIns="0" rtlCol="0" anchor="t"/>
          <a:lstStyle/>
          <a:p>
            <a:pPr indent="0" marL="0">
              <a:buNone/>
            </a:pPr>
            <a:r>
              <a:rPr lang="en-US" sz="1100" i="1" dirty="0">
                <a:solidFill>
                  <a:srgbClr val="5B6576"/>
                </a:solidFill>
                <a:latin typeface="Calibri" pitchFamily="34" charset="0"/>
                <a:ea typeface="Calibri" pitchFamily="34" charset="-122"/>
                <a:cs typeface="Calibri" pitchFamily="34" charset="-120"/>
              </a:rPr>
              <a:t>Broader benefits, not formal acceptance criteria</a:t>
            </a:r>
            <a:endParaRPr lang="en-US" sz="1100" dirty="0"/>
          </a:p>
        </p:txBody>
      </p:sp>
      <p:sp>
        <p:nvSpPr>
          <p:cNvPr id="9" name="Text 5"/>
          <p:cNvSpPr txBox="1"/>
          <p:nvPr/>
        </p:nvSpPr>
        <p:spPr>
          <a:xfrm>
            <a:off x="8686800" y="2514600"/>
            <a:ext cx="2788920" cy="33832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One consistent place for all learning activity</a:t>
            </a:r>
            <a:endParaRPr lang="en-US" sz="1400" dirty="0"/>
          </a:p>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Faster feedback for students</a:t>
            </a:r>
            <a:endParaRPr lang="en-US" sz="1400" dirty="0"/>
          </a:p>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Less manual handling for lecturers</a:t>
            </a:r>
            <a:endParaRPr lang="en-US" sz="1400" dirty="0"/>
          </a:p>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Centralised enrolment and reporting</a:t>
            </a:r>
            <a:endParaRPr lang="en-US" sz="1400" dirty="0"/>
          </a:p>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Reduced compliance risk</a:t>
            </a:r>
            <a:endParaRPr lang="en-US" sz="1400" dirty="0"/>
          </a:p>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Pilot satisfaction of at least 3.5 / 5 (tracked again in hypercare)</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What the literature tells us, and how it shapes the plan</a:t>
            </a:r>
            <a:endParaRPr lang="en-US" sz="2800" dirty="0"/>
          </a:p>
        </p:txBody>
      </p:sp>
      <p:pic>
        <p:nvPicPr>
          <p:cNvPr id="3" name="Image 0" descr="assets/learners.jpg">    </p:cNvPr>
          <p:cNvPicPr>
            <a:picLocks noChangeAspect="1"/>
          </p:cNvPicPr>
          <p:nvPr/>
        </p:nvPicPr>
        <p:blipFill>
          <a:blip r:embed="rId1"/>
          <a:stretch>
            <a:fillRect/>
          </a:stretch>
        </p:blipFill>
        <p:spPr>
          <a:xfrm>
            <a:off x="8778240" y="1188720"/>
            <a:ext cx="2862072" cy="3657600"/>
          </a:xfrm>
          <a:prstGeom prst="rect">
            <a:avLst/>
          </a:prstGeom>
        </p:spPr>
      </p:pic>
      <p:sp>
        <p:nvSpPr>
          <p:cNvPr id="4" name="Text 1"/>
          <p:cNvSpPr txBox="1"/>
          <p:nvPr/>
        </p:nvSpPr>
        <p:spPr>
          <a:xfrm>
            <a:off x="8778240" y="4919472"/>
            <a:ext cx="2862072" cy="777240"/>
          </a:xfrm>
          <a:prstGeom prst="rect">
            <a:avLst/>
          </a:prstGeom>
          <a:noFill/>
          <a:ln/>
        </p:spPr>
        <p:txBody>
          <a:bodyPr wrap="square" lIns="0" tIns="0" rIns="0" bIns="0" rtlCol="0" anchor="t"/>
          <a:lstStyle/>
          <a:p>
            <a:pPr indent="0" marL="0">
              <a:buNone/>
            </a:pPr>
            <a:r>
              <a:rPr lang="en-US" sz="1100" i="1" dirty="0">
                <a:solidFill>
                  <a:srgbClr val="5B6576"/>
                </a:solidFill>
                <a:latin typeface="Calibri" pitchFamily="34" charset="0"/>
                <a:ea typeface="Calibri" pitchFamily="34" charset="-122"/>
                <a:cs typeface="Calibri" pitchFamily="34" charset="-120"/>
              </a:rPr>
              <a:t>Learners sustain long-term LMS use, so students are represented in requirements, pilot and feedback [12].</a:t>
            </a:r>
            <a:endParaRPr lang="en-US" sz="1100" dirty="0"/>
          </a:p>
        </p:txBody>
      </p:sp>
      <p:sp>
        <p:nvSpPr>
          <p:cNvPr id="5" name="Shape 2"/>
          <p:cNvSpPr/>
          <p:nvPr/>
        </p:nvSpPr>
        <p:spPr>
          <a:xfrm>
            <a:off x="548640" y="1188720"/>
            <a:ext cx="3931920" cy="2148840"/>
          </a:xfrm>
          <a:prstGeom prst="roundRect">
            <a:avLst>
              <a:gd name="adj" fmla="val 3404"/>
            </a:avLst>
          </a:prstGeom>
          <a:solidFill>
            <a:srgbClr val="F3F5F8"/>
          </a:solidFill>
          <a:ln w="12700">
            <a:solidFill>
              <a:srgbClr val="F3F5F8"/>
            </a:solidFill>
            <a:prstDash val="solid"/>
          </a:ln>
        </p:spPr>
      </p:sp>
      <p:sp>
        <p:nvSpPr>
          <p:cNvPr id="6" name="Shape 3"/>
          <p:cNvSpPr/>
          <p:nvPr/>
        </p:nvSpPr>
        <p:spPr>
          <a:xfrm>
            <a:off x="731520" y="1371600"/>
            <a:ext cx="502920" cy="502920"/>
          </a:xfrm>
          <a:prstGeom prst="ellipse">
            <a:avLst/>
          </a:prstGeom>
          <a:solidFill>
            <a:srgbClr val="14284B"/>
          </a:solidFill>
          <a:ln w="12700">
            <a:solidFill>
              <a:srgbClr val="14284B"/>
            </a:solidFill>
            <a:prstDash val="solid"/>
          </a:ln>
        </p:spPr>
      </p:sp>
      <p:pic>
        <p:nvPicPr>
          <p:cNvPr id="7" name="Image 1" descr="preencoded.png">    </p:cNvPr>
          <p:cNvPicPr>
            <a:picLocks noChangeAspect="1"/>
          </p:cNvPicPr>
          <p:nvPr/>
        </p:nvPicPr>
        <p:blipFill>
          <a:blip r:embed="rId2"/>
          <a:stretch>
            <a:fillRect/>
          </a:stretch>
        </p:blipFill>
        <p:spPr>
          <a:xfrm>
            <a:off x="852221" y="1492301"/>
            <a:ext cx="261518" cy="261518"/>
          </a:xfrm>
          <a:prstGeom prst="rect">
            <a:avLst/>
          </a:prstGeom>
        </p:spPr>
      </p:pic>
      <p:sp>
        <p:nvSpPr>
          <p:cNvPr id="8" name="Text 4"/>
          <p:cNvSpPr txBox="1"/>
          <p:nvPr/>
        </p:nvSpPr>
        <p:spPr>
          <a:xfrm>
            <a:off x="1371600" y="1325880"/>
            <a:ext cx="2971800" cy="64008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Usefulness and ease of use drive adoption</a:t>
            </a:r>
            <a:endParaRPr lang="en-US" sz="1400" dirty="0"/>
          </a:p>
        </p:txBody>
      </p:sp>
      <p:sp>
        <p:nvSpPr>
          <p:cNvPr id="9" name="Text 5"/>
          <p:cNvSpPr txBox="1"/>
          <p:nvPr/>
        </p:nvSpPr>
        <p:spPr>
          <a:xfrm>
            <a:off x="777240" y="2029968"/>
            <a:ext cx="3566160" cy="45720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TAM dominates LMS adoption research [8], [9]</a:t>
            </a:r>
            <a:endParaRPr lang="en-US" sz="1200" dirty="0"/>
          </a:p>
        </p:txBody>
      </p:sp>
      <p:sp>
        <p:nvSpPr>
          <p:cNvPr id="10" name="Shape 6"/>
          <p:cNvSpPr/>
          <p:nvPr/>
        </p:nvSpPr>
        <p:spPr>
          <a:xfrm>
            <a:off x="731520" y="2514600"/>
            <a:ext cx="3566160" cy="658368"/>
          </a:xfrm>
          <a:prstGeom prst="roundRect">
            <a:avLst>
              <a:gd name="adj" fmla="val 11111"/>
            </a:avLst>
          </a:prstGeom>
          <a:solidFill>
            <a:srgbClr val="FFFFFF"/>
          </a:solidFill>
          <a:ln w="12700">
            <a:solidFill>
              <a:srgbClr val="FFFFFF"/>
            </a:solidFill>
            <a:prstDash val="solid"/>
          </a:ln>
        </p:spPr>
      </p:sp>
      <p:sp>
        <p:nvSpPr>
          <p:cNvPr id="11" name="Text 7"/>
          <p:cNvSpPr txBox="1"/>
          <p:nvPr/>
        </p:nvSpPr>
        <p:spPr>
          <a:xfrm>
            <a:off x="841248" y="2514600"/>
            <a:ext cx="3383280" cy="658368"/>
          </a:xfrm>
          <a:prstGeom prst="rect">
            <a:avLst/>
          </a:prstGeom>
          <a:noFill/>
          <a:ln/>
        </p:spPr>
        <p:txBody>
          <a:bodyPr wrap="square" lIns="0" tIns="0" rIns="0" bIns="0" rtlCol="0" anchor="ctr"/>
          <a:lstStyle/>
          <a:p>
            <a:pPr indent="0" marL="0">
              <a:buNone/>
            </a:pPr>
            <a:r>
              <a:rPr lang="en-US" sz="1200" b="1" dirty="0">
                <a:solidFill>
                  <a:srgbClr val="0F8B8D"/>
                </a:solidFill>
                <a:latin typeface="Calibri" pitchFamily="34" charset="0"/>
                <a:ea typeface="Calibri" pitchFamily="34" charset="-122"/>
                <a:cs typeface="Calibri" pitchFamily="34" charset="-120"/>
              </a:rPr>
              <a:t>Plan response: </a:t>
            </a:r>
            <a:pPr indent="0" marL="0">
              <a:buNone/>
            </a:pPr>
            <a:r>
              <a:rPr lang="en-US" sz="1200" dirty="0">
                <a:solidFill>
                  <a:srgbClr val="1F2937"/>
                </a:solidFill>
                <a:latin typeface="Calibri" pitchFamily="34" charset="0"/>
                <a:ea typeface="Calibri" pitchFamily="34" charset="-122"/>
                <a:cs typeface="Calibri" pitchFamily="34" charset="-120"/>
              </a:rPr>
              <a:t>Usability testing, templates, visible early benefits</a:t>
            </a:r>
            <a:endParaRPr lang="en-US" sz="1200" dirty="0"/>
          </a:p>
        </p:txBody>
      </p:sp>
      <p:sp>
        <p:nvSpPr>
          <p:cNvPr id="12" name="Shape 8"/>
          <p:cNvSpPr/>
          <p:nvPr/>
        </p:nvSpPr>
        <p:spPr>
          <a:xfrm>
            <a:off x="4663440" y="1188720"/>
            <a:ext cx="3931920" cy="2148840"/>
          </a:xfrm>
          <a:prstGeom prst="roundRect">
            <a:avLst>
              <a:gd name="adj" fmla="val 3404"/>
            </a:avLst>
          </a:prstGeom>
          <a:solidFill>
            <a:srgbClr val="F3F5F8"/>
          </a:solidFill>
          <a:ln w="12700">
            <a:solidFill>
              <a:srgbClr val="F3F5F8"/>
            </a:solidFill>
            <a:prstDash val="solid"/>
          </a:ln>
        </p:spPr>
      </p:sp>
      <p:sp>
        <p:nvSpPr>
          <p:cNvPr id="13" name="Shape 9"/>
          <p:cNvSpPr/>
          <p:nvPr/>
        </p:nvSpPr>
        <p:spPr>
          <a:xfrm>
            <a:off x="4846320" y="1371600"/>
            <a:ext cx="502920" cy="502920"/>
          </a:xfrm>
          <a:prstGeom prst="ellipse">
            <a:avLst/>
          </a:prstGeom>
          <a:solidFill>
            <a:srgbClr val="14284B"/>
          </a:solidFill>
          <a:ln w="12700">
            <a:solidFill>
              <a:srgbClr val="14284B"/>
            </a:solidFill>
            <a:prstDash val="solid"/>
          </a:ln>
        </p:spPr>
      </p:sp>
      <p:pic>
        <p:nvPicPr>
          <p:cNvPr id="14" name="Image 2" descr="preencoded.png">    </p:cNvPr>
          <p:cNvPicPr>
            <a:picLocks noChangeAspect="1"/>
          </p:cNvPicPr>
          <p:nvPr/>
        </p:nvPicPr>
        <p:blipFill>
          <a:blip r:embed="rId3"/>
          <a:stretch>
            <a:fillRect/>
          </a:stretch>
        </p:blipFill>
        <p:spPr>
          <a:xfrm>
            <a:off x="4967021" y="1492301"/>
            <a:ext cx="261518" cy="261518"/>
          </a:xfrm>
          <a:prstGeom prst="rect">
            <a:avLst/>
          </a:prstGeom>
        </p:spPr>
      </p:pic>
      <p:sp>
        <p:nvSpPr>
          <p:cNvPr id="15" name="Text 10"/>
          <p:cNvSpPr txBox="1"/>
          <p:nvPr/>
        </p:nvSpPr>
        <p:spPr>
          <a:xfrm>
            <a:off x="5486400" y="1325880"/>
            <a:ext cx="2971800" cy="64008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Lecturer workload and resistance are the main barriers</a:t>
            </a:r>
            <a:endParaRPr lang="en-US" sz="1400" dirty="0"/>
          </a:p>
        </p:txBody>
      </p:sp>
      <p:sp>
        <p:nvSpPr>
          <p:cNvPr id="16" name="Text 11"/>
          <p:cNvSpPr txBox="1"/>
          <p:nvPr/>
        </p:nvSpPr>
        <p:spPr>
          <a:xfrm>
            <a:off x="4892040" y="2029968"/>
            <a:ext cx="3566160" cy="45720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Sweden and the Philippines report the same finding [1], [2]</a:t>
            </a:r>
            <a:endParaRPr lang="en-US" sz="1200" dirty="0"/>
          </a:p>
        </p:txBody>
      </p:sp>
      <p:sp>
        <p:nvSpPr>
          <p:cNvPr id="17" name="Shape 12"/>
          <p:cNvSpPr/>
          <p:nvPr/>
        </p:nvSpPr>
        <p:spPr>
          <a:xfrm>
            <a:off x="4846320" y="2514600"/>
            <a:ext cx="3566160" cy="658368"/>
          </a:xfrm>
          <a:prstGeom prst="roundRect">
            <a:avLst>
              <a:gd name="adj" fmla="val 11111"/>
            </a:avLst>
          </a:prstGeom>
          <a:solidFill>
            <a:srgbClr val="FFFFFF"/>
          </a:solidFill>
          <a:ln w="12700">
            <a:solidFill>
              <a:srgbClr val="FFFFFF"/>
            </a:solidFill>
            <a:prstDash val="solid"/>
          </a:ln>
        </p:spPr>
      </p:sp>
      <p:sp>
        <p:nvSpPr>
          <p:cNvPr id="18" name="Text 13"/>
          <p:cNvSpPr txBox="1"/>
          <p:nvPr/>
        </p:nvSpPr>
        <p:spPr>
          <a:xfrm>
            <a:off x="4956048" y="2514600"/>
            <a:ext cx="3383280" cy="658368"/>
          </a:xfrm>
          <a:prstGeom prst="rect">
            <a:avLst/>
          </a:prstGeom>
          <a:noFill/>
          <a:ln/>
        </p:spPr>
        <p:txBody>
          <a:bodyPr wrap="square" lIns="0" tIns="0" rIns="0" bIns="0" rtlCol="0" anchor="ctr"/>
          <a:lstStyle/>
          <a:p>
            <a:pPr indent="0" marL="0">
              <a:buNone/>
            </a:pPr>
            <a:r>
              <a:rPr lang="en-US" sz="1200" b="1" dirty="0">
                <a:solidFill>
                  <a:srgbClr val="0F8B8D"/>
                </a:solidFill>
                <a:latin typeface="Calibri" pitchFamily="34" charset="0"/>
                <a:ea typeface="Calibri" pitchFamily="34" charset="-122"/>
                <a:cs typeface="Calibri" pitchFamily="34" charset="-120"/>
              </a:rPr>
              <a:t>Plan response: </a:t>
            </a:r>
            <a:pPr indent="0" marL="0">
              <a:buNone/>
            </a:pPr>
            <a:r>
              <a:rPr lang="en-US" sz="1200" dirty="0">
                <a:solidFill>
                  <a:srgbClr val="1F2937"/>
                </a:solidFill>
                <a:latin typeface="Calibri" pitchFamily="34" charset="0"/>
                <a:ea typeface="Calibri" pitchFamily="34" charset="-122"/>
                <a:cs typeface="Calibri" pitchFamily="34" charset="-120"/>
              </a:rPr>
              <a:t>Champions, training, workload recognition; R1 rated High</a:t>
            </a:r>
            <a:endParaRPr lang="en-US" sz="1200" dirty="0"/>
          </a:p>
        </p:txBody>
      </p:sp>
      <p:sp>
        <p:nvSpPr>
          <p:cNvPr id="19" name="Shape 14"/>
          <p:cNvSpPr/>
          <p:nvPr/>
        </p:nvSpPr>
        <p:spPr>
          <a:xfrm>
            <a:off x="548640" y="3520440"/>
            <a:ext cx="3931920" cy="2148840"/>
          </a:xfrm>
          <a:prstGeom prst="roundRect">
            <a:avLst>
              <a:gd name="adj" fmla="val 3404"/>
            </a:avLst>
          </a:prstGeom>
          <a:solidFill>
            <a:srgbClr val="F3F5F8"/>
          </a:solidFill>
          <a:ln w="12700">
            <a:solidFill>
              <a:srgbClr val="F3F5F8"/>
            </a:solidFill>
            <a:prstDash val="solid"/>
          </a:ln>
        </p:spPr>
      </p:sp>
      <p:sp>
        <p:nvSpPr>
          <p:cNvPr id="20" name="Shape 15"/>
          <p:cNvSpPr/>
          <p:nvPr/>
        </p:nvSpPr>
        <p:spPr>
          <a:xfrm>
            <a:off x="731520" y="3703320"/>
            <a:ext cx="502920" cy="502920"/>
          </a:xfrm>
          <a:prstGeom prst="ellipse">
            <a:avLst/>
          </a:prstGeom>
          <a:solidFill>
            <a:srgbClr val="14284B"/>
          </a:solidFill>
          <a:ln w="12700">
            <a:solidFill>
              <a:srgbClr val="14284B"/>
            </a:solidFill>
            <a:prstDash val="solid"/>
          </a:ln>
        </p:spPr>
      </p:sp>
      <p:pic>
        <p:nvPicPr>
          <p:cNvPr id="21" name="Image 3" descr="preencoded.png">    </p:cNvPr>
          <p:cNvPicPr>
            <a:picLocks noChangeAspect="1"/>
          </p:cNvPicPr>
          <p:nvPr/>
        </p:nvPicPr>
        <p:blipFill>
          <a:blip r:embed="rId4"/>
          <a:stretch>
            <a:fillRect/>
          </a:stretch>
        </p:blipFill>
        <p:spPr>
          <a:xfrm>
            <a:off x="852221" y="3824021"/>
            <a:ext cx="261518" cy="261518"/>
          </a:xfrm>
          <a:prstGeom prst="rect">
            <a:avLst/>
          </a:prstGeom>
        </p:spPr>
      </p:pic>
      <p:sp>
        <p:nvSpPr>
          <p:cNvPr id="22" name="Text 16"/>
          <p:cNvSpPr txBox="1"/>
          <p:nvPr/>
        </p:nvSpPr>
        <p:spPr>
          <a:xfrm>
            <a:off x="1371600" y="3657600"/>
            <a:ext cx="2971800" cy="64008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Pilot and support enable adoption; sudden introduction blocks it</a:t>
            </a:r>
            <a:endParaRPr lang="en-US" sz="1400" dirty="0"/>
          </a:p>
        </p:txBody>
      </p:sp>
      <p:sp>
        <p:nvSpPr>
          <p:cNvPr id="23" name="Text 17"/>
          <p:cNvSpPr txBox="1"/>
          <p:nvPr/>
        </p:nvSpPr>
        <p:spPr>
          <a:xfrm>
            <a:off x="777240" y="4361688"/>
            <a:ext cx="3566160" cy="45720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Oslo Canvas implementation case study [5]</a:t>
            </a:r>
            <a:endParaRPr lang="en-US" sz="1200" dirty="0"/>
          </a:p>
        </p:txBody>
      </p:sp>
      <p:sp>
        <p:nvSpPr>
          <p:cNvPr id="24" name="Shape 18"/>
          <p:cNvSpPr/>
          <p:nvPr/>
        </p:nvSpPr>
        <p:spPr>
          <a:xfrm>
            <a:off x="731520" y="4846320"/>
            <a:ext cx="3566160" cy="658368"/>
          </a:xfrm>
          <a:prstGeom prst="roundRect">
            <a:avLst>
              <a:gd name="adj" fmla="val 11111"/>
            </a:avLst>
          </a:prstGeom>
          <a:solidFill>
            <a:srgbClr val="FFFFFF"/>
          </a:solidFill>
          <a:ln w="12700">
            <a:solidFill>
              <a:srgbClr val="FFFFFF"/>
            </a:solidFill>
            <a:prstDash val="solid"/>
          </a:ln>
        </p:spPr>
      </p:sp>
      <p:sp>
        <p:nvSpPr>
          <p:cNvPr id="25" name="Text 19"/>
          <p:cNvSpPr txBox="1"/>
          <p:nvPr/>
        </p:nvSpPr>
        <p:spPr>
          <a:xfrm>
            <a:off x="841248" y="4846320"/>
            <a:ext cx="3383280" cy="658368"/>
          </a:xfrm>
          <a:prstGeom prst="rect">
            <a:avLst/>
          </a:prstGeom>
          <a:noFill/>
          <a:ln/>
        </p:spPr>
        <p:txBody>
          <a:bodyPr wrap="square" lIns="0" tIns="0" rIns="0" bIns="0" rtlCol="0" anchor="ctr"/>
          <a:lstStyle/>
          <a:p>
            <a:pPr indent="0" marL="0">
              <a:buNone/>
            </a:pPr>
            <a:r>
              <a:rPr lang="en-US" sz="1200" b="1" dirty="0">
                <a:solidFill>
                  <a:srgbClr val="0F8B8D"/>
                </a:solidFill>
                <a:latin typeface="Calibri" pitchFamily="34" charset="0"/>
                <a:ea typeface="Calibri" pitchFamily="34" charset="-122"/>
                <a:cs typeface="Calibri" pitchFamily="34" charset="-120"/>
              </a:rPr>
              <a:t>Plan response: </a:t>
            </a:r>
            <a:pPr indent="0" marL="0">
              <a:buNone/>
            </a:pPr>
            <a:r>
              <a:rPr lang="en-US" sz="1200" dirty="0">
                <a:solidFill>
                  <a:srgbClr val="1F2937"/>
                </a:solidFill>
                <a:latin typeface="Calibri" pitchFamily="34" charset="0"/>
                <a:ea typeface="Calibri" pitchFamily="34" charset="-122"/>
                <a:cs typeface="Calibri" pitchFamily="34" charset="-120"/>
              </a:rPr>
              <a:t>Five-course pilot and phased rollout before go-live</a:t>
            </a:r>
            <a:endParaRPr lang="en-US" sz="1200" dirty="0"/>
          </a:p>
        </p:txBody>
      </p:sp>
      <p:sp>
        <p:nvSpPr>
          <p:cNvPr id="26" name="Shape 20"/>
          <p:cNvSpPr/>
          <p:nvPr/>
        </p:nvSpPr>
        <p:spPr>
          <a:xfrm>
            <a:off x="4663440" y="3520440"/>
            <a:ext cx="3931920" cy="2148840"/>
          </a:xfrm>
          <a:prstGeom prst="roundRect">
            <a:avLst>
              <a:gd name="adj" fmla="val 3404"/>
            </a:avLst>
          </a:prstGeom>
          <a:solidFill>
            <a:srgbClr val="F3F5F8"/>
          </a:solidFill>
          <a:ln w="12700">
            <a:solidFill>
              <a:srgbClr val="F3F5F8"/>
            </a:solidFill>
            <a:prstDash val="solid"/>
          </a:ln>
        </p:spPr>
      </p:sp>
      <p:sp>
        <p:nvSpPr>
          <p:cNvPr id="27" name="Shape 21"/>
          <p:cNvSpPr/>
          <p:nvPr/>
        </p:nvSpPr>
        <p:spPr>
          <a:xfrm>
            <a:off x="4846320" y="3703320"/>
            <a:ext cx="502920" cy="502920"/>
          </a:xfrm>
          <a:prstGeom prst="ellipse">
            <a:avLst/>
          </a:prstGeom>
          <a:solidFill>
            <a:srgbClr val="14284B"/>
          </a:solidFill>
          <a:ln w="12700">
            <a:solidFill>
              <a:srgbClr val="14284B"/>
            </a:solidFill>
            <a:prstDash val="solid"/>
          </a:ln>
        </p:spPr>
      </p:sp>
      <p:pic>
        <p:nvPicPr>
          <p:cNvPr id="28" name="Image 4" descr="preencoded.png">    </p:cNvPr>
          <p:cNvPicPr>
            <a:picLocks noChangeAspect="1"/>
          </p:cNvPicPr>
          <p:nvPr/>
        </p:nvPicPr>
        <p:blipFill>
          <a:blip r:embed="rId5"/>
          <a:stretch>
            <a:fillRect/>
          </a:stretch>
        </p:blipFill>
        <p:spPr>
          <a:xfrm>
            <a:off x="4967021" y="3824021"/>
            <a:ext cx="261518" cy="261518"/>
          </a:xfrm>
          <a:prstGeom prst="rect">
            <a:avLst/>
          </a:prstGeom>
        </p:spPr>
      </p:pic>
      <p:sp>
        <p:nvSpPr>
          <p:cNvPr id="29" name="Text 22"/>
          <p:cNvSpPr txBox="1"/>
          <p:nvPr/>
        </p:nvSpPr>
        <p:spPr>
          <a:xfrm>
            <a:off x="5486400" y="3657600"/>
            <a:ext cx="2971800" cy="64008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System and information quality drive satisfaction</a:t>
            </a:r>
            <a:endParaRPr lang="en-US" sz="1400" dirty="0"/>
          </a:p>
        </p:txBody>
      </p:sp>
      <p:sp>
        <p:nvSpPr>
          <p:cNvPr id="30" name="Text 23"/>
          <p:cNvSpPr txBox="1"/>
          <p:nvPr/>
        </p:nvSpPr>
        <p:spPr>
          <a:xfrm>
            <a:off x="4892040" y="4361688"/>
            <a:ext cx="3566160" cy="457200"/>
          </a:xfrm>
          <a:prstGeom prst="rect">
            <a:avLst/>
          </a:prstGeom>
          <a:noFill/>
          <a:ln/>
        </p:spPr>
        <p:txBody>
          <a:bodyPr wrap="square" lIns="0" tIns="0" rIns="0" bIns="0" rtlCol="0" anchor="t"/>
          <a:lstStyle/>
          <a:p>
            <a:pPr indent="0" marL="0">
              <a:buNone/>
            </a:pPr>
            <a:r>
              <a:rPr lang="en-US" sz="1200" dirty="0">
                <a:solidFill>
                  <a:srgbClr val="5B6576"/>
                </a:solidFill>
                <a:latin typeface="Calibri" pitchFamily="34" charset="0"/>
                <a:ea typeface="Calibri" pitchFamily="34" charset="-122"/>
                <a:cs typeface="Calibri" pitchFamily="34" charset="-120"/>
              </a:rPr>
              <a:t>DeLone and McLean model reviews [10], [11]</a:t>
            </a:r>
            <a:endParaRPr lang="en-US" sz="1200" dirty="0"/>
          </a:p>
        </p:txBody>
      </p:sp>
      <p:sp>
        <p:nvSpPr>
          <p:cNvPr id="31" name="Shape 24"/>
          <p:cNvSpPr/>
          <p:nvPr/>
        </p:nvSpPr>
        <p:spPr>
          <a:xfrm>
            <a:off x="4846320" y="4846320"/>
            <a:ext cx="3566160" cy="658368"/>
          </a:xfrm>
          <a:prstGeom prst="roundRect">
            <a:avLst>
              <a:gd name="adj" fmla="val 11111"/>
            </a:avLst>
          </a:prstGeom>
          <a:solidFill>
            <a:srgbClr val="FFFFFF"/>
          </a:solidFill>
          <a:ln w="12700">
            <a:solidFill>
              <a:srgbClr val="FFFFFF"/>
            </a:solidFill>
            <a:prstDash val="solid"/>
          </a:ln>
        </p:spPr>
      </p:sp>
      <p:sp>
        <p:nvSpPr>
          <p:cNvPr id="32" name="Text 25"/>
          <p:cNvSpPr txBox="1"/>
          <p:nvPr/>
        </p:nvSpPr>
        <p:spPr>
          <a:xfrm>
            <a:off x="4956048" y="4846320"/>
            <a:ext cx="3383280" cy="658368"/>
          </a:xfrm>
          <a:prstGeom prst="rect">
            <a:avLst/>
          </a:prstGeom>
          <a:noFill/>
          <a:ln/>
        </p:spPr>
        <p:txBody>
          <a:bodyPr wrap="square" lIns="0" tIns="0" rIns="0" bIns="0" rtlCol="0" anchor="ctr"/>
          <a:lstStyle/>
          <a:p>
            <a:pPr indent="0" marL="0">
              <a:buNone/>
            </a:pPr>
            <a:r>
              <a:rPr lang="en-US" sz="1200" b="1" dirty="0">
                <a:solidFill>
                  <a:srgbClr val="0F8B8D"/>
                </a:solidFill>
                <a:latin typeface="Calibri" pitchFamily="34" charset="0"/>
                <a:ea typeface="Calibri" pitchFamily="34" charset="-122"/>
                <a:cs typeface="Calibri" pitchFamily="34" charset="-120"/>
              </a:rPr>
              <a:t>Plan response: </a:t>
            </a:r>
            <a:pPr indent="0" marL="0">
              <a:buNone/>
            </a:pPr>
            <a:r>
              <a:rPr lang="en-US" sz="1200" dirty="0">
                <a:solidFill>
                  <a:srgbClr val="1F2937"/>
                </a:solidFill>
                <a:latin typeface="Calibri" pitchFamily="34" charset="0"/>
                <a:ea typeface="Calibri" pitchFamily="34" charset="-122"/>
                <a:cs typeface="Calibri" pitchFamily="34" charset="-120"/>
              </a:rPr>
              <a:t>Quality matrix measures reliability, content and satisfaction</a:t>
            </a:r>
            <a:endParaRPr lang="en-US" sz="1200" dirty="0"/>
          </a:p>
        </p:txBody>
      </p:sp>
      <p:sp>
        <p:nvSpPr>
          <p:cNvPr id="33" name="Text 26"/>
          <p:cNvSpPr txBox="1"/>
          <p:nvPr/>
        </p:nvSpPr>
        <p:spPr>
          <a:xfrm>
            <a:off x="548640" y="5897880"/>
            <a:ext cx="11064240" cy="457200"/>
          </a:xfrm>
          <a:prstGeom prst="rect">
            <a:avLst/>
          </a:prstGeom>
          <a:noFill/>
          <a:ln/>
        </p:spPr>
        <p:txBody>
          <a:bodyPr wrap="square" lIns="0" tIns="0" rIns="0" bIns="0" rtlCol="0" anchor="b"/>
          <a:lstStyle/>
          <a:p>
            <a:pPr indent="0" marL="0">
              <a:buNone/>
            </a:pPr>
            <a:r>
              <a:rPr lang="en-US" sz="1200" i="1" dirty="0">
                <a:solidFill>
                  <a:srgbClr val="5B6576"/>
                </a:solidFill>
                <a:latin typeface="Calibri" pitchFamily="34" charset="0"/>
                <a:ea typeface="Calibri" pitchFamily="34" charset="-122"/>
                <a:cs typeface="Calibri" pitchFamily="34" charset="-120"/>
              </a:rPr>
              <a:t>IEEE references as in report: [1] Garrote Jurado 2013; [2] Delen 2026; [5] Sagvik 2018; [8] Al-Nuaimi &amp; Al-Emran 2021; [9] Davis 1989; [10] DeLone &amp; McLean 2003; [11] Otto et al. 2022; [12] Al-Busaidi 2012.</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Project charter and governance: clear authority, one accountable owner</a:t>
            </a:r>
            <a:endParaRPr lang="en-US" sz="2800" dirty="0"/>
          </a:p>
        </p:txBody>
      </p:sp>
      <p:sp>
        <p:nvSpPr>
          <p:cNvPr id="3" name="Shape 1"/>
          <p:cNvSpPr/>
          <p:nvPr/>
        </p:nvSpPr>
        <p:spPr>
          <a:xfrm>
            <a:off x="2377440" y="1188720"/>
            <a:ext cx="3291840" cy="822960"/>
          </a:xfrm>
          <a:prstGeom prst="roundRect">
            <a:avLst>
              <a:gd name="adj" fmla="val 8889"/>
            </a:avLst>
          </a:prstGeom>
          <a:solidFill>
            <a:srgbClr val="14284B"/>
          </a:solidFill>
          <a:ln w="12700">
            <a:solidFill>
              <a:srgbClr val="14284B"/>
            </a:solidFill>
            <a:prstDash val="solid"/>
          </a:ln>
          <a:effectLst>
            <a:outerShdw sx="100000" sy="100000" kx="0" ky="0" algn="bl" rotWithShape="0" blurRad="76200" dist="19050" dir="5400000">
              <a:srgbClr val="9AA5B4">
                <a:alpha val="25000"/>
              </a:srgbClr>
            </a:outerShdw>
          </a:effectLst>
        </p:spPr>
      </p:sp>
      <p:sp>
        <p:nvSpPr>
          <p:cNvPr id="4" name="Text 2"/>
          <p:cNvSpPr txBox="1"/>
          <p:nvPr/>
        </p:nvSpPr>
        <p:spPr>
          <a:xfrm>
            <a:off x="2468880" y="1188720"/>
            <a:ext cx="3108960"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Dr Helen Carter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Project Sponsor (Academic Director)</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Chairs steering committee and CCB</a:t>
            </a:r>
            <a:endParaRPr lang="en-US" sz="1400" dirty="0"/>
          </a:p>
        </p:txBody>
      </p:sp>
      <p:sp>
        <p:nvSpPr>
          <p:cNvPr id="5" name="Shape 3"/>
          <p:cNvSpPr/>
          <p:nvPr/>
        </p:nvSpPr>
        <p:spPr>
          <a:xfrm>
            <a:off x="548640" y="2377440"/>
            <a:ext cx="2743200" cy="777240"/>
          </a:xfrm>
          <a:prstGeom prst="roundRect">
            <a:avLst>
              <a:gd name="adj" fmla="val 9412"/>
            </a:avLst>
          </a:prstGeom>
          <a:solidFill>
            <a:srgbClr val="0F8B8D"/>
          </a:solidFill>
          <a:ln w="12700">
            <a:solidFill>
              <a:srgbClr val="0F8B8D"/>
            </a:solidFill>
            <a:prstDash val="solid"/>
          </a:ln>
          <a:effectLst>
            <a:outerShdw sx="100000" sy="100000" kx="0" ky="0" algn="bl" rotWithShape="0" blurRad="76200" dist="19050" dir="5400000">
              <a:srgbClr val="9AA5B4">
                <a:alpha val="25000"/>
              </a:srgbClr>
            </a:outerShdw>
          </a:effectLst>
        </p:spPr>
      </p:sp>
      <p:sp>
        <p:nvSpPr>
          <p:cNvPr id="6" name="Text 4"/>
          <p:cNvSpPr txBox="1"/>
          <p:nvPr/>
        </p:nvSpPr>
        <p:spPr>
          <a:xfrm>
            <a:off x="640080" y="2377440"/>
            <a:ext cx="256032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Steering committee</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Mark Thompson (Director of IT Services)</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Head of School representative</a:t>
            </a:r>
            <a:endParaRPr lang="en-US" sz="1400" dirty="0"/>
          </a:p>
        </p:txBody>
      </p:sp>
      <p:sp>
        <p:nvSpPr>
          <p:cNvPr id="7" name="Shape 5"/>
          <p:cNvSpPr/>
          <p:nvPr/>
        </p:nvSpPr>
        <p:spPr>
          <a:xfrm>
            <a:off x="4754880" y="2377440"/>
            <a:ext cx="2743200" cy="777240"/>
          </a:xfrm>
          <a:prstGeom prst="roundRect">
            <a:avLst>
              <a:gd name="adj" fmla="val 9412"/>
            </a:avLst>
          </a:prstGeom>
          <a:solidFill>
            <a:srgbClr val="0F8B8D"/>
          </a:solidFill>
          <a:ln w="12700">
            <a:solidFill>
              <a:srgbClr val="0F8B8D"/>
            </a:solidFill>
            <a:prstDash val="solid"/>
          </a:ln>
          <a:effectLst>
            <a:outerShdw sx="100000" sy="100000" kx="0" ky="0" algn="bl" rotWithShape="0" blurRad="76200" dist="19050" dir="5400000">
              <a:srgbClr val="9AA5B4">
                <a:alpha val="25000"/>
              </a:srgbClr>
            </a:outerShdw>
          </a:effectLst>
        </p:spPr>
      </p:sp>
      <p:sp>
        <p:nvSpPr>
          <p:cNvPr id="8" name="Text 6"/>
          <p:cNvSpPr txBox="1"/>
          <p:nvPr/>
        </p:nvSpPr>
        <p:spPr>
          <a:xfrm>
            <a:off x="4846320" y="2377440"/>
            <a:ext cx="2560320" cy="7772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Change Control Board</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Sponsor (chair), PM, Technical Lead,</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Lecturer Representative</a:t>
            </a:r>
            <a:endParaRPr lang="en-US" sz="1400" dirty="0"/>
          </a:p>
        </p:txBody>
      </p:sp>
      <p:sp>
        <p:nvSpPr>
          <p:cNvPr id="9" name="Shape 7"/>
          <p:cNvSpPr/>
          <p:nvPr/>
        </p:nvSpPr>
        <p:spPr>
          <a:xfrm>
            <a:off x="2377440" y="3520440"/>
            <a:ext cx="3291840" cy="777240"/>
          </a:xfrm>
          <a:prstGeom prst="roundRect">
            <a:avLst>
              <a:gd name="adj" fmla="val 9412"/>
            </a:avLst>
          </a:prstGeom>
          <a:solidFill>
            <a:srgbClr val="E8A33D"/>
          </a:solidFill>
          <a:ln w="12700">
            <a:solidFill>
              <a:srgbClr val="E8A33D"/>
            </a:solidFill>
            <a:prstDash val="solid"/>
          </a:ln>
          <a:effectLst>
            <a:outerShdw sx="100000" sy="100000" kx="0" ky="0" algn="bl" rotWithShape="0" blurRad="76200" dist="19050" dir="5400000">
              <a:srgbClr val="9AA5B4">
                <a:alpha val="25000"/>
              </a:srgbClr>
            </a:outerShdw>
          </a:effectLst>
        </p:spPr>
      </p:sp>
      <p:sp>
        <p:nvSpPr>
          <p:cNvPr id="10" name="Text 8"/>
          <p:cNvSpPr txBox="1"/>
          <p:nvPr/>
        </p:nvSpPr>
        <p:spPr>
          <a:xfrm>
            <a:off x="2468880" y="3520440"/>
            <a:ext cx="3108960" cy="777240"/>
          </a:xfrm>
          <a:prstGeom prst="rect">
            <a:avLst/>
          </a:prstGeom>
          <a:noFill/>
          <a:ln/>
        </p:spPr>
        <p:txBody>
          <a:bodyPr wrap="square" lIns="0" tIns="0" rIns="0" bIns="0" rtlCol="0" anchor="ctr"/>
          <a:lstStyle/>
          <a:p>
            <a:pPr algn="ctr" indent="0" marL="0">
              <a:buNone/>
            </a:pPr>
            <a:r>
              <a:rPr lang="en-US" sz="1400" b="1" dirty="0">
                <a:solidFill>
                  <a:srgbClr val="1F2937"/>
                </a:solidFill>
                <a:latin typeface="Calibri" pitchFamily="34" charset="0"/>
                <a:ea typeface="Calibri" pitchFamily="34" charset="-122"/>
                <a:cs typeface="Calibri" pitchFamily="34" charset="-120"/>
              </a:rPr>
              <a:t>Daniel Reyes</a:t>
            </a:r>
            <a:endParaRPr lang="en-US" sz="1400" dirty="0"/>
          </a:p>
          <a:p>
            <a:pPr algn="ctr" indent="0" marL="0">
              <a:buNone/>
            </a:pPr>
            <a:r>
              <a:rPr lang="en-US" sz="1100" dirty="0">
                <a:solidFill>
                  <a:srgbClr val="1F2937"/>
                </a:solidFill>
                <a:latin typeface="Calibri" pitchFamily="34" charset="0"/>
                <a:ea typeface="Calibri" pitchFamily="34" charset="-122"/>
                <a:cs typeface="Calibri" pitchFamily="34" charset="-120"/>
              </a:rPr>
              <a:t>Project Manager</a:t>
            </a:r>
            <a:endParaRPr lang="en-US" sz="1400" dirty="0"/>
          </a:p>
        </p:txBody>
      </p:sp>
      <p:sp>
        <p:nvSpPr>
          <p:cNvPr id="11" name="Shape 9"/>
          <p:cNvSpPr/>
          <p:nvPr/>
        </p:nvSpPr>
        <p:spPr>
          <a:xfrm>
            <a:off x="4023360" y="2011680"/>
            <a:ext cx="0" cy="1508760"/>
          </a:xfrm>
          <a:prstGeom prst="line">
            <a:avLst/>
          </a:prstGeom>
          <a:noFill/>
          <a:ln w="19050">
            <a:solidFill>
              <a:srgbClr val="9FB3C8"/>
            </a:solidFill>
            <a:prstDash val="solid"/>
          </a:ln>
        </p:spPr>
      </p:sp>
      <p:sp>
        <p:nvSpPr>
          <p:cNvPr id="12" name="Shape 10"/>
          <p:cNvSpPr/>
          <p:nvPr/>
        </p:nvSpPr>
        <p:spPr>
          <a:xfrm>
            <a:off x="1920240" y="2194560"/>
            <a:ext cx="4206240" cy="0"/>
          </a:xfrm>
          <a:prstGeom prst="line">
            <a:avLst/>
          </a:prstGeom>
          <a:noFill/>
          <a:ln w="19050">
            <a:solidFill>
              <a:srgbClr val="9FB3C8"/>
            </a:solidFill>
            <a:prstDash val="solid"/>
          </a:ln>
        </p:spPr>
      </p:sp>
      <p:sp>
        <p:nvSpPr>
          <p:cNvPr id="13" name="Shape 11"/>
          <p:cNvSpPr/>
          <p:nvPr/>
        </p:nvSpPr>
        <p:spPr>
          <a:xfrm>
            <a:off x="1920240" y="2194560"/>
            <a:ext cx="0" cy="182880"/>
          </a:xfrm>
          <a:prstGeom prst="line">
            <a:avLst/>
          </a:prstGeom>
          <a:noFill/>
          <a:ln w="19050">
            <a:solidFill>
              <a:srgbClr val="9FB3C8"/>
            </a:solidFill>
            <a:prstDash val="solid"/>
          </a:ln>
        </p:spPr>
      </p:sp>
      <p:sp>
        <p:nvSpPr>
          <p:cNvPr id="14" name="Shape 12"/>
          <p:cNvSpPr/>
          <p:nvPr/>
        </p:nvSpPr>
        <p:spPr>
          <a:xfrm>
            <a:off x="6126480" y="2194560"/>
            <a:ext cx="0" cy="182880"/>
          </a:xfrm>
          <a:prstGeom prst="line">
            <a:avLst/>
          </a:prstGeom>
          <a:noFill/>
          <a:ln w="19050">
            <a:solidFill>
              <a:srgbClr val="9FB3C8"/>
            </a:solidFill>
            <a:prstDash val="solid"/>
          </a:ln>
        </p:spPr>
      </p:sp>
      <p:sp>
        <p:nvSpPr>
          <p:cNvPr id="15" name="Shape 13"/>
          <p:cNvSpPr/>
          <p:nvPr/>
        </p:nvSpPr>
        <p:spPr>
          <a:xfrm>
            <a:off x="4023360" y="4297680"/>
            <a:ext cx="0" cy="274320"/>
          </a:xfrm>
          <a:prstGeom prst="line">
            <a:avLst/>
          </a:prstGeom>
          <a:noFill/>
          <a:ln w="19050">
            <a:solidFill>
              <a:srgbClr val="9FB3C8"/>
            </a:solidFill>
            <a:prstDash val="solid"/>
          </a:ln>
        </p:spPr>
      </p:sp>
      <p:sp>
        <p:nvSpPr>
          <p:cNvPr id="16" name="Shape 14"/>
          <p:cNvSpPr/>
          <p:nvPr/>
        </p:nvSpPr>
        <p:spPr>
          <a:xfrm>
            <a:off x="548640" y="4617720"/>
            <a:ext cx="1691640" cy="566928"/>
          </a:xfrm>
          <a:prstGeom prst="roundRect">
            <a:avLst>
              <a:gd name="adj" fmla="val 12903"/>
            </a:avLst>
          </a:prstGeom>
          <a:solidFill>
            <a:srgbClr val="DCE4F0"/>
          </a:solidFill>
          <a:ln w="12700">
            <a:solidFill>
              <a:srgbClr val="DCE4F0"/>
            </a:solidFill>
            <a:prstDash val="solid"/>
          </a:ln>
        </p:spPr>
      </p:sp>
      <p:sp>
        <p:nvSpPr>
          <p:cNvPr id="17" name="Text 15"/>
          <p:cNvSpPr txBox="1"/>
          <p:nvPr/>
        </p:nvSpPr>
        <p:spPr>
          <a:xfrm>
            <a:off x="594360" y="4617720"/>
            <a:ext cx="1600200" cy="566928"/>
          </a:xfrm>
          <a:prstGeom prst="rect">
            <a:avLst/>
          </a:prstGeom>
          <a:noFill/>
          <a:ln/>
        </p:spPr>
        <p:txBody>
          <a:bodyPr wrap="square" lIns="0" tIns="0" rIns="0" bIns="0" rtlCol="0" anchor="ctr"/>
          <a:lstStyle/>
          <a:p>
            <a:pPr algn="ctr" indent="0" marL="0">
              <a:buNone/>
            </a:pPr>
            <a:r>
              <a:rPr lang="en-US" sz="1100" dirty="0">
                <a:solidFill>
                  <a:srgbClr val="14284B"/>
                </a:solidFill>
                <a:latin typeface="Calibri" pitchFamily="34" charset="0"/>
                <a:ea typeface="Calibri" pitchFamily="34" charset="-122"/>
                <a:cs typeface="Calibri" pitchFamily="34" charset="-120"/>
              </a:rPr>
              <a:t>BA: Priya Nair</a:t>
            </a:r>
            <a:endParaRPr lang="en-US" sz="1100" dirty="0"/>
          </a:p>
        </p:txBody>
      </p:sp>
      <p:sp>
        <p:nvSpPr>
          <p:cNvPr id="18" name="Shape 16"/>
          <p:cNvSpPr/>
          <p:nvPr/>
        </p:nvSpPr>
        <p:spPr>
          <a:xfrm>
            <a:off x="2331720" y="4617720"/>
            <a:ext cx="1691640" cy="566928"/>
          </a:xfrm>
          <a:prstGeom prst="roundRect">
            <a:avLst>
              <a:gd name="adj" fmla="val 12903"/>
            </a:avLst>
          </a:prstGeom>
          <a:solidFill>
            <a:srgbClr val="DCE4F0"/>
          </a:solidFill>
          <a:ln w="12700">
            <a:solidFill>
              <a:srgbClr val="DCE4F0"/>
            </a:solidFill>
            <a:prstDash val="solid"/>
          </a:ln>
        </p:spPr>
      </p:sp>
      <p:sp>
        <p:nvSpPr>
          <p:cNvPr id="19" name="Text 17"/>
          <p:cNvSpPr txBox="1"/>
          <p:nvPr/>
        </p:nvSpPr>
        <p:spPr>
          <a:xfrm>
            <a:off x="2377440" y="4617720"/>
            <a:ext cx="1600200" cy="566928"/>
          </a:xfrm>
          <a:prstGeom prst="rect">
            <a:avLst/>
          </a:prstGeom>
          <a:noFill/>
          <a:ln/>
        </p:spPr>
        <p:txBody>
          <a:bodyPr wrap="square" lIns="0" tIns="0" rIns="0" bIns="0" rtlCol="0" anchor="ctr"/>
          <a:lstStyle/>
          <a:p>
            <a:pPr algn="ctr" indent="0" marL="0">
              <a:buNone/>
            </a:pPr>
            <a:r>
              <a:rPr lang="en-US" sz="1100" dirty="0">
                <a:solidFill>
                  <a:srgbClr val="14284B"/>
                </a:solidFill>
                <a:latin typeface="Calibri" pitchFamily="34" charset="0"/>
                <a:ea typeface="Calibri" pitchFamily="34" charset="-122"/>
                <a:cs typeface="Calibri" pitchFamily="34" charset="-120"/>
              </a:rPr>
              <a:t>Tech Lead: Marcus Chen</a:t>
            </a:r>
            <a:endParaRPr lang="en-US" sz="1100" dirty="0"/>
          </a:p>
        </p:txBody>
      </p:sp>
      <p:sp>
        <p:nvSpPr>
          <p:cNvPr id="20" name="Shape 18"/>
          <p:cNvSpPr/>
          <p:nvPr/>
        </p:nvSpPr>
        <p:spPr>
          <a:xfrm>
            <a:off x="4114800" y="4617720"/>
            <a:ext cx="1691640" cy="566928"/>
          </a:xfrm>
          <a:prstGeom prst="roundRect">
            <a:avLst>
              <a:gd name="adj" fmla="val 12903"/>
            </a:avLst>
          </a:prstGeom>
          <a:solidFill>
            <a:srgbClr val="DCE4F0"/>
          </a:solidFill>
          <a:ln w="12700">
            <a:solidFill>
              <a:srgbClr val="DCE4F0"/>
            </a:solidFill>
            <a:prstDash val="solid"/>
          </a:ln>
        </p:spPr>
      </p:sp>
      <p:sp>
        <p:nvSpPr>
          <p:cNvPr id="21" name="Text 19"/>
          <p:cNvSpPr txBox="1"/>
          <p:nvPr/>
        </p:nvSpPr>
        <p:spPr>
          <a:xfrm>
            <a:off x="4160520" y="4617720"/>
            <a:ext cx="1600200" cy="566928"/>
          </a:xfrm>
          <a:prstGeom prst="rect">
            <a:avLst/>
          </a:prstGeom>
          <a:noFill/>
          <a:ln/>
        </p:spPr>
        <p:txBody>
          <a:bodyPr wrap="square" lIns="0" tIns="0" rIns="0" bIns="0" rtlCol="0" anchor="ctr"/>
          <a:lstStyle/>
          <a:p>
            <a:pPr algn="ctr" indent="0" marL="0">
              <a:buNone/>
            </a:pPr>
            <a:r>
              <a:rPr lang="en-US" sz="1100" dirty="0">
                <a:solidFill>
                  <a:srgbClr val="14284B"/>
                </a:solidFill>
                <a:latin typeface="Calibri" pitchFamily="34" charset="0"/>
                <a:ea typeface="Calibri" pitchFamily="34" charset="-122"/>
                <a:cs typeface="Calibri" pitchFamily="34" charset="-120"/>
              </a:rPr>
              <a:t>LMS Admin / Config: Sarah O'Connell</a:t>
            </a:r>
            <a:endParaRPr lang="en-US" sz="1100" dirty="0"/>
          </a:p>
        </p:txBody>
      </p:sp>
      <p:sp>
        <p:nvSpPr>
          <p:cNvPr id="22" name="Shape 20"/>
          <p:cNvSpPr/>
          <p:nvPr/>
        </p:nvSpPr>
        <p:spPr>
          <a:xfrm>
            <a:off x="5897880" y="4617720"/>
            <a:ext cx="1691640" cy="566928"/>
          </a:xfrm>
          <a:prstGeom prst="roundRect">
            <a:avLst>
              <a:gd name="adj" fmla="val 12903"/>
            </a:avLst>
          </a:prstGeom>
          <a:solidFill>
            <a:srgbClr val="DCE4F0"/>
          </a:solidFill>
          <a:ln w="12700">
            <a:solidFill>
              <a:srgbClr val="DCE4F0"/>
            </a:solidFill>
            <a:prstDash val="solid"/>
          </a:ln>
        </p:spPr>
      </p:sp>
      <p:sp>
        <p:nvSpPr>
          <p:cNvPr id="23" name="Text 21"/>
          <p:cNvSpPr txBox="1"/>
          <p:nvPr/>
        </p:nvSpPr>
        <p:spPr>
          <a:xfrm>
            <a:off x="5943600" y="4617720"/>
            <a:ext cx="1600200" cy="566928"/>
          </a:xfrm>
          <a:prstGeom prst="rect">
            <a:avLst/>
          </a:prstGeom>
          <a:noFill/>
          <a:ln/>
        </p:spPr>
        <p:txBody>
          <a:bodyPr wrap="square" lIns="0" tIns="0" rIns="0" bIns="0" rtlCol="0" anchor="ctr"/>
          <a:lstStyle/>
          <a:p>
            <a:pPr algn="ctr" indent="0" marL="0">
              <a:buNone/>
            </a:pPr>
            <a:r>
              <a:rPr lang="en-US" sz="1100" dirty="0">
                <a:solidFill>
                  <a:srgbClr val="14284B"/>
                </a:solidFill>
                <a:latin typeface="Calibri" pitchFamily="34" charset="0"/>
                <a:ea typeface="Calibri" pitchFamily="34" charset="-122"/>
                <a:cs typeface="Calibri" pitchFamily="34" charset="-120"/>
              </a:rPr>
              <a:t>Infrastructure: Tom Nguyen</a:t>
            </a:r>
            <a:endParaRPr lang="en-US" sz="1100" dirty="0"/>
          </a:p>
        </p:txBody>
      </p:sp>
      <p:sp>
        <p:nvSpPr>
          <p:cNvPr id="24" name="Shape 22"/>
          <p:cNvSpPr/>
          <p:nvPr/>
        </p:nvSpPr>
        <p:spPr>
          <a:xfrm>
            <a:off x="548640" y="5276088"/>
            <a:ext cx="1691640" cy="566928"/>
          </a:xfrm>
          <a:prstGeom prst="roundRect">
            <a:avLst>
              <a:gd name="adj" fmla="val 12903"/>
            </a:avLst>
          </a:prstGeom>
          <a:solidFill>
            <a:srgbClr val="DCE4F0"/>
          </a:solidFill>
          <a:ln w="12700">
            <a:solidFill>
              <a:srgbClr val="DCE4F0"/>
            </a:solidFill>
            <a:prstDash val="solid"/>
          </a:ln>
        </p:spPr>
      </p:sp>
      <p:sp>
        <p:nvSpPr>
          <p:cNvPr id="25" name="Text 23"/>
          <p:cNvSpPr txBox="1"/>
          <p:nvPr/>
        </p:nvSpPr>
        <p:spPr>
          <a:xfrm>
            <a:off x="594360" y="5276088"/>
            <a:ext cx="1600200" cy="566928"/>
          </a:xfrm>
          <a:prstGeom prst="rect">
            <a:avLst/>
          </a:prstGeom>
          <a:noFill/>
          <a:ln/>
        </p:spPr>
        <p:txBody>
          <a:bodyPr wrap="square" lIns="0" tIns="0" rIns="0" bIns="0" rtlCol="0" anchor="ctr"/>
          <a:lstStyle/>
          <a:p>
            <a:pPr algn="ctr" indent="0" marL="0">
              <a:buNone/>
            </a:pPr>
            <a:r>
              <a:rPr lang="en-US" sz="1100" dirty="0">
                <a:solidFill>
                  <a:srgbClr val="14284B"/>
                </a:solidFill>
                <a:latin typeface="Calibri" pitchFamily="34" charset="0"/>
                <a:ea typeface="Calibri" pitchFamily="34" charset="-122"/>
                <a:cs typeface="Calibri" pitchFamily="34" charset="-120"/>
              </a:rPr>
              <a:t>QA: Aisha Rahman</a:t>
            </a:r>
            <a:endParaRPr lang="en-US" sz="1100" dirty="0"/>
          </a:p>
        </p:txBody>
      </p:sp>
      <p:sp>
        <p:nvSpPr>
          <p:cNvPr id="26" name="Shape 24"/>
          <p:cNvSpPr/>
          <p:nvPr/>
        </p:nvSpPr>
        <p:spPr>
          <a:xfrm>
            <a:off x="2331720" y="5276088"/>
            <a:ext cx="1691640" cy="566928"/>
          </a:xfrm>
          <a:prstGeom prst="roundRect">
            <a:avLst>
              <a:gd name="adj" fmla="val 12903"/>
            </a:avLst>
          </a:prstGeom>
          <a:solidFill>
            <a:srgbClr val="DCE4F0"/>
          </a:solidFill>
          <a:ln w="12700">
            <a:solidFill>
              <a:srgbClr val="DCE4F0"/>
            </a:solidFill>
            <a:prstDash val="solid"/>
          </a:ln>
        </p:spPr>
      </p:sp>
      <p:sp>
        <p:nvSpPr>
          <p:cNvPr id="27" name="Text 25"/>
          <p:cNvSpPr txBox="1"/>
          <p:nvPr/>
        </p:nvSpPr>
        <p:spPr>
          <a:xfrm>
            <a:off x="2377440" y="5276088"/>
            <a:ext cx="1600200" cy="566928"/>
          </a:xfrm>
          <a:prstGeom prst="rect">
            <a:avLst/>
          </a:prstGeom>
          <a:noFill/>
          <a:ln/>
        </p:spPr>
        <p:txBody>
          <a:bodyPr wrap="square" lIns="0" tIns="0" rIns="0" bIns="0" rtlCol="0" anchor="ctr"/>
          <a:lstStyle/>
          <a:p>
            <a:pPr algn="ctr" indent="0" marL="0">
              <a:buNone/>
            </a:pPr>
            <a:r>
              <a:rPr lang="en-US" sz="1100" dirty="0">
                <a:solidFill>
                  <a:srgbClr val="14284B"/>
                </a:solidFill>
                <a:latin typeface="Calibri" pitchFamily="34" charset="0"/>
                <a:ea typeface="Calibri" pitchFamily="34" charset="-122"/>
                <a:cs typeface="Calibri" pitchFamily="34" charset="-120"/>
              </a:rPr>
              <a:t>Instr. Designer: James Walker</a:t>
            </a:r>
            <a:endParaRPr lang="en-US" sz="1100" dirty="0"/>
          </a:p>
        </p:txBody>
      </p:sp>
      <p:sp>
        <p:nvSpPr>
          <p:cNvPr id="28" name="Shape 26"/>
          <p:cNvSpPr/>
          <p:nvPr/>
        </p:nvSpPr>
        <p:spPr>
          <a:xfrm>
            <a:off x="4114800" y="5276088"/>
            <a:ext cx="1691640" cy="566928"/>
          </a:xfrm>
          <a:prstGeom prst="roundRect">
            <a:avLst>
              <a:gd name="adj" fmla="val 12903"/>
            </a:avLst>
          </a:prstGeom>
          <a:solidFill>
            <a:srgbClr val="DCE4F0"/>
          </a:solidFill>
          <a:ln w="12700">
            <a:solidFill>
              <a:srgbClr val="DCE4F0"/>
            </a:solidFill>
            <a:prstDash val="solid"/>
          </a:ln>
        </p:spPr>
      </p:sp>
      <p:sp>
        <p:nvSpPr>
          <p:cNvPr id="29" name="Text 27"/>
          <p:cNvSpPr txBox="1"/>
          <p:nvPr/>
        </p:nvSpPr>
        <p:spPr>
          <a:xfrm>
            <a:off x="4160520" y="5276088"/>
            <a:ext cx="1600200" cy="566928"/>
          </a:xfrm>
          <a:prstGeom prst="rect">
            <a:avLst/>
          </a:prstGeom>
          <a:noFill/>
          <a:ln/>
        </p:spPr>
        <p:txBody>
          <a:bodyPr wrap="square" lIns="0" tIns="0" rIns="0" bIns="0" rtlCol="0" anchor="ctr"/>
          <a:lstStyle/>
          <a:p>
            <a:pPr algn="ctr" indent="0" marL="0">
              <a:buNone/>
            </a:pPr>
            <a:r>
              <a:rPr lang="en-US" sz="1100" dirty="0">
                <a:solidFill>
                  <a:srgbClr val="14284B"/>
                </a:solidFill>
                <a:latin typeface="Calibri" pitchFamily="34" charset="0"/>
                <a:ea typeface="Calibri" pitchFamily="34" charset="-122"/>
                <a:cs typeface="Calibri" pitchFamily="34" charset="-120"/>
              </a:rPr>
              <a:t>Lecturer reps: Dr E. Brooks, R. Patel</a:t>
            </a:r>
            <a:endParaRPr lang="en-US" sz="1100" dirty="0"/>
          </a:p>
        </p:txBody>
      </p:sp>
      <p:sp>
        <p:nvSpPr>
          <p:cNvPr id="30" name="Shape 28"/>
          <p:cNvSpPr/>
          <p:nvPr/>
        </p:nvSpPr>
        <p:spPr>
          <a:xfrm>
            <a:off x="5897880" y="5276088"/>
            <a:ext cx="1691640" cy="566928"/>
          </a:xfrm>
          <a:prstGeom prst="roundRect">
            <a:avLst>
              <a:gd name="adj" fmla="val 12903"/>
            </a:avLst>
          </a:prstGeom>
          <a:solidFill>
            <a:srgbClr val="DCE4F0"/>
          </a:solidFill>
          <a:ln w="12700">
            <a:solidFill>
              <a:srgbClr val="DCE4F0"/>
            </a:solidFill>
            <a:prstDash val="solid"/>
          </a:ln>
        </p:spPr>
      </p:sp>
      <p:sp>
        <p:nvSpPr>
          <p:cNvPr id="31" name="Text 29"/>
          <p:cNvSpPr txBox="1"/>
          <p:nvPr/>
        </p:nvSpPr>
        <p:spPr>
          <a:xfrm>
            <a:off x="5943600" y="5276088"/>
            <a:ext cx="1600200" cy="566928"/>
          </a:xfrm>
          <a:prstGeom prst="rect">
            <a:avLst/>
          </a:prstGeom>
          <a:noFill/>
          <a:ln/>
        </p:spPr>
        <p:txBody>
          <a:bodyPr wrap="square" lIns="0" tIns="0" rIns="0" bIns="0" rtlCol="0" anchor="ctr"/>
          <a:lstStyle/>
          <a:p>
            <a:pPr algn="ctr" indent="0" marL="0">
              <a:buNone/>
            </a:pPr>
            <a:r>
              <a:rPr lang="en-US" sz="1100" dirty="0">
                <a:solidFill>
                  <a:srgbClr val="14284B"/>
                </a:solidFill>
                <a:latin typeface="Calibri" pitchFamily="34" charset="0"/>
                <a:ea typeface="Calibri" pitchFamily="34" charset="-122"/>
                <a:cs typeface="Calibri" pitchFamily="34" charset="-120"/>
              </a:rPr>
              <a:t>Student rep: SA nominee</a:t>
            </a:r>
            <a:endParaRPr lang="en-US" sz="1100" dirty="0"/>
          </a:p>
        </p:txBody>
      </p:sp>
      <p:sp>
        <p:nvSpPr>
          <p:cNvPr id="32" name="Shape 30"/>
          <p:cNvSpPr/>
          <p:nvPr/>
        </p:nvSpPr>
        <p:spPr>
          <a:xfrm>
            <a:off x="7909560" y="1188720"/>
            <a:ext cx="3730752" cy="4800600"/>
          </a:xfrm>
          <a:prstGeom prst="roundRect">
            <a:avLst>
              <a:gd name="adj" fmla="val 1961"/>
            </a:avLst>
          </a:prstGeom>
          <a:solidFill>
            <a:srgbClr val="F3F5F8"/>
          </a:solidFill>
          <a:ln w="12700">
            <a:solidFill>
              <a:srgbClr val="F3F5F8"/>
            </a:solidFill>
            <a:prstDash val="solid"/>
          </a:ln>
        </p:spPr>
      </p:sp>
      <p:sp>
        <p:nvSpPr>
          <p:cNvPr id="33" name="Text 31"/>
          <p:cNvSpPr txBox="1"/>
          <p:nvPr/>
        </p:nvSpPr>
        <p:spPr>
          <a:xfrm>
            <a:off x="8138160" y="1325880"/>
            <a:ext cx="3383280" cy="365760"/>
          </a:xfrm>
          <a:prstGeom prst="rect">
            <a:avLst/>
          </a:prstGeom>
          <a:noFill/>
          <a:ln/>
        </p:spPr>
        <p:txBody>
          <a:bodyPr wrap="square" lIns="0" tIns="0" rIns="0" bIns="0" rtlCol="0" anchor="t"/>
          <a:lstStyle/>
          <a:p>
            <a:pPr indent="0" marL="0">
              <a:buNone/>
            </a:pPr>
            <a:r>
              <a:rPr lang="en-US" sz="1600" b="1" dirty="0">
                <a:solidFill>
                  <a:srgbClr val="14284B"/>
                </a:solidFill>
                <a:latin typeface="Calibri" pitchFamily="34" charset="0"/>
                <a:ea typeface="Calibri" pitchFamily="34" charset="-122"/>
                <a:cs typeface="Calibri" pitchFamily="34" charset="-120"/>
              </a:rPr>
              <a:t>Authority set by the charter</a:t>
            </a:r>
            <a:endParaRPr lang="en-US" sz="1600" dirty="0"/>
          </a:p>
        </p:txBody>
      </p:sp>
      <p:sp>
        <p:nvSpPr>
          <p:cNvPr id="34" name="Text 32"/>
          <p:cNvSpPr txBox="1"/>
          <p:nvPr/>
        </p:nvSpPr>
        <p:spPr>
          <a:xfrm>
            <a:off x="8138160" y="1783080"/>
            <a:ext cx="3337560" cy="4114800"/>
          </a:xfrm>
          <a:prstGeom prst="rect">
            <a:avLst/>
          </a:prstGeom>
          <a:noFill/>
          <a:ln/>
        </p:spPr>
        <p:txBody>
          <a:bodyPr wrap="square" lIns="0" tIns="0" rIns="0" bIns="0" rtlCol="0" anchor="t"/>
          <a:lstStyle/>
          <a:p>
            <a:pPr marL="203200" indent="-2032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Sponsor: </a:t>
            </a:r>
            <a:pPr indent="0" marL="0">
              <a:spcAft>
                <a:spcPts val="600"/>
              </a:spcAft>
              <a:buNone/>
            </a:pPr>
            <a:r>
              <a:rPr lang="en-US" sz="1500" dirty="0">
                <a:solidFill>
                  <a:srgbClr val="1F2937"/>
                </a:solidFill>
                <a:latin typeface="Calibri" pitchFamily="34" charset="0"/>
                <a:ea typeface="Calibri" pitchFamily="34" charset="-122"/>
                <a:cs typeface="Calibri" pitchFamily="34" charset="-120"/>
              </a:rPr>
              <a:t>approves charter, AUD 337,700 budget, platform and go/no-go; any change to scope, the critical path or above AUD 5,000</a:t>
            </a:r>
            <a:endParaRPr lang="en-US" sz="1500" dirty="0"/>
          </a:p>
          <a:p>
            <a:pPr marL="203200" indent="-2032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PM: </a:t>
            </a:r>
            <a:pPr indent="0" marL="0">
              <a:spcAft>
                <a:spcPts val="600"/>
              </a:spcAft>
              <a:buNone/>
            </a:pPr>
            <a:r>
              <a:rPr lang="en-US" sz="1500" dirty="0">
                <a:solidFill>
                  <a:srgbClr val="1F2937"/>
                </a:solidFill>
                <a:latin typeface="Calibri" pitchFamily="34" charset="0"/>
                <a:ea typeface="Calibri" pitchFamily="34" charset="-122"/>
                <a:cs typeface="Calibri" pitchFamily="34" charset="-120"/>
              </a:rPr>
              <a:t>minor changes up to AUD 5,000 from contingency with no scope or critical-path effect</a:t>
            </a:r>
            <a:endParaRPr lang="en-US" sz="1500" dirty="0"/>
          </a:p>
          <a:p>
            <a:pPr marL="203200" indent="-2032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Escalation: </a:t>
            </a:r>
            <a:pPr indent="0" marL="0">
              <a:spcAft>
                <a:spcPts val="600"/>
              </a:spcAft>
              <a:buNone/>
            </a:pPr>
            <a:r>
              <a:rPr lang="en-US" sz="1500" dirty="0">
                <a:solidFill>
                  <a:srgbClr val="1F2937"/>
                </a:solidFill>
                <a:latin typeface="Calibri" pitchFamily="34" charset="0"/>
                <a:ea typeface="Calibri" pitchFamily="34" charset="-122"/>
                <a:cs typeface="Calibri" pitchFamily="34" charset="-120"/>
              </a:rPr>
              <a:t>critical-path slip over 1 week or budget variance over 5% goes to the sponsor</a:t>
            </a:r>
            <a:endParaRPr lang="en-US" sz="1500" dirty="0"/>
          </a:p>
          <a:p>
            <a:pPr marL="203200" indent="-2032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Approval: </a:t>
            </a:r>
            <a:pPr indent="0" marL="0">
              <a:spcAft>
                <a:spcPts val="600"/>
              </a:spcAft>
              <a:buNone/>
            </a:pPr>
            <a:r>
              <a:rPr lang="en-US" sz="1500" dirty="0">
                <a:solidFill>
                  <a:srgbClr val="1F2937"/>
                </a:solidFill>
                <a:latin typeface="Calibri" pitchFamily="34" charset="0"/>
                <a:ea typeface="Calibri" pitchFamily="34" charset="-122"/>
                <a:cs typeface="Calibri" pitchFamily="34" charset="-120"/>
              </a:rPr>
              <a:t>charter to be signed at M1 (planned for 5 Feb 2027), not yet signed</a:t>
            </a:r>
            <a:endParaRPr lang="en-US" sz="1500" dirty="0"/>
          </a:p>
        </p:txBody>
      </p:sp>
      <p:sp>
        <p:nvSpPr>
          <p:cNvPr id="35" name="Text 33"/>
          <p:cNvSpPr txBox="1"/>
          <p:nvPr/>
        </p:nvSpPr>
        <p:spPr>
          <a:xfrm>
            <a:off x="548640" y="6053328"/>
            <a:ext cx="11064240" cy="274320"/>
          </a:xfrm>
          <a:prstGeom prst="rect">
            <a:avLst/>
          </a:prstGeom>
          <a:noFill/>
          <a:ln/>
        </p:spPr>
        <p:txBody>
          <a:bodyPr wrap="square" lIns="0" tIns="0" rIns="0" bIns="0" rtlCol="0" anchor="b"/>
          <a:lstStyle/>
          <a:p>
            <a:pPr indent="0" marL="0">
              <a:buNone/>
            </a:pPr>
            <a:r>
              <a:rPr lang="en-US" sz="1000" i="1" dirty="0">
                <a:solidFill>
                  <a:srgbClr val="5B6576"/>
                </a:solidFill>
                <a:latin typeface="Calibri" pitchFamily="34" charset="0"/>
                <a:ea typeface="Calibri" pitchFamily="34" charset="-122"/>
                <a:cs typeface="Calibri" pitchFamily="34" charset="-120"/>
              </a:rPr>
              <a:t>All names are fictional and created for this hypothetical scenario.</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Scope boundaries: what the project will and will not deliver</a:t>
            </a:r>
            <a:endParaRPr lang="en-US" sz="2800" dirty="0"/>
          </a:p>
        </p:txBody>
      </p:sp>
      <p:sp>
        <p:nvSpPr>
          <p:cNvPr id="3" name="Shape 1"/>
          <p:cNvSpPr/>
          <p:nvPr/>
        </p:nvSpPr>
        <p:spPr>
          <a:xfrm>
            <a:off x="548640" y="1188720"/>
            <a:ext cx="6400800" cy="4800600"/>
          </a:xfrm>
          <a:prstGeom prst="roundRect">
            <a:avLst>
              <a:gd name="adj" fmla="val 1524"/>
            </a:avLst>
          </a:prstGeom>
          <a:solidFill>
            <a:srgbClr val="E8F3F4"/>
          </a:solidFill>
          <a:ln w="12700">
            <a:solidFill>
              <a:srgbClr val="E8F3F4"/>
            </a:solidFill>
            <a:prstDash val="solid"/>
          </a:ln>
        </p:spPr>
      </p:sp>
      <p:sp>
        <p:nvSpPr>
          <p:cNvPr id="4" name="Shape 2"/>
          <p:cNvSpPr/>
          <p:nvPr/>
        </p:nvSpPr>
        <p:spPr>
          <a:xfrm>
            <a:off x="7223760" y="1188720"/>
            <a:ext cx="4416552" cy="4800600"/>
          </a:xfrm>
          <a:prstGeom prst="roundRect">
            <a:avLst>
              <a:gd name="adj" fmla="val 1656"/>
            </a:avLst>
          </a:prstGeom>
          <a:solidFill>
            <a:srgbClr val="FBECEA"/>
          </a:solidFill>
          <a:ln w="12700">
            <a:solidFill>
              <a:srgbClr val="FBECEA"/>
            </a:solidFill>
            <a:prstDash val="solid"/>
          </a:ln>
        </p:spPr>
      </p:sp>
      <p:sp>
        <p:nvSpPr>
          <p:cNvPr id="5" name="Shape 3"/>
          <p:cNvSpPr/>
          <p:nvPr/>
        </p:nvSpPr>
        <p:spPr>
          <a:xfrm>
            <a:off x="777240" y="1353312"/>
            <a:ext cx="502920" cy="502920"/>
          </a:xfrm>
          <a:prstGeom prst="ellipse">
            <a:avLst/>
          </a:prstGeom>
          <a:solidFill>
            <a:srgbClr val="0F8B8D"/>
          </a:solidFill>
          <a:ln w="12700">
            <a:solidFill>
              <a:srgbClr val="0F8B8D"/>
            </a:solidFill>
            <a:prstDash val="solid"/>
          </a:ln>
        </p:spPr>
      </p:sp>
      <p:pic>
        <p:nvPicPr>
          <p:cNvPr id="6" name="Image 0" descr="preencoded.png">    </p:cNvPr>
          <p:cNvPicPr>
            <a:picLocks noChangeAspect="1"/>
          </p:cNvPicPr>
          <p:nvPr/>
        </p:nvPicPr>
        <p:blipFill>
          <a:blip r:embed="rId1"/>
          <a:stretch>
            <a:fillRect/>
          </a:stretch>
        </p:blipFill>
        <p:spPr>
          <a:xfrm>
            <a:off x="897941" y="1474013"/>
            <a:ext cx="261518" cy="261518"/>
          </a:xfrm>
          <a:prstGeom prst="rect">
            <a:avLst/>
          </a:prstGeom>
        </p:spPr>
      </p:pic>
      <p:sp>
        <p:nvSpPr>
          <p:cNvPr id="7" name="Text 4"/>
          <p:cNvSpPr txBox="1"/>
          <p:nvPr/>
        </p:nvSpPr>
        <p:spPr>
          <a:xfrm>
            <a:off x="1417320" y="1417320"/>
            <a:ext cx="4572000" cy="365760"/>
          </a:xfrm>
          <a:prstGeom prst="rect">
            <a:avLst/>
          </a:prstGeom>
          <a:noFill/>
          <a:ln/>
        </p:spPr>
        <p:txBody>
          <a:bodyPr wrap="square" lIns="0" tIns="0" rIns="0" bIns="0" rtlCol="0" anchor="t"/>
          <a:lstStyle/>
          <a:p>
            <a:pPr indent="0" marL="0">
              <a:buNone/>
            </a:pPr>
            <a:r>
              <a:rPr lang="en-US" sz="1800" b="1" dirty="0">
                <a:solidFill>
                  <a:srgbClr val="0F8B8D"/>
                </a:solidFill>
                <a:latin typeface="Calibri" pitchFamily="34" charset="0"/>
                <a:ea typeface="Calibri" pitchFamily="34" charset="-122"/>
                <a:cs typeface="Calibri" pitchFamily="34" charset="-120"/>
              </a:rPr>
              <a:t>In scope</a:t>
            </a:r>
            <a:endParaRPr lang="en-US" sz="1800" dirty="0"/>
          </a:p>
        </p:txBody>
      </p:sp>
      <p:sp>
        <p:nvSpPr>
          <p:cNvPr id="8" name="Shape 5"/>
          <p:cNvSpPr/>
          <p:nvPr/>
        </p:nvSpPr>
        <p:spPr>
          <a:xfrm>
            <a:off x="7452360" y="1353312"/>
            <a:ext cx="502920" cy="502920"/>
          </a:xfrm>
          <a:prstGeom prst="ellipse">
            <a:avLst/>
          </a:prstGeom>
          <a:solidFill>
            <a:srgbClr val="C0392B"/>
          </a:solidFill>
          <a:ln w="12700">
            <a:solidFill>
              <a:srgbClr val="C0392B"/>
            </a:solidFill>
            <a:prstDash val="solid"/>
          </a:ln>
        </p:spPr>
      </p:sp>
      <p:pic>
        <p:nvPicPr>
          <p:cNvPr id="9" name="Image 1" descr="preencoded.png">    </p:cNvPr>
          <p:cNvPicPr>
            <a:picLocks noChangeAspect="1"/>
          </p:cNvPicPr>
          <p:nvPr/>
        </p:nvPicPr>
        <p:blipFill>
          <a:blip r:embed="rId2"/>
          <a:stretch>
            <a:fillRect/>
          </a:stretch>
        </p:blipFill>
        <p:spPr>
          <a:xfrm>
            <a:off x="7573061" y="1474013"/>
            <a:ext cx="261518" cy="261518"/>
          </a:xfrm>
          <a:prstGeom prst="rect">
            <a:avLst/>
          </a:prstGeom>
        </p:spPr>
      </p:pic>
      <p:sp>
        <p:nvSpPr>
          <p:cNvPr id="10" name="Text 6"/>
          <p:cNvSpPr txBox="1"/>
          <p:nvPr/>
        </p:nvSpPr>
        <p:spPr>
          <a:xfrm>
            <a:off x="8092440" y="1417320"/>
            <a:ext cx="3291840" cy="365760"/>
          </a:xfrm>
          <a:prstGeom prst="rect">
            <a:avLst/>
          </a:prstGeom>
          <a:noFill/>
          <a:ln/>
        </p:spPr>
        <p:txBody>
          <a:bodyPr wrap="square" lIns="0" tIns="0" rIns="0" bIns="0" rtlCol="0" anchor="t"/>
          <a:lstStyle/>
          <a:p>
            <a:pPr indent="0" marL="0">
              <a:buNone/>
            </a:pPr>
            <a:r>
              <a:rPr lang="en-US" sz="1800" b="1" dirty="0">
                <a:solidFill>
                  <a:srgbClr val="C0392B"/>
                </a:solidFill>
                <a:latin typeface="Calibri" pitchFamily="34" charset="0"/>
                <a:ea typeface="Calibri" pitchFamily="34" charset="-122"/>
                <a:cs typeface="Calibri" pitchFamily="34" charset="-120"/>
              </a:rPr>
              <a:t>Out of scope</a:t>
            </a:r>
            <a:endParaRPr lang="en-US" sz="1800" dirty="0"/>
          </a:p>
        </p:txBody>
      </p:sp>
      <p:sp>
        <p:nvSpPr>
          <p:cNvPr id="11" name="Text 7"/>
          <p:cNvSpPr txBox="1"/>
          <p:nvPr/>
        </p:nvSpPr>
        <p:spPr>
          <a:xfrm>
            <a:off x="822960" y="2011680"/>
            <a:ext cx="5943600" cy="38862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Requirements analysis and platform evaluation</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Four environments: development, test, staging, production</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Install, harden and configure Moodle; branding theme and approved plugins</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Migrate current-trimester course content</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Functional, integration, security, accessibility, performance, backup and recovery testing; UAT</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Staff training, student orientation, five-course pilot, institution-wide deployment</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Two weeks of hypercare, handover and closure</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Configuration management with GitHub</a:t>
            </a:r>
            <a:endParaRPr lang="en-US" sz="1600" dirty="0"/>
          </a:p>
        </p:txBody>
      </p:sp>
      <p:sp>
        <p:nvSpPr>
          <p:cNvPr id="12" name="Text 8"/>
          <p:cNvSpPr txBox="1"/>
          <p:nvPr/>
        </p:nvSpPr>
        <p:spPr>
          <a:xfrm>
            <a:off x="7498080" y="2011680"/>
            <a:ext cx="3977640" cy="388620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Live video conferencing (existing tools continue)</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Online payment processing</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Native mobile app (responsive web used)</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Real-time student information system integration (CSV upload this phase)</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Archived courses older than the current trimester</a:t>
            </a:r>
            <a:endParaRPr lang="en-US" sz="1600" dirty="0"/>
          </a:p>
          <a:p>
            <a:pPr marL="203200" indent="-203200">
              <a:spcAft>
                <a:spcPts val="600"/>
              </a:spcAft>
              <a:buSzPct val="100000"/>
              <a:buChar char="•"/>
            </a:pPr>
            <a:r>
              <a:rPr lang="en-US" sz="1600" dirty="0">
                <a:solidFill>
                  <a:srgbClr val="1F2937"/>
                </a:solidFill>
                <a:latin typeface="Calibri" pitchFamily="34" charset="0"/>
                <a:ea typeface="Calibri" pitchFamily="34" charset="-122"/>
                <a:cs typeface="Calibri" pitchFamily="34" charset="-120"/>
              </a:rPr>
              <a:t>Curriculum redesign beyond LMS-related training</a:t>
            </a:r>
            <a:endParaRPr lang="en-US" sz="16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Moodle vs Canvas: weighted evaluation favours Moodle, narrowly</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949440" cy="914400"/>
        </p:xfrm>
        <a:graphic>
          <a:graphicData uri="http://schemas.openxmlformats.org/drawingml/2006/table">
            <a:tbl>
              <a:tblPr/>
              <a:tblGrid>
                <a:gridCol w="2651760"/>
                <a:gridCol w="777240"/>
                <a:gridCol w="822960"/>
                <a:gridCol w="822960"/>
                <a:gridCol w="960120"/>
                <a:gridCol w="91440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Criterion</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Weight</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Moodle</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Canvas</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Moodle wtd</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Canvas wtd</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Licensing and total cost</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Customisation and control</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Usability for staff and students</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0.45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Security and data control</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Support availability</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Integration capability</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Skills required to administer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0.30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0.40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457200">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Total</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0F8B8D"/>
                          </a:solidFill>
                          <a:latin typeface="Calibri" pitchFamily="34" charset="0"/>
                          <a:ea typeface="Calibri" pitchFamily="34" charset="-122"/>
                          <a:cs typeface="Calibri" pitchFamily="34" charset="-120"/>
                        </a:rPr>
                        <a:t>4.05</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l" indent="0" marL="0">
                        <a:buNone/>
                      </a:pPr>
                      <a:r>
                        <a:rPr lang="en-US" sz="1300" b="1" dirty="0">
                          <a:solidFill>
                            <a:srgbClr val="1F2937"/>
                          </a:solidFill>
                          <a:latin typeface="Calibri" pitchFamily="34" charset="0"/>
                          <a:ea typeface="Calibri" pitchFamily="34" charset="-122"/>
                          <a:cs typeface="Calibri" pitchFamily="34" charset="-120"/>
                        </a:rPr>
                        <a:t>3.80</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bl>
          </a:graphicData>
        </a:graphic>
      </p:graphicFrame>
      <p:sp>
        <p:nvSpPr>
          <p:cNvPr id="4" name="Shape 1"/>
          <p:cNvSpPr/>
          <p:nvPr/>
        </p:nvSpPr>
        <p:spPr>
          <a:xfrm>
            <a:off x="7818120" y="1188720"/>
            <a:ext cx="1828800" cy="1417320"/>
          </a:xfrm>
          <a:prstGeom prst="roundRect">
            <a:avLst>
              <a:gd name="adj" fmla="val 5161"/>
            </a:avLst>
          </a:prstGeom>
          <a:solidFill>
            <a:srgbClr val="14284B"/>
          </a:solidFill>
          <a:ln w="12700">
            <a:solidFill>
              <a:srgbClr val="14284B"/>
            </a:solidFill>
            <a:prstDash val="solid"/>
          </a:ln>
        </p:spPr>
      </p:sp>
      <p:sp>
        <p:nvSpPr>
          <p:cNvPr id="5" name="Text 2"/>
          <p:cNvSpPr txBox="1"/>
          <p:nvPr/>
        </p:nvSpPr>
        <p:spPr>
          <a:xfrm>
            <a:off x="7818120" y="1188720"/>
            <a:ext cx="1828800" cy="1417320"/>
          </a:xfrm>
          <a:prstGeom prst="rect">
            <a:avLst/>
          </a:prstGeom>
          <a:noFill/>
          <a:ln/>
        </p:spPr>
        <p:txBody>
          <a:bodyPr wrap="square" lIns="0" tIns="0" rIns="0" bIns="0"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4.05</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Moodle / 5</a:t>
            </a:r>
            <a:endParaRPr lang="en-US" sz="1400" dirty="0"/>
          </a:p>
        </p:txBody>
      </p:sp>
      <p:sp>
        <p:nvSpPr>
          <p:cNvPr id="6" name="Shape 3"/>
          <p:cNvSpPr/>
          <p:nvPr/>
        </p:nvSpPr>
        <p:spPr>
          <a:xfrm>
            <a:off x="9811512" y="1188720"/>
            <a:ext cx="1828800" cy="1417320"/>
          </a:xfrm>
          <a:prstGeom prst="roundRect">
            <a:avLst>
              <a:gd name="adj" fmla="val 5161"/>
            </a:avLst>
          </a:prstGeom>
          <a:solidFill>
            <a:srgbClr val="DCE4F0"/>
          </a:solidFill>
          <a:ln w="12700">
            <a:solidFill>
              <a:srgbClr val="DCE4F0"/>
            </a:solidFill>
            <a:prstDash val="solid"/>
          </a:ln>
        </p:spPr>
      </p:sp>
      <p:sp>
        <p:nvSpPr>
          <p:cNvPr id="7" name="Text 4"/>
          <p:cNvSpPr txBox="1"/>
          <p:nvPr/>
        </p:nvSpPr>
        <p:spPr>
          <a:xfrm>
            <a:off x="9811512" y="1188720"/>
            <a:ext cx="1828800" cy="1417320"/>
          </a:xfrm>
          <a:prstGeom prst="rect">
            <a:avLst/>
          </a:prstGeom>
          <a:noFill/>
          <a:ln/>
        </p:spPr>
        <p:txBody>
          <a:bodyPr wrap="square" lIns="0" tIns="0" rIns="0" bIns="0" rtlCol="0" anchor="ctr"/>
          <a:lstStyle/>
          <a:p>
            <a:pPr algn="ctr" indent="0" marL="0">
              <a:buNone/>
            </a:pPr>
            <a:r>
              <a:rPr lang="en-US" sz="4000" b="1" dirty="0">
                <a:solidFill>
                  <a:srgbClr val="14284B"/>
                </a:solidFill>
                <a:latin typeface="Calibri" pitchFamily="34" charset="0"/>
                <a:ea typeface="Calibri" pitchFamily="34" charset="-122"/>
                <a:cs typeface="Calibri" pitchFamily="34" charset="-120"/>
              </a:rPr>
              <a:t>3.80</a:t>
            </a:r>
            <a:endParaRPr lang="en-US" sz="1400" dirty="0"/>
          </a:p>
          <a:p>
            <a:pPr algn="ctr" indent="0" marL="0">
              <a:buNone/>
            </a:pPr>
            <a:r>
              <a:rPr lang="en-US" sz="1300" dirty="0">
                <a:solidFill>
                  <a:srgbClr val="14284B"/>
                </a:solidFill>
                <a:latin typeface="Calibri" pitchFamily="34" charset="0"/>
                <a:ea typeface="Calibri" pitchFamily="34" charset="-122"/>
                <a:cs typeface="Calibri" pitchFamily="34" charset="-120"/>
              </a:rPr>
              <a:t>Canvas / 5</a:t>
            </a:r>
            <a:endParaRPr lang="en-US" sz="1400" dirty="0"/>
          </a:p>
        </p:txBody>
      </p:sp>
      <p:sp>
        <p:nvSpPr>
          <p:cNvPr id="8" name="Text 5"/>
          <p:cNvSpPr txBox="1"/>
          <p:nvPr/>
        </p:nvSpPr>
        <p:spPr>
          <a:xfrm>
            <a:off x="7818120" y="2788920"/>
            <a:ext cx="3822192" cy="1828800"/>
          </a:xfrm>
          <a:prstGeom prst="rect">
            <a:avLst/>
          </a:prstGeom>
          <a:noFill/>
          <a:ln/>
        </p:spPr>
        <p:txBody>
          <a:bodyPr wrap="square" lIns="0" tIns="0" rIns="0" bIns="0" rtlCol="0" anchor="t"/>
          <a:lstStyle/>
          <a:p>
            <a:pPr marL="203200" indent="-203200">
              <a:spcAft>
                <a:spcPts val="600"/>
              </a:spcAft>
              <a:buSzPct val="100000"/>
              <a:buChar char="•"/>
            </a:pPr>
            <a:r>
              <a:rPr lang="en-US" sz="1400" b="1" dirty="0">
                <a:solidFill>
                  <a:srgbClr val="1F2937"/>
                </a:solidFill>
                <a:latin typeface="Calibri" pitchFamily="34" charset="0"/>
                <a:ea typeface="Calibri" pitchFamily="34" charset="-122"/>
                <a:cs typeface="Calibri" pitchFamily="34" charset="-120"/>
              </a:rPr>
              <a:t>Why Moodle: </a:t>
            </a:r>
            <a:pPr indent="0" marL="0">
              <a:spcAft>
                <a:spcPts val="600"/>
              </a:spcAft>
              <a:buNone/>
            </a:pPr>
            <a:r>
              <a:rPr lang="en-US" sz="1400" dirty="0">
                <a:solidFill>
                  <a:srgbClr val="1F2937"/>
                </a:solidFill>
                <a:latin typeface="Calibri" pitchFamily="34" charset="0"/>
                <a:ea typeface="Calibri" pitchFamily="34" charset="-122"/>
                <a:cs typeface="Calibri" pitchFamily="34" charset="-120"/>
              </a:rPr>
              <a:t>no per-seat licence, full control of hosting and data, high configurability [17]</a:t>
            </a:r>
            <a:endParaRPr lang="en-US" sz="1400" dirty="0"/>
          </a:p>
          <a:p>
            <a:pPr marL="203200" indent="-203200">
              <a:spcAft>
                <a:spcPts val="600"/>
              </a:spcAft>
              <a:buSzPct val="100000"/>
              <a:buChar char="•"/>
            </a:pPr>
            <a:r>
              <a:rPr lang="en-US" sz="1400" b="1" dirty="0">
                <a:solidFill>
                  <a:srgbClr val="1F2937"/>
                </a:solidFill>
                <a:latin typeface="Calibri" pitchFamily="34" charset="0"/>
                <a:ea typeface="Calibri" pitchFamily="34" charset="-122"/>
                <a:cs typeface="Calibri" pitchFamily="34" charset="-120"/>
              </a:rPr>
              <a:t>Trade-offs: </a:t>
            </a:r>
            <a:pPr indent="0" marL="0">
              <a:spcAft>
                <a:spcPts val="600"/>
              </a:spcAft>
              <a:buNone/>
            </a:pPr>
            <a:r>
              <a:rPr lang="en-US" sz="1400" dirty="0">
                <a:solidFill>
                  <a:srgbClr val="1F2937"/>
                </a:solidFill>
                <a:latin typeface="Calibri" pitchFamily="34" charset="0"/>
                <a:ea typeface="Calibri" pitchFamily="34" charset="-122"/>
                <a:cs typeface="Calibri" pitchFamily="34" charset="-120"/>
              </a:rPr>
              <a:t>needs stronger in-house admin skills; weaker usability out of the box. Managed as risks R9 and R11</a:t>
            </a:r>
            <a:endParaRPr lang="en-US" sz="1400" dirty="0"/>
          </a:p>
        </p:txBody>
      </p:sp>
      <p:sp>
        <p:nvSpPr>
          <p:cNvPr id="9" name="Shape 6"/>
          <p:cNvSpPr/>
          <p:nvPr/>
        </p:nvSpPr>
        <p:spPr>
          <a:xfrm>
            <a:off x="7818120" y="4663440"/>
            <a:ext cx="3822192" cy="1325880"/>
          </a:xfrm>
          <a:prstGeom prst="roundRect">
            <a:avLst>
              <a:gd name="adj" fmla="val 5517"/>
            </a:avLst>
          </a:prstGeom>
          <a:solidFill>
            <a:srgbClr val="FCF1DE"/>
          </a:solidFill>
          <a:ln w="12700">
            <a:solidFill>
              <a:srgbClr val="FCF1DE"/>
            </a:solidFill>
            <a:prstDash val="solid"/>
          </a:ln>
        </p:spPr>
      </p:sp>
      <p:sp>
        <p:nvSpPr>
          <p:cNvPr id="10" name="Text 7"/>
          <p:cNvSpPr txBox="1"/>
          <p:nvPr/>
        </p:nvSpPr>
        <p:spPr>
          <a:xfrm>
            <a:off x="7955280" y="4709160"/>
            <a:ext cx="3566160" cy="1234440"/>
          </a:xfrm>
          <a:prstGeom prst="rect">
            <a:avLst/>
          </a:prstGeom>
          <a:noFill/>
          <a:ln/>
        </p:spPr>
        <p:txBody>
          <a:bodyPr wrap="square" lIns="0" tIns="0" rIns="0" bIns="0" rtlCol="0" anchor="ctr"/>
          <a:lstStyle/>
          <a:p>
            <a:pPr indent="0" marL="0">
              <a:buNone/>
            </a:pPr>
            <a:r>
              <a:rPr lang="en-US" sz="1300" b="1" dirty="0">
                <a:solidFill>
                  <a:srgbClr val="14284B"/>
                </a:solidFill>
                <a:latin typeface="Calibri" pitchFamily="34" charset="0"/>
                <a:ea typeface="Calibri" pitchFamily="34" charset="-122"/>
                <a:cs typeface="Calibri" pitchFamily="34" charset="-120"/>
              </a:rPr>
              <a:t>Sensitivity check: </a:t>
            </a:r>
            <a:pPr indent="0" marL="0">
              <a:buNone/>
            </a:pPr>
            <a:r>
              <a:rPr lang="en-US" sz="1300" dirty="0">
                <a:solidFill>
                  <a:srgbClr val="1F2937"/>
                </a:solidFill>
                <a:latin typeface="Calibri" pitchFamily="34" charset="0"/>
                <a:ea typeface="Calibri" pitchFamily="34" charset="-122"/>
                <a:cs typeface="Calibri" pitchFamily="34" charset="-120"/>
              </a:rPr>
              <a:t>raising usability to 25% and lowering licensing to 15% gives Canvas 4.00 vs Moodle 3.85. The sponsor confirms the weights at milestone M3.</a:t>
            </a:r>
            <a:endParaRPr lang="en-US" sz="1300" dirty="0"/>
          </a:p>
        </p:txBody>
      </p:sp>
      <p:sp>
        <p:nvSpPr>
          <p:cNvPr id="11" name="Text 8"/>
          <p:cNvSpPr txBox="1"/>
          <p:nvPr/>
        </p:nvSpPr>
        <p:spPr>
          <a:xfrm>
            <a:off x="548640" y="6053328"/>
            <a:ext cx="11064240" cy="274320"/>
          </a:xfrm>
          <a:prstGeom prst="rect">
            <a:avLst/>
          </a:prstGeom>
          <a:noFill/>
          <a:ln/>
        </p:spPr>
        <p:txBody>
          <a:bodyPr wrap="square" lIns="0" tIns="0" rIns="0" bIns="0" rtlCol="0" anchor="b"/>
          <a:lstStyle/>
          <a:p>
            <a:pPr indent="0" marL="0">
              <a:buNone/>
            </a:pPr>
            <a:r>
              <a:rPr lang="en-US" sz="1000" i="1" dirty="0">
                <a:solidFill>
                  <a:srgbClr val="5B6576"/>
                </a:solidFill>
                <a:latin typeface="Calibri" pitchFamily="34" charset="0"/>
                <a:ea typeface="Calibri" pitchFamily="34" charset="-122"/>
                <a:cs typeface="Calibri" pitchFamily="34" charset="-120"/>
              </a:rPr>
              <a:t>Scores are the team's informed assessment using official licence sources [17], [18] and commercial comparisons [20]–[22], not measured performance.</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Work Breakdown Structure: 13 deliverable-oriented work packages</a:t>
            </a:r>
            <a:endParaRPr lang="en-US" sz="2800" dirty="0"/>
          </a:p>
        </p:txBody>
      </p:sp>
      <p:pic>
        <p:nvPicPr>
          <p:cNvPr id="3" name="Image 0" descr="assets/wbs.png">    </p:cNvPr>
          <p:cNvPicPr>
            <a:picLocks noChangeAspect="1"/>
          </p:cNvPicPr>
          <p:nvPr/>
        </p:nvPicPr>
        <p:blipFill>
          <a:blip r:embed="rId1"/>
          <a:stretch>
            <a:fillRect/>
          </a:stretch>
        </p:blipFill>
        <p:spPr>
          <a:xfrm>
            <a:off x="548640" y="1143000"/>
            <a:ext cx="11091672" cy="4123944"/>
          </a:xfrm>
          <a:prstGeom prst="rect">
            <a:avLst/>
          </a:prstGeom>
        </p:spPr>
      </p:pic>
      <p:sp>
        <p:nvSpPr>
          <p:cNvPr id="4" name="Shape 1"/>
          <p:cNvSpPr/>
          <p:nvPr/>
        </p:nvSpPr>
        <p:spPr>
          <a:xfrm>
            <a:off x="548640" y="5440680"/>
            <a:ext cx="457200" cy="457200"/>
          </a:xfrm>
          <a:prstGeom prst="ellipse">
            <a:avLst/>
          </a:prstGeom>
          <a:solidFill>
            <a:srgbClr val="0F8B8D"/>
          </a:solidFill>
          <a:ln w="12700">
            <a:solidFill>
              <a:srgbClr val="0F8B8D"/>
            </a:solidFill>
            <a:prstDash val="solid"/>
          </a:ln>
        </p:spPr>
      </p:sp>
      <p:pic>
        <p:nvPicPr>
          <p:cNvPr id="5" name="Image 1" descr="preencoded.png">    </p:cNvPr>
          <p:cNvPicPr>
            <a:picLocks noChangeAspect="1"/>
          </p:cNvPicPr>
          <p:nvPr/>
        </p:nvPicPr>
        <p:blipFill>
          <a:blip r:embed="rId2"/>
          <a:stretch>
            <a:fillRect/>
          </a:stretch>
        </p:blipFill>
        <p:spPr>
          <a:xfrm>
            <a:off x="658368" y="5550408"/>
            <a:ext cx="237744" cy="237744"/>
          </a:xfrm>
          <a:prstGeom prst="rect">
            <a:avLst/>
          </a:prstGeom>
        </p:spPr>
      </p:pic>
      <p:sp>
        <p:nvSpPr>
          <p:cNvPr id="6" name="Text 2"/>
          <p:cNvSpPr txBox="1"/>
          <p:nvPr/>
        </p:nvSpPr>
        <p:spPr>
          <a:xfrm>
            <a:off x="1115568" y="5376672"/>
            <a:ext cx="3063240" cy="68580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Deliverable-oriented</a:t>
            </a:r>
            <a:endParaRPr lang="en-US" sz="1400" dirty="0"/>
          </a:p>
          <a:p>
            <a:pPr indent="0" marL="0">
              <a:buNone/>
            </a:pPr>
            <a:r>
              <a:rPr lang="en-US" sz="1200" dirty="0">
                <a:solidFill>
                  <a:srgbClr val="5B6576"/>
                </a:solidFill>
                <a:latin typeface="Calibri" pitchFamily="34" charset="0"/>
                <a:ea typeface="Calibri" pitchFamily="34" charset="-122"/>
                <a:cs typeface="Calibri" pitchFamily="34" charset="-120"/>
              </a:rPr>
              <a:t>Every element is a tangible output covering 100% of scope [7]</a:t>
            </a:r>
            <a:endParaRPr lang="en-US" sz="1400" dirty="0"/>
          </a:p>
        </p:txBody>
      </p:sp>
      <p:sp>
        <p:nvSpPr>
          <p:cNvPr id="7" name="Shape 3"/>
          <p:cNvSpPr/>
          <p:nvPr/>
        </p:nvSpPr>
        <p:spPr>
          <a:xfrm>
            <a:off x="4297680" y="5440680"/>
            <a:ext cx="457200" cy="457200"/>
          </a:xfrm>
          <a:prstGeom prst="ellipse">
            <a:avLst/>
          </a:prstGeom>
          <a:solidFill>
            <a:srgbClr val="0F8B8D"/>
          </a:solidFill>
          <a:ln w="12700">
            <a:solidFill>
              <a:srgbClr val="0F8B8D"/>
            </a:solidFill>
            <a:prstDash val="solid"/>
          </a:ln>
        </p:spPr>
      </p:sp>
      <p:pic>
        <p:nvPicPr>
          <p:cNvPr id="8" name="Image 2" descr="preencoded.png">    </p:cNvPr>
          <p:cNvPicPr>
            <a:picLocks noChangeAspect="1"/>
          </p:cNvPicPr>
          <p:nvPr/>
        </p:nvPicPr>
        <p:blipFill>
          <a:blip r:embed="rId3"/>
          <a:stretch>
            <a:fillRect/>
          </a:stretch>
        </p:blipFill>
        <p:spPr>
          <a:xfrm>
            <a:off x="4407408" y="5550408"/>
            <a:ext cx="237744" cy="237744"/>
          </a:xfrm>
          <a:prstGeom prst="rect">
            <a:avLst/>
          </a:prstGeom>
        </p:spPr>
      </p:pic>
      <p:sp>
        <p:nvSpPr>
          <p:cNvPr id="9" name="Text 4"/>
          <p:cNvSpPr txBox="1"/>
          <p:nvPr/>
        </p:nvSpPr>
        <p:spPr>
          <a:xfrm>
            <a:off x="4864608" y="5376672"/>
            <a:ext cx="3063240" cy="68580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Two levels</a:t>
            </a:r>
            <a:endParaRPr lang="en-US" sz="1400" dirty="0"/>
          </a:p>
          <a:p>
            <a:pPr indent="0" marL="0">
              <a:buNone/>
            </a:pPr>
            <a:r>
              <a:rPr lang="en-US" sz="1200" dirty="0">
                <a:solidFill>
                  <a:srgbClr val="5B6576"/>
                </a:solidFill>
                <a:latin typeface="Calibri" pitchFamily="34" charset="0"/>
                <a:ea typeface="Calibri" pitchFamily="34" charset="-122"/>
                <a:cs typeface="Calibri" pitchFamily="34" charset="-120"/>
              </a:rPr>
              <a:t>Level 1: 13 packages plus cross-cutting project management (0)</a:t>
            </a:r>
            <a:endParaRPr lang="en-US" sz="1400" dirty="0"/>
          </a:p>
        </p:txBody>
      </p:sp>
      <p:sp>
        <p:nvSpPr>
          <p:cNvPr id="10" name="Shape 5"/>
          <p:cNvSpPr/>
          <p:nvPr/>
        </p:nvSpPr>
        <p:spPr>
          <a:xfrm>
            <a:off x="8046720" y="5440680"/>
            <a:ext cx="457200" cy="457200"/>
          </a:xfrm>
          <a:prstGeom prst="ellipse">
            <a:avLst/>
          </a:prstGeom>
          <a:solidFill>
            <a:srgbClr val="0F8B8D"/>
          </a:solidFill>
          <a:ln w="12700">
            <a:solidFill>
              <a:srgbClr val="0F8B8D"/>
            </a:solidFill>
            <a:prstDash val="solid"/>
          </a:ln>
        </p:spPr>
      </p:sp>
      <p:pic>
        <p:nvPicPr>
          <p:cNvPr id="11" name="Image 3" descr="preencoded.png">    </p:cNvPr>
          <p:cNvPicPr>
            <a:picLocks noChangeAspect="1"/>
          </p:cNvPicPr>
          <p:nvPr/>
        </p:nvPicPr>
        <p:blipFill>
          <a:blip r:embed="rId4"/>
          <a:stretch>
            <a:fillRect/>
          </a:stretch>
        </p:blipFill>
        <p:spPr>
          <a:xfrm>
            <a:off x="8156448" y="5550408"/>
            <a:ext cx="237744" cy="237744"/>
          </a:xfrm>
          <a:prstGeom prst="rect">
            <a:avLst/>
          </a:prstGeom>
        </p:spPr>
      </p:pic>
      <p:sp>
        <p:nvSpPr>
          <p:cNvPr id="12" name="Text 6"/>
          <p:cNvSpPr txBox="1"/>
          <p:nvPr/>
        </p:nvSpPr>
        <p:spPr>
          <a:xfrm>
            <a:off x="8613648" y="5376672"/>
            <a:ext cx="3063240" cy="68580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Linked to schedule</a:t>
            </a:r>
            <a:endParaRPr lang="en-US" sz="1400" dirty="0"/>
          </a:p>
          <a:p>
            <a:pPr indent="0" marL="0">
              <a:buNone/>
            </a:pPr>
            <a:r>
              <a:rPr lang="en-US" sz="1200" dirty="0">
                <a:solidFill>
                  <a:srgbClr val="5B6576"/>
                </a:solidFill>
                <a:latin typeface="Calibri" pitchFamily="34" charset="0"/>
                <a:ea typeface="Calibri" pitchFamily="34" charset="-122"/>
                <a:cs typeface="Calibri" pitchFamily="34" charset="-120"/>
              </a:rPr>
              <a:t>Level 2 deliverables roll up into 25 scheduled tasks</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Nine milestones gate the 28-week plan</a:t>
            </a:r>
            <a:endParaRPr lang="en-US" sz="2800" dirty="0"/>
          </a:p>
        </p:txBody>
      </p:sp>
      <p:sp>
        <p:nvSpPr>
          <p:cNvPr id="3" name="Shape 1"/>
          <p:cNvSpPr/>
          <p:nvPr/>
        </p:nvSpPr>
        <p:spPr>
          <a:xfrm>
            <a:off x="822960" y="2514600"/>
            <a:ext cx="10561320" cy="0"/>
          </a:xfrm>
          <a:prstGeom prst="line">
            <a:avLst/>
          </a:prstGeom>
          <a:noFill/>
          <a:ln w="38100">
            <a:solidFill>
              <a:srgbClr val="14284B"/>
            </a:solidFill>
            <a:prstDash val="solid"/>
          </a:ln>
        </p:spPr>
      </p:sp>
      <p:sp>
        <p:nvSpPr>
          <p:cNvPr id="4" name="Text 2"/>
          <p:cNvSpPr txBox="1"/>
          <p:nvPr/>
        </p:nvSpPr>
        <p:spPr>
          <a:xfrm>
            <a:off x="548640" y="2651760"/>
            <a:ext cx="548640" cy="228600"/>
          </a:xfrm>
          <a:prstGeom prst="rect">
            <a:avLst/>
          </a:prstGeom>
          <a:noFill/>
          <a:ln/>
        </p:spPr>
        <p:txBody>
          <a:bodyPr wrap="square" lIns="0" tIns="0" rIns="0" bIns="0" rtlCol="0" anchor="t"/>
          <a:lstStyle/>
          <a:p>
            <a:pPr algn="ctr" indent="0" marL="0">
              <a:buNone/>
            </a:pPr>
            <a:r>
              <a:rPr lang="en-US" sz="1000" dirty="0">
                <a:solidFill>
                  <a:srgbClr val="5B6576"/>
                </a:solidFill>
                <a:latin typeface="Calibri" pitchFamily="34" charset="0"/>
                <a:ea typeface="Calibri" pitchFamily="34" charset="-122"/>
                <a:cs typeface="Calibri" pitchFamily="34" charset="-120"/>
              </a:rPr>
              <a:t>W1</a:t>
            </a:r>
            <a:endParaRPr lang="en-US" sz="1000" dirty="0"/>
          </a:p>
        </p:txBody>
      </p:sp>
      <p:sp>
        <p:nvSpPr>
          <p:cNvPr id="5" name="Text 3"/>
          <p:cNvSpPr txBox="1"/>
          <p:nvPr/>
        </p:nvSpPr>
        <p:spPr>
          <a:xfrm>
            <a:off x="2895600" y="2651760"/>
            <a:ext cx="548640" cy="228600"/>
          </a:xfrm>
          <a:prstGeom prst="rect">
            <a:avLst/>
          </a:prstGeom>
          <a:noFill/>
          <a:ln/>
        </p:spPr>
        <p:txBody>
          <a:bodyPr wrap="square" lIns="0" tIns="0" rIns="0" bIns="0" rtlCol="0" anchor="t"/>
          <a:lstStyle/>
          <a:p>
            <a:pPr algn="ctr" indent="0" marL="0">
              <a:buNone/>
            </a:pPr>
            <a:r>
              <a:rPr lang="en-US" sz="1000" dirty="0">
                <a:solidFill>
                  <a:srgbClr val="5B6576"/>
                </a:solidFill>
                <a:latin typeface="Calibri" pitchFamily="34" charset="0"/>
                <a:ea typeface="Calibri" pitchFamily="34" charset="-122"/>
                <a:cs typeface="Calibri" pitchFamily="34" charset="-120"/>
              </a:rPr>
              <a:t>W7</a:t>
            </a:r>
            <a:endParaRPr lang="en-US" sz="1000" dirty="0"/>
          </a:p>
        </p:txBody>
      </p:sp>
      <p:sp>
        <p:nvSpPr>
          <p:cNvPr id="6" name="Text 4"/>
          <p:cNvSpPr txBox="1"/>
          <p:nvPr/>
        </p:nvSpPr>
        <p:spPr>
          <a:xfrm>
            <a:off x="5633720" y="2651760"/>
            <a:ext cx="548640" cy="228600"/>
          </a:xfrm>
          <a:prstGeom prst="rect">
            <a:avLst/>
          </a:prstGeom>
          <a:noFill/>
          <a:ln/>
        </p:spPr>
        <p:txBody>
          <a:bodyPr wrap="square" lIns="0" tIns="0" rIns="0" bIns="0" rtlCol="0" anchor="t"/>
          <a:lstStyle/>
          <a:p>
            <a:pPr algn="ctr" indent="0" marL="0">
              <a:buNone/>
            </a:pPr>
            <a:r>
              <a:rPr lang="en-US" sz="1000" dirty="0">
                <a:solidFill>
                  <a:srgbClr val="5B6576"/>
                </a:solidFill>
                <a:latin typeface="Calibri" pitchFamily="34" charset="0"/>
                <a:ea typeface="Calibri" pitchFamily="34" charset="-122"/>
                <a:cs typeface="Calibri" pitchFamily="34" charset="-120"/>
              </a:rPr>
              <a:t>W14</a:t>
            </a:r>
            <a:endParaRPr lang="en-US" sz="1000" dirty="0"/>
          </a:p>
        </p:txBody>
      </p:sp>
      <p:sp>
        <p:nvSpPr>
          <p:cNvPr id="7" name="Text 5"/>
          <p:cNvSpPr txBox="1"/>
          <p:nvPr/>
        </p:nvSpPr>
        <p:spPr>
          <a:xfrm>
            <a:off x="11109960" y="2651760"/>
            <a:ext cx="548640" cy="228600"/>
          </a:xfrm>
          <a:prstGeom prst="rect">
            <a:avLst/>
          </a:prstGeom>
          <a:noFill/>
          <a:ln/>
        </p:spPr>
        <p:txBody>
          <a:bodyPr wrap="square" lIns="0" tIns="0" rIns="0" bIns="0" rtlCol="0" anchor="t"/>
          <a:lstStyle/>
          <a:p>
            <a:pPr algn="ctr" indent="0" marL="0">
              <a:buNone/>
            </a:pPr>
            <a:r>
              <a:rPr lang="en-US" sz="1000" dirty="0">
                <a:solidFill>
                  <a:srgbClr val="5B6576"/>
                </a:solidFill>
                <a:latin typeface="Calibri" pitchFamily="34" charset="0"/>
                <a:ea typeface="Calibri" pitchFamily="34" charset="-122"/>
                <a:cs typeface="Calibri" pitchFamily="34" charset="-120"/>
              </a:rPr>
              <a:t>W28</a:t>
            </a:r>
            <a:endParaRPr lang="en-US" sz="1000" dirty="0"/>
          </a:p>
        </p:txBody>
      </p:sp>
      <p:sp>
        <p:nvSpPr>
          <p:cNvPr id="8" name="Shape 6"/>
          <p:cNvSpPr/>
          <p:nvPr/>
        </p:nvSpPr>
        <p:spPr>
          <a:xfrm>
            <a:off x="667512" y="2359152"/>
            <a:ext cx="310896" cy="310896"/>
          </a:xfrm>
          <a:prstGeom prst="diamond">
            <a:avLst/>
          </a:prstGeom>
          <a:solidFill>
            <a:srgbClr val="E8A33D"/>
          </a:solidFill>
          <a:ln w="12700">
            <a:solidFill>
              <a:srgbClr val="14284B"/>
            </a:solidFill>
            <a:prstDash val="solid"/>
          </a:ln>
        </p:spPr>
      </p:sp>
      <p:sp>
        <p:nvSpPr>
          <p:cNvPr id="9" name="Shape 7"/>
          <p:cNvSpPr/>
          <p:nvPr/>
        </p:nvSpPr>
        <p:spPr>
          <a:xfrm>
            <a:off x="822960" y="2103120"/>
            <a:ext cx="0" cy="256032"/>
          </a:xfrm>
          <a:prstGeom prst="line">
            <a:avLst/>
          </a:prstGeom>
          <a:noFill/>
          <a:ln w="12700">
            <a:solidFill>
              <a:srgbClr val="9FB3C8"/>
            </a:solidFill>
            <a:prstDash val="solid"/>
          </a:ln>
        </p:spPr>
      </p:sp>
      <p:sp>
        <p:nvSpPr>
          <p:cNvPr id="10" name="Text 8"/>
          <p:cNvSpPr txBox="1"/>
          <p:nvPr/>
        </p:nvSpPr>
        <p:spPr>
          <a:xfrm>
            <a:off x="137160" y="1188720"/>
            <a:ext cx="1371600" cy="914400"/>
          </a:xfrm>
          <a:prstGeom prst="rect">
            <a:avLst/>
          </a:prstGeom>
          <a:noFill/>
          <a:ln/>
        </p:spPr>
        <p:txBody>
          <a:bodyPr wrap="square" lIns="0" tIns="0" rIns="0" bIns="0" rtlCol="0" anchor="b"/>
          <a:lstStyle/>
          <a:p>
            <a:pPr algn="ctr" indent="0" marL="0">
              <a:buNone/>
            </a:pPr>
            <a:r>
              <a:rPr lang="en-US" sz="1200" b="1" dirty="0">
                <a:solidFill>
                  <a:srgbClr val="14284B"/>
                </a:solidFill>
                <a:latin typeface="Calibri" pitchFamily="34" charset="0"/>
                <a:ea typeface="Calibri" pitchFamily="34" charset="-122"/>
                <a:cs typeface="Calibri" pitchFamily="34" charset="-120"/>
              </a:rPr>
              <a:t>M1  W1</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Charter approved</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5 Feb 2027</a:t>
            </a:r>
            <a:endParaRPr lang="en-US" sz="1200" dirty="0"/>
          </a:p>
        </p:txBody>
      </p:sp>
      <p:sp>
        <p:nvSpPr>
          <p:cNvPr id="11" name="Shape 9"/>
          <p:cNvSpPr/>
          <p:nvPr/>
        </p:nvSpPr>
        <p:spPr>
          <a:xfrm>
            <a:off x="2232152" y="2359152"/>
            <a:ext cx="310896" cy="310896"/>
          </a:xfrm>
          <a:prstGeom prst="diamond">
            <a:avLst/>
          </a:prstGeom>
          <a:solidFill>
            <a:srgbClr val="E8A33D"/>
          </a:solidFill>
          <a:ln w="12700">
            <a:solidFill>
              <a:srgbClr val="14284B"/>
            </a:solidFill>
            <a:prstDash val="solid"/>
          </a:ln>
        </p:spPr>
      </p:sp>
      <p:sp>
        <p:nvSpPr>
          <p:cNvPr id="12" name="Shape 10"/>
          <p:cNvSpPr/>
          <p:nvPr/>
        </p:nvSpPr>
        <p:spPr>
          <a:xfrm>
            <a:off x="2387600" y="2670048"/>
            <a:ext cx="0" cy="256123"/>
          </a:xfrm>
          <a:prstGeom prst="line">
            <a:avLst/>
          </a:prstGeom>
          <a:noFill/>
          <a:ln w="12700">
            <a:solidFill>
              <a:srgbClr val="9FB3C8"/>
            </a:solidFill>
            <a:prstDash val="solid"/>
          </a:ln>
        </p:spPr>
      </p:sp>
      <p:sp>
        <p:nvSpPr>
          <p:cNvPr id="13" name="Text 11"/>
          <p:cNvSpPr txBox="1"/>
          <p:nvPr/>
        </p:nvSpPr>
        <p:spPr>
          <a:xfrm>
            <a:off x="1701800" y="2926080"/>
            <a:ext cx="1371600" cy="914400"/>
          </a:xfrm>
          <a:prstGeom prst="rect">
            <a:avLst/>
          </a:prstGeom>
          <a:noFill/>
          <a:ln/>
        </p:spPr>
        <p:txBody>
          <a:bodyPr wrap="square" lIns="0" tIns="0" rIns="0" bIns="0" rtlCol="0" anchor="t"/>
          <a:lstStyle/>
          <a:p>
            <a:pPr algn="ctr" indent="0" marL="0">
              <a:buNone/>
            </a:pPr>
            <a:r>
              <a:rPr lang="en-US" sz="1200" b="1" dirty="0">
                <a:solidFill>
                  <a:srgbClr val="14284B"/>
                </a:solidFill>
                <a:latin typeface="Calibri" pitchFamily="34" charset="0"/>
                <a:ea typeface="Calibri" pitchFamily="34" charset="-122"/>
                <a:cs typeface="Calibri" pitchFamily="34" charset="-120"/>
              </a:rPr>
              <a:t>M2  W5</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Requirements baselined</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5 Mar 2027</a:t>
            </a:r>
            <a:endParaRPr lang="en-US" sz="1200" dirty="0"/>
          </a:p>
        </p:txBody>
      </p:sp>
      <p:sp>
        <p:nvSpPr>
          <p:cNvPr id="14" name="Shape 12"/>
          <p:cNvSpPr/>
          <p:nvPr/>
        </p:nvSpPr>
        <p:spPr>
          <a:xfrm>
            <a:off x="2623312" y="2359152"/>
            <a:ext cx="310896" cy="310896"/>
          </a:xfrm>
          <a:prstGeom prst="diamond">
            <a:avLst/>
          </a:prstGeom>
          <a:solidFill>
            <a:srgbClr val="E8A33D"/>
          </a:solidFill>
          <a:ln w="12700">
            <a:solidFill>
              <a:srgbClr val="14284B"/>
            </a:solidFill>
            <a:prstDash val="solid"/>
          </a:ln>
        </p:spPr>
      </p:sp>
      <p:sp>
        <p:nvSpPr>
          <p:cNvPr id="15" name="Shape 13"/>
          <p:cNvSpPr/>
          <p:nvPr/>
        </p:nvSpPr>
        <p:spPr>
          <a:xfrm>
            <a:off x="2778760" y="2103120"/>
            <a:ext cx="0" cy="256032"/>
          </a:xfrm>
          <a:prstGeom prst="line">
            <a:avLst/>
          </a:prstGeom>
          <a:noFill/>
          <a:ln w="12700">
            <a:solidFill>
              <a:srgbClr val="9FB3C8"/>
            </a:solidFill>
            <a:prstDash val="solid"/>
          </a:ln>
        </p:spPr>
      </p:sp>
      <p:sp>
        <p:nvSpPr>
          <p:cNvPr id="16" name="Text 14"/>
          <p:cNvSpPr txBox="1"/>
          <p:nvPr/>
        </p:nvSpPr>
        <p:spPr>
          <a:xfrm>
            <a:off x="2092960" y="1188720"/>
            <a:ext cx="1371600" cy="914400"/>
          </a:xfrm>
          <a:prstGeom prst="rect">
            <a:avLst/>
          </a:prstGeom>
          <a:noFill/>
          <a:ln/>
        </p:spPr>
        <p:txBody>
          <a:bodyPr wrap="square" lIns="0" tIns="0" rIns="0" bIns="0" rtlCol="0" anchor="b"/>
          <a:lstStyle/>
          <a:p>
            <a:pPr algn="ctr" indent="0" marL="0">
              <a:buNone/>
            </a:pPr>
            <a:r>
              <a:rPr lang="en-US" sz="1200" b="1" dirty="0">
                <a:solidFill>
                  <a:srgbClr val="14284B"/>
                </a:solidFill>
                <a:latin typeface="Calibri" pitchFamily="34" charset="0"/>
                <a:ea typeface="Calibri" pitchFamily="34" charset="-122"/>
                <a:cs typeface="Calibri" pitchFamily="34" charset="-120"/>
              </a:rPr>
              <a:t>M3  W6</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Platform approved</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12 Mar 2027</a:t>
            </a:r>
            <a:endParaRPr lang="en-US" sz="1200" dirty="0"/>
          </a:p>
        </p:txBody>
      </p:sp>
      <p:sp>
        <p:nvSpPr>
          <p:cNvPr id="17" name="Shape 15"/>
          <p:cNvSpPr/>
          <p:nvPr/>
        </p:nvSpPr>
        <p:spPr>
          <a:xfrm>
            <a:off x="5361432" y="2359152"/>
            <a:ext cx="310896" cy="310896"/>
          </a:xfrm>
          <a:prstGeom prst="diamond">
            <a:avLst/>
          </a:prstGeom>
          <a:solidFill>
            <a:srgbClr val="E8A33D"/>
          </a:solidFill>
          <a:ln w="12700">
            <a:solidFill>
              <a:srgbClr val="14284B"/>
            </a:solidFill>
            <a:prstDash val="solid"/>
          </a:ln>
        </p:spPr>
      </p:sp>
      <p:sp>
        <p:nvSpPr>
          <p:cNvPr id="18" name="Shape 16"/>
          <p:cNvSpPr/>
          <p:nvPr/>
        </p:nvSpPr>
        <p:spPr>
          <a:xfrm>
            <a:off x="5516880" y="2670048"/>
            <a:ext cx="0" cy="256123"/>
          </a:xfrm>
          <a:prstGeom prst="line">
            <a:avLst/>
          </a:prstGeom>
          <a:noFill/>
          <a:ln w="12700">
            <a:solidFill>
              <a:srgbClr val="9FB3C8"/>
            </a:solidFill>
            <a:prstDash val="solid"/>
          </a:ln>
        </p:spPr>
      </p:sp>
      <p:sp>
        <p:nvSpPr>
          <p:cNvPr id="19" name="Text 17"/>
          <p:cNvSpPr txBox="1"/>
          <p:nvPr/>
        </p:nvSpPr>
        <p:spPr>
          <a:xfrm>
            <a:off x="4831080" y="2926080"/>
            <a:ext cx="1371600" cy="914400"/>
          </a:xfrm>
          <a:prstGeom prst="rect">
            <a:avLst/>
          </a:prstGeom>
          <a:noFill/>
          <a:ln/>
        </p:spPr>
        <p:txBody>
          <a:bodyPr wrap="square" lIns="0" tIns="0" rIns="0" bIns="0" rtlCol="0" anchor="t"/>
          <a:lstStyle/>
          <a:p>
            <a:pPr algn="ctr" indent="0" marL="0">
              <a:buNone/>
            </a:pPr>
            <a:r>
              <a:rPr lang="en-US" sz="1200" b="1" dirty="0">
                <a:solidFill>
                  <a:srgbClr val="14284B"/>
                </a:solidFill>
                <a:latin typeface="Calibri" pitchFamily="34" charset="0"/>
                <a:ea typeface="Calibri" pitchFamily="34" charset="-122"/>
                <a:cs typeface="Calibri" pitchFamily="34" charset="-120"/>
              </a:rPr>
              <a:t>M4  W13</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Configuration baselined (v1.0)</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30 Apr 2027</a:t>
            </a:r>
            <a:endParaRPr lang="en-US" sz="1200" dirty="0"/>
          </a:p>
        </p:txBody>
      </p:sp>
      <p:sp>
        <p:nvSpPr>
          <p:cNvPr id="20" name="Shape 18"/>
          <p:cNvSpPr/>
          <p:nvPr/>
        </p:nvSpPr>
        <p:spPr>
          <a:xfrm>
            <a:off x="8099552" y="2359152"/>
            <a:ext cx="310896" cy="310896"/>
          </a:xfrm>
          <a:prstGeom prst="diamond">
            <a:avLst/>
          </a:prstGeom>
          <a:solidFill>
            <a:srgbClr val="E8A33D"/>
          </a:solidFill>
          <a:ln w="12700">
            <a:solidFill>
              <a:srgbClr val="14284B"/>
            </a:solidFill>
            <a:prstDash val="solid"/>
          </a:ln>
        </p:spPr>
      </p:sp>
      <p:sp>
        <p:nvSpPr>
          <p:cNvPr id="21" name="Shape 19"/>
          <p:cNvSpPr/>
          <p:nvPr/>
        </p:nvSpPr>
        <p:spPr>
          <a:xfrm>
            <a:off x="8255000" y="2103120"/>
            <a:ext cx="0" cy="256032"/>
          </a:xfrm>
          <a:prstGeom prst="line">
            <a:avLst/>
          </a:prstGeom>
          <a:noFill/>
          <a:ln w="12700">
            <a:solidFill>
              <a:srgbClr val="9FB3C8"/>
            </a:solidFill>
            <a:prstDash val="solid"/>
          </a:ln>
        </p:spPr>
      </p:sp>
      <p:sp>
        <p:nvSpPr>
          <p:cNvPr id="22" name="Text 20"/>
          <p:cNvSpPr txBox="1"/>
          <p:nvPr/>
        </p:nvSpPr>
        <p:spPr>
          <a:xfrm>
            <a:off x="7569200" y="1188720"/>
            <a:ext cx="1371600" cy="914400"/>
          </a:xfrm>
          <a:prstGeom prst="rect">
            <a:avLst/>
          </a:prstGeom>
          <a:noFill/>
          <a:ln/>
        </p:spPr>
        <p:txBody>
          <a:bodyPr wrap="square" lIns="0" tIns="0" rIns="0" bIns="0" rtlCol="0" anchor="b"/>
          <a:lstStyle/>
          <a:p>
            <a:pPr algn="ctr" indent="0" marL="0">
              <a:buNone/>
            </a:pPr>
            <a:r>
              <a:rPr lang="en-US" sz="1200" b="1" dirty="0">
                <a:solidFill>
                  <a:srgbClr val="14284B"/>
                </a:solidFill>
                <a:latin typeface="Calibri" pitchFamily="34" charset="0"/>
                <a:ea typeface="Calibri" pitchFamily="34" charset="-122"/>
                <a:cs typeface="Calibri" pitchFamily="34" charset="-120"/>
              </a:rPr>
              <a:t>M5  W20</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Pilot completed</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18 Jun 2027</a:t>
            </a:r>
            <a:endParaRPr lang="en-US" sz="1200" dirty="0"/>
          </a:p>
        </p:txBody>
      </p:sp>
      <p:sp>
        <p:nvSpPr>
          <p:cNvPr id="23" name="Shape 21"/>
          <p:cNvSpPr/>
          <p:nvPr/>
        </p:nvSpPr>
        <p:spPr>
          <a:xfrm>
            <a:off x="8490712" y="2359152"/>
            <a:ext cx="310896" cy="310896"/>
          </a:xfrm>
          <a:prstGeom prst="diamond">
            <a:avLst/>
          </a:prstGeom>
          <a:solidFill>
            <a:srgbClr val="E8A33D"/>
          </a:solidFill>
          <a:ln w="12700">
            <a:solidFill>
              <a:srgbClr val="14284B"/>
            </a:solidFill>
            <a:prstDash val="solid"/>
          </a:ln>
        </p:spPr>
      </p:sp>
      <p:sp>
        <p:nvSpPr>
          <p:cNvPr id="24" name="Shape 22"/>
          <p:cNvSpPr/>
          <p:nvPr/>
        </p:nvSpPr>
        <p:spPr>
          <a:xfrm>
            <a:off x="8646160" y="2670048"/>
            <a:ext cx="0" cy="256123"/>
          </a:xfrm>
          <a:prstGeom prst="line">
            <a:avLst/>
          </a:prstGeom>
          <a:noFill/>
          <a:ln w="12700">
            <a:solidFill>
              <a:srgbClr val="9FB3C8"/>
            </a:solidFill>
            <a:prstDash val="solid"/>
          </a:ln>
        </p:spPr>
      </p:sp>
      <p:sp>
        <p:nvSpPr>
          <p:cNvPr id="25" name="Text 23"/>
          <p:cNvSpPr txBox="1"/>
          <p:nvPr/>
        </p:nvSpPr>
        <p:spPr>
          <a:xfrm>
            <a:off x="7960360" y="2926080"/>
            <a:ext cx="1371600" cy="914400"/>
          </a:xfrm>
          <a:prstGeom prst="rect">
            <a:avLst/>
          </a:prstGeom>
          <a:noFill/>
          <a:ln/>
        </p:spPr>
        <p:txBody>
          <a:bodyPr wrap="square" lIns="0" tIns="0" rIns="0" bIns="0" rtlCol="0" anchor="t"/>
          <a:lstStyle/>
          <a:p>
            <a:pPr algn="ctr" indent="0" marL="0">
              <a:buNone/>
            </a:pPr>
            <a:r>
              <a:rPr lang="en-US" sz="1200" b="1" dirty="0">
                <a:solidFill>
                  <a:srgbClr val="14284B"/>
                </a:solidFill>
                <a:latin typeface="Calibri" pitchFamily="34" charset="0"/>
                <a:ea typeface="Calibri" pitchFamily="34" charset="-122"/>
                <a:cs typeface="Calibri" pitchFamily="34" charset="-120"/>
              </a:rPr>
              <a:t>M6  W21</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Core training complete</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25 Jun 2027</a:t>
            </a:r>
            <a:endParaRPr lang="en-US" sz="1200" dirty="0"/>
          </a:p>
        </p:txBody>
      </p:sp>
      <p:sp>
        <p:nvSpPr>
          <p:cNvPr id="26" name="Shape 24"/>
          <p:cNvSpPr/>
          <p:nvPr/>
        </p:nvSpPr>
        <p:spPr>
          <a:xfrm>
            <a:off x="9664192" y="2359152"/>
            <a:ext cx="310896" cy="310896"/>
          </a:xfrm>
          <a:prstGeom prst="diamond">
            <a:avLst/>
          </a:prstGeom>
          <a:solidFill>
            <a:srgbClr val="E8A33D"/>
          </a:solidFill>
          <a:ln w="12700">
            <a:solidFill>
              <a:srgbClr val="14284B"/>
            </a:solidFill>
            <a:prstDash val="solid"/>
          </a:ln>
        </p:spPr>
      </p:sp>
      <p:sp>
        <p:nvSpPr>
          <p:cNvPr id="27" name="Shape 25"/>
          <p:cNvSpPr/>
          <p:nvPr/>
        </p:nvSpPr>
        <p:spPr>
          <a:xfrm>
            <a:off x="9819640" y="2103120"/>
            <a:ext cx="0" cy="256032"/>
          </a:xfrm>
          <a:prstGeom prst="line">
            <a:avLst/>
          </a:prstGeom>
          <a:noFill/>
          <a:ln w="12700">
            <a:solidFill>
              <a:srgbClr val="9FB3C8"/>
            </a:solidFill>
            <a:prstDash val="solid"/>
          </a:ln>
        </p:spPr>
      </p:sp>
      <p:sp>
        <p:nvSpPr>
          <p:cNvPr id="28" name="Text 26"/>
          <p:cNvSpPr txBox="1"/>
          <p:nvPr/>
        </p:nvSpPr>
        <p:spPr>
          <a:xfrm>
            <a:off x="9133840" y="1188720"/>
            <a:ext cx="1371600" cy="914400"/>
          </a:xfrm>
          <a:prstGeom prst="rect">
            <a:avLst/>
          </a:prstGeom>
          <a:noFill/>
          <a:ln/>
        </p:spPr>
        <p:txBody>
          <a:bodyPr wrap="square" lIns="0" tIns="0" rIns="0" bIns="0" rtlCol="0" anchor="b"/>
          <a:lstStyle/>
          <a:p>
            <a:pPr algn="ctr" indent="0" marL="0">
              <a:buNone/>
            </a:pPr>
            <a:r>
              <a:rPr lang="en-US" sz="1200" b="1" dirty="0">
                <a:solidFill>
                  <a:srgbClr val="14284B"/>
                </a:solidFill>
                <a:latin typeface="Calibri" pitchFamily="34" charset="0"/>
                <a:ea typeface="Calibri" pitchFamily="34" charset="-122"/>
                <a:cs typeface="Calibri" pitchFamily="34" charset="-120"/>
              </a:rPr>
              <a:t>M7  W24</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Go-live approved</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16 Jul 2027</a:t>
            </a:r>
            <a:endParaRPr lang="en-US" sz="1200" dirty="0"/>
          </a:p>
        </p:txBody>
      </p:sp>
      <p:sp>
        <p:nvSpPr>
          <p:cNvPr id="29" name="Shape 27"/>
          <p:cNvSpPr/>
          <p:nvPr/>
        </p:nvSpPr>
        <p:spPr>
          <a:xfrm>
            <a:off x="10055352" y="2359152"/>
            <a:ext cx="310896" cy="310896"/>
          </a:xfrm>
          <a:prstGeom prst="diamond">
            <a:avLst/>
          </a:prstGeom>
          <a:solidFill>
            <a:srgbClr val="E8A33D"/>
          </a:solidFill>
          <a:ln w="12700">
            <a:solidFill>
              <a:srgbClr val="14284B"/>
            </a:solidFill>
            <a:prstDash val="solid"/>
          </a:ln>
        </p:spPr>
      </p:sp>
      <p:sp>
        <p:nvSpPr>
          <p:cNvPr id="30" name="Shape 28"/>
          <p:cNvSpPr/>
          <p:nvPr/>
        </p:nvSpPr>
        <p:spPr>
          <a:xfrm>
            <a:off x="10210800" y="2670048"/>
            <a:ext cx="0" cy="256123"/>
          </a:xfrm>
          <a:prstGeom prst="line">
            <a:avLst/>
          </a:prstGeom>
          <a:noFill/>
          <a:ln w="12700">
            <a:solidFill>
              <a:srgbClr val="9FB3C8"/>
            </a:solidFill>
            <a:prstDash val="solid"/>
          </a:ln>
        </p:spPr>
      </p:sp>
      <p:sp>
        <p:nvSpPr>
          <p:cNvPr id="31" name="Text 29"/>
          <p:cNvSpPr txBox="1"/>
          <p:nvPr/>
        </p:nvSpPr>
        <p:spPr>
          <a:xfrm>
            <a:off x="9525000" y="2926080"/>
            <a:ext cx="1371600" cy="914400"/>
          </a:xfrm>
          <a:prstGeom prst="rect">
            <a:avLst/>
          </a:prstGeom>
          <a:noFill/>
          <a:ln/>
        </p:spPr>
        <p:txBody>
          <a:bodyPr wrap="square" lIns="0" tIns="0" rIns="0" bIns="0" rtlCol="0" anchor="t"/>
          <a:lstStyle/>
          <a:p>
            <a:pPr algn="ctr" indent="0" marL="0">
              <a:buNone/>
            </a:pPr>
            <a:r>
              <a:rPr lang="en-US" sz="1200" b="1" dirty="0">
                <a:solidFill>
                  <a:srgbClr val="14284B"/>
                </a:solidFill>
                <a:latin typeface="Calibri" pitchFamily="34" charset="0"/>
                <a:ea typeface="Calibri" pitchFamily="34" charset="-122"/>
                <a:cs typeface="Calibri" pitchFamily="34" charset="-120"/>
              </a:rPr>
              <a:t>M8  W25</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LMS live</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23 Jul 2027</a:t>
            </a:r>
            <a:endParaRPr lang="en-US" sz="1200" dirty="0"/>
          </a:p>
        </p:txBody>
      </p:sp>
      <p:sp>
        <p:nvSpPr>
          <p:cNvPr id="32" name="Shape 30"/>
          <p:cNvSpPr/>
          <p:nvPr/>
        </p:nvSpPr>
        <p:spPr>
          <a:xfrm>
            <a:off x="11228832" y="2359152"/>
            <a:ext cx="310896" cy="310896"/>
          </a:xfrm>
          <a:prstGeom prst="diamond">
            <a:avLst/>
          </a:prstGeom>
          <a:solidFill>
            <a:srgbClr val="E8A33D"/>
          </a:solidFill>
          <a:ln w="12700">
            <a:solidFill>
              <a:srgbClr val="14284B"/>
            </a:solidFill>
            <a:prstDash val="solid"/>
          </a:ln>
        </p:spPr>
      </p:sp>
      <p:sp>
        <p:nvSpPr>
          <p:cNvPr id="33" name="Shape 31"/>
          <p:cNvSpPr/>
          <p:nvPr/>
        </p:nvSpPr>
        <p:spPr>
          <a:xfrm>
            <a:off x="11384280" y="2103120"/>
            <a:ext cx="0" cy="256032"/>
          </a:xfrm>
          <a:prstGeom prst="line">
            <a:avLst/>
          </a:prstGeom>
          <a:noFill/>
          <a:ln w="12700">
            <a:solidFill>
              <a:srgbClr val="9FB3C8"/>
            </a:solidFill>
            <a:prstDash val="solid"/>
          </a:ln>
        </p:spPr>
      </p:sp>
      <p:sp>
        <p:nvSpPr>
          <p:cNvPr id="34" name="Text 32"/>
          <p:cNvSpPr txBox="1"/>
          <p:nvPr/>
        </p:nvSpPr>
        <p:spPr>
          <a:xfrm>
            <a:off x="10698480" y="1188720"/>
            <a:ext cx="1371600" cy="914400"/>
          </a:xfrm>
          <a:prstGeom prst="rect">
            <a:avLst/>
          </a:prstGeom>
          <a:noFill/>
          <a:ln/>
        </p:spPr>
        <p:txBody>
          <a:bodyPr wrap="square" lIns="0" tIns="0" rIns="0" bIns="0" rtlCol="0" anchor="b"/>
          <a:lstStyle/>
          <a:p>
            <a:pPr algn="ctr" indent="0" marL="0">
              <a:buNone/>
            </a:pPr>
            <a:r>
              <a:rPr lang="en-US" sz="1200" b="1" dirty="0">
                <a:solidFill>
                  <a:srgbClr val="14284B"/>
                </a:solidFill>
                <a:latin typeface="Calibri" pitchFamily="34" charset="0"/>
                <a:ea typeface="Calibri" pitchFamily="34" charset="-122"/>
                <a:cs typeface="Calibri" pitchFamily="34" charset="-120"/>
              </a:rPr>
              <a:t>M9  W28</a:t>
            </a:r>
            <a:endParaRPr lang="en-US" sz="1200" dirty="0"/>
          </a:p>
          <a:p>
            <a:pPr algn="ctr" indent="0" marL="0">
              <a:buNone/>
            </a:pPr>
            <a:r>
              <a:rPr lang="en-US" sz="1200" dirty="0">
                <a:solidFill>
                  <a:srgbClr val="1F2937"/>
                </a:solidFill>
                <a:latin typeface="Calibri" pitchFamily="34" charset="0"/>
                <a:ea typeface="Calibri" pitchFamily="34" charset="-122"/>
                <a:cs typeface="Calibri" pitchFamily="34" charset="-120"/>
              </a:rPr>
              <a:t>Project closed</a:t>
            </a:r>
            <a:endParaRPr lang="en-US" sz="1200" dirty="0"/>
          </a:p>
          <a:p>
            <a:pPr algn="ctr" indent="0" marL="0">
              <a:buNone/>
            </a:pPr>
            <a:r>
              <a:rPr lang="en-US" sz="1100" dirty="0">
                <a:solidFill>
                  <a:srgbClr val="5B6576"/>
                </a:solidFill>
                <a:latin typeface="Calibri" pitchFamily="34" charset="0"/>
                <a:ea typeface="Calibri" pitchFamily="34" charset="-122"/>
                <a:cs typeface="Calibri" pitchFamily="34" charset="-120"/>
              </a:rPr>
              <a:t>13 Aug 2027</a:t>
            </a:r>
            <a:endParaRPr lang="en-US" sz="1200" dirty="0"/>
          </a:p>
        </p:txBody>
      </p:sp>
      <p:sp>
        <p:nvSpPr>
          <p:cNvPr id="35" name="Shape 33"/>
          <p:cNvSpPr/>
          <p:nvPr/>
        </p:nvSpPr>
        <p:spPr>
          <a:xfrm>
            <a:off x="548640" y="4251960"/>
            <a:ext cx="2633472" cy="1691640"/>
          </a:xfrm>
          <a:prstGeom prst="roundRect">
            <a:avLst>
              <a:gd name="adj" fmla="val 4324"/>
            </a:avLst>
          </a:prstGeom>
          <a:solidFill>
            <a:srgbClr val="F3F5F8"/>
          </a:solidFill>
          <a:ln w="12700">
            <a:solidFill>
              <a:srgbClr val="F3F5F8"/>
            </a:solidFill>
            <a:prstDash val="solid"/>
          </a:ln>
        </p:spPr>
      </p:sp>
      <p:sp>
        <p:nvSpPr>
          <p:cNvPr id="36" name="Text 34"/>
          <p:cNvSpPr txBox="1"/>
          <p:nvPr/>
        </p:nvSpPr>
        <p:spPr>
          <a:xfrm>
            <a:off x="713232" y="4343400"/>
            <a:ext cx="2331720" cy="365760"/>
          </a:xfrm>
          <a:prstGeom prst="rect">
            <a:avLst/>
          </a:prstGeom>
          <a:noFill/>
          <a:ln/>
        </p:spPr>
        <p:txBody>
          <a:bodyPr wrap="square" lIns="0" tIns="0" rIns="0" bIns="0" rtlCol="0" anchor="t"/>
          <a:lstStyle/>
          <a:p>
            <a:pPr indent="0" marL="0">
              <a:buNone/>
            </a:pPr>
            <a:r>
              <a:rPr lang="en-US" sz="1500" b="1" dirty="0">
                <a:solidFill>
                  <a:srgbClr val="0F8B8D"/>
                </a:solidFill>
                <a:latin typeface="Calibri" pitchFamily="34" charset="0"/>
                <a:ea typeface="Calibri" pitchFamily="34" charset="-122"/>
                <a:cs typeface="Calibri" pitchFamily="34" charset="-120"/>
              </a:rPr>
              <a:t>Initiate and define</a:t>
            </a:r>
            <a:endParaRPr lang="en-US" sz="1500" dirty="0"/>
          </a:p>
        </p:txBody>
      </p:sp>
      <p:sp>
        <p:nvSpPr>
          <p:cNvPr id="37" name="Text 35"/>
          <p:cNvSpPr txBox="1"/>
          <p:nvPr/>
        </p:nvSpPr>
        <p:spPr>
          <a:xfrm>
            <a:off x="713232" y="4709160"/>
            <a:ext cx="2331720" cy="11887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Signed charter; requirements and traceability matrix; platform decision record</a:t>
            </a:r>
            <a:endParaRPr lang="en-US" sz="1400" dirty="0"/>
          </a:p>
        </p:txBody>
      </p:sp>
      <p:sp>
        <p:nvSpPr>
          <p:cNvPr id="38" name="Shape 36"/>
          <p:cNvSpPr/>
          <p:nvPr/>
        </p:nvSpPr>
        <p:spPr>
          <a:xfrm>
            <a:off x="3364992" y="4251960"/>
            <a:ext cx="2633472" cy="1691640"/>
          </a:xfrm>
          <a:prstGeom prst="roundRect">
            <a:avLst>
              <a:gd name="adj" fmla="val 4324"/>
            </a:avLst>
          </a:prstGeom>
          <a:solidFill>
            <a:srgbClr val="E8F3F4"/>
          </a:solidFill>
          <a:ln w="12700">
            <a:solidFill>
              <a:srgbClr val="E8F3F4"/>
            </a:solidFill>
            <a:prstDash val="solid"/>
          </a:ln>
        </p:spPr>
      </p:sp>
      <p:sp>
        <p:nvSpPr>
          <p:cNvPr id="39" name="Text 37"/>
          <p:cNvSpPr txBox="1"/>
          <p:nvPr/>
        </p:nvSpPr>
        <p:spPr>
          <a:xfrm>
            <a:off x="3529584" y="4343400"/>
            <a:ext cx="2331720" cy="365760"/>
          </a:xfrm>
          <a:prstGeom prst="rect">
            <a:avLst/>
          </a:prstGeom>
          <a:noFill/>
          <a:ln/>
        </p:spPr>
        <p:txBody>
          <a:bodyPr wrap="square" lIns="0" tIns="0" rIns="0" bIns="0" rtlCol="0" anchor="t"/>
          <a:lstStyle/>
          <a:p>
            <a:pPr indent="0" marL="0">
              <a:buNone/>
            </a:pPr>
            <a:r>
              <a:rPr lang="en-US" sz="1500" b="1" dirty="0">
                <a:solidFill>
                  <a:srgbClr val="0F8B8D"/>
                </a:solidFill>
                <a:latin typeface="Calibri" pitchFamily="34" charset="0"/>
                <a:ea typeface="Calibri" pitchFamily="34" charset="-122"/>
                <a:cs typeface="Calibri" pitchFamily="34" charset="-120"/>
              </a:rPr>
              <a:t>Design and build</a:t>
            </a:r>
            <a:endParaRPr lang="en-US" sz="1500" dirty="0"/>
          </a:p>
        </p:txBody>
      </p:sp>
      <p:sp>
        <p:nvSpPr>
          <p:cNvPr id="40" name="Text 38"/>
          <p:cNvSpPr txBox="1"/>
          <p:nvPr/>
        </p:nvSpPr>
        <p:spPr>
          <a:xfrm>
            <a:off x="3529584" y="4709160"/>
            <a:ext cx="2331720" cy="11887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Architecture and security design; four environments; configured, branded LMS; GitHub baseline v1.0</a:t>
            </a:r>
            <a:endParaRPr lang="en-US" sz="1400" dirty="0"/>
          </a:p>
        </p:txBody>
      </p:sp>
      <p:sp>
        <p:nvSpPr>
          <p:cNvPr id="41" name="Shape 39"/>
          <p:cNvSpPr/>
          <p:nvPr/>
        </p:nvSpPr>
        <p:spPr>
          <a:xfrm>
            <a:off x="6181344" y="4251960"/>
            <a:ext cx="2633472" cy="1691640"/>
          </a:xfrm>
          <a:prstGeom prst="roundRect">
            <a:avLst>
              <a:gd name="adj" fmla="val 4324"/>
            </a:avLst>
          </a:prstGeom>
          <a:solidFill>
            <a:srgbClr val="F3F5F8"/>
          </a:solidFill>
          <a:ln w="12700">
            <a:solidFill>
              <a:srgbClr val="F3F5F8"/>
            </a:solidFill>
            <a:prstDash val="solid"/>
          </a:ln>
        </p:spPr>
      </p:sp>
      <p:sp>
        <p:nvSpPr>
          <p:cNvPr id="42" name="Text 40"/>
          <p:cNvSpPr txBox="1"/>
          <p:nvPr/>
        </p:nvSpPr>
        <p:spPr>
          <a:xfrm>
            <a:off x="6345936" y="4343400"/>
            <a:ext cx="2331720" cy="365760"/>
          </a:xfrm>
          <a:prstGeom prst="rect">
            <a:avLst/>
          </a:prstGeom>
          <a:noFill/>
          <a:ln/>
        </p:spPr>
        <p:txBody>
          <a:bodyPr wrap="square" lIns="0" tIns="0" rIns="0" bIns="0" rtlCol="0" anchor="t"/>
          <a:lstStyle/>
          <a:p>
            <a:pPr indent="0" marL="0">
              <a:buNone/>
            </a:pPr>
            <a:r>
              <a:rPr lang="en-US" sz="1500" b="1" dirty="0">
                <a:solidFill>
                  <a:srgbClr val="0F8B8D"/>
                </a:solidFill>
                <a:latin typeface="Calibri" pitchFamily="34" charset="0"/>
                <a:ea typeface="Calibri" pitchFamily="34" charset="-122"/>
                <a:cs typeface="Calibri" pitchFamily="34" charset="-120"/>
              </a:rPr>
              <a:t>Prepare and prove</a:t>
            </a:r>
            <a:endParaRPr lang="en-US" sz="1500" dirty="0"/>
          </a:p>
        </p:txBody>
      </p:sp>
      <p:sp>
        <p:nvSpPr>
          <p:cNvPr id="43" name="Text 41"/>
          <p:cNvSpPr txBox="1"/>
          <p:nvPr/>
        </p:nvSpPr>
        <p:spPr>
          <a:xfrm>
            <a:off x="6345936" y="4709160"/>
            <a:ext cx="2331720" cy="11887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Migrated, reconciled content; test reports; training materials; pilot evaluation report</a:t>
            </a:r>
            <a:endParaRPr lang="en-US" sz="1400" dirty="0"/>
          </a:p>
        </p:txBody>
      </p:sp>
      <p:sp>
        <p:nvSpPr>
          <p:cNvPr id="44" name="Shape 42"/>
          <p:cNvSpPr/>
          <p:nvPr/>
        </p:nvSpPr>
        <p:spPr>
          <a:xfrm>
            <a:off x="8997696" y="4251960"/>
            <a:ext cx="2633472" cy="1691640"/>
          </a:xfrm>
          <a:prstGeom prst="roundRect">
            <a:avLst>
              <a:gd name="adj" fmla="val 4324"/>
            </a:avLst>
          </a:prstGeom>
          <a:solidFill>
            <a:srgbClr val="E8F3F4"/>
          </a:solidFill>
          <a:ln w="12700">
            <a:solidFill>
              <a:srgbClr val="E8F3F4"/>
            </a:solidFill>
            <a:prstDash val="solid"/>
          </a:ln>
        </p:spPr>
      </p:sp>
      <p:sp>
        <p:nvSpPr>
          <p:cNvPr id="45" name="Text 43"/>
          <p:cNvSpPr txBox="1"/>
          <p:nvPr/>
        </p:nvSpPr>
        <p:spPr>
          <a:xfrm>
            <a:off x="9162288" y="4343400"/>
            <a:ext cx="2331720" cy="365760"/>
          </a:xfrm>
          <a:prstGeom prst="rect">
            <a:avLst/>
          </a:prstGeom>
          <a:noFill/>
          <a:ln/>
        </p:spPr>
        <p:txBody>
          <a:bodyPr wrap="square" lIns="0" tIns="0" rIns="0" bIns="0" rtlCol="0" anchor="t"/>
          <a:lstStyle/>
          <a:p>
            <a:pPr indent="0" marL="0">
              <a:buNone/>
            </a:pPr>
            <a:r>
              <a:rPr lang="en-US" sz="1500" b="1" dirty="0">
                <a:solidFill>
                  <a:srgbClr val="0F8B8D"/>
                </a:solidFill>
                <a:latin typeface="Calibri" pitchFamily="34" charset="0"/>
                <a:ea typeface="Calibri" pitchFamily="34" charset="-122"/>
                <a:cs typeface="Calibri" pitchFamily="34" charset="-120"/>
              </a:rPr>
              <a:t>Accept and transition</a:t>
            </a:r>
            <a:endParaRPr lang="en-US" sz="1500" dirty="0"/>
          </a:p>
        </p:txBody>
      </p:sp>
      <p:sp>
        <p:nvSpPr>
          <p:cNvPr id="46" name="Text 44"/>
          <p:cNvSpPr txBox="1"/>
          <p:nvPr/>
        </p:nvSpPr>
        <p:spPr>
          <a:xfrm>
            <a:off x="9162288" y="4709160"/>
            <a:ext cx="2331720" cy="11887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UAT acceptance record; go-live approval; handover and lessons learned report</a:t>
            </a:r>
            <a:endParaRPr lang="en-US" sz="1400" dirty="0"/>
          </a:p>
        </p:txBody>
      </p:sp>
      <p:sp>
        <p:nvSpPr>
          <p:cNvPr id="47" name="Text 45"/>
          <p:cNvSpPr txBox="1"/>
          <p:nvPr/>
        </p:nvSpPr>
        <p:spPr>
          <a:xfrm>
            <a:off x="548640" y="6053328"/>
            <a:ext cx="11064240" cy="274320"/>
          </a:xfrm>
          <a:prstGeom prst="rect">
            <a:avLst/>
          </a:prstGeom>
          <a:noFill/>
          <a:ln/>
        </p:spPr>
        <p:txBody>
          <a:bodyPr wrap="square" lIns="0" tIns="0" rIns="0" bIns="0" rtlCol="0" anchor="b"/>
          <a:lstStyle/>
          <a:p>
            <a:pPr indent="0" marL="0">
              <a:buNone/>
            </a:pPr>
            <a:r>
              <a:rPr lang="en-US" sz="1000" i="1" dirty="0">
                <a:solidFill>
                  <a:srgbClr val="5B6576"/>
                </a:solidFill>
                <a:latin typeface="Calibri" pitchFamily="34" charset="0"/>
                <a:ea typeface="Calibri" pitchFamily="34" charset="-122"/>
                <a:cs typeface="Calibri" pitchFamily="34" charset="-120"/>
              </a:rPr>
              <a:t>Dates are end-of-week planning dates from the assumed start of Monday 1 February 2027; they shift if charter approval moves.</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Project schedule: 25 tasks over 28 weeks</a:t>
            </a:r>
            <a:endParaRPr lang="en-US" sz="2800" dirty="0"/>
          </a:p>
        </p:txBody>
      </p:sp>
      <p:pic>
        <p:nvPicPr>
          <p:cNvPr id="3" name="Image 0" descr="assets/gantt.png">    </p:cNvPr>
          <p:cNvPicPr>
            <a:picLocks noChangeAspect="1"/>
          </p:cNvPicPr>
          <p:nvPr/>
        </p:nvPicPr>
        <p:blipFill>
          <a:blip r:embed="rId1"/>
          <a:stretch>
            <a:fillRect/>
          </a:stretch>
        </p:blipFill>
        <p:spPr>
          <a:xfrm>
            <a:off x="411480" y="1097280"/>
            <a:ext cx="8549640" cy="5120640"/>
          </a:xfrm>
          <a:prstGeom prst="rect">
            <a:avLst/>
          </a:prstGeom>
        </p:spPr>
      </p:pic>
      <p:sp>
        <p:nvSpPr>
          <p:cNvPr id="4" name="Shape 1"/>
          <p:cNvSpPr/>
          <p:nvPr/>
        </p:nvSpPr>
        <p:spPr>
          <a:xfrm>
            <a:off x="9189720" y="1188720"/>
            <a:ext cx="2450592" cy="868680"/>
          </a:xfrm>
          <a:prstGeom prst="roundRect">
            <a:avLst>
              <a:gd name="adj" fmla="val 8421"/>
            </a:avLst>
          </a:prstGeom>
          <a:solidFill>
            <a:srgbClr val="E8F3F4"/>
          </a:solidFill>
          <a:ln w="12700">
            <a:solidFill>
              <a:srgbClr val="E8F3F4"/>
            </a:solidFill>
            <a:prstDash val="solid"/>
          </a:ln>
        </p:spPr>
      </p:sp>
      <p:sp>
        <p:nvSpPr>
          <p:cNvPr id="5" name="Text 2"/>
          <p:cNvSpPr txBox="1"/>
          <p:nvPr/>
        </p:nvSpPr>
        <p:spPr>
          <a:xfrm>
            <a:off x="9326880" y="1188720"/>
            <a:ext cx="2240280" cy="868680"/>
          </a:xfrm>
          <a:prstGeom prst="rect">
            <a:avLst/>
          </a:prstGeom>
          <a:noFill/>
          <a:ln/>
        </p:spPr>
        <p:txBody>
          <a:bodyPr wrap="square" lIns="0" tIns="0" rIns="0" bIns="0" rtlCol="0" anchor="ctr"/>
          <a:lstStyle/>
          <a:p>
            <a:pPr indent="0" marL="0">
              <a:buNone/>
            </a:pPr>
            <a:r>
              <a:rPr lang="en-US" sz="2200" b="1" dirty="0">
                <a:solidFill>
                  <a:srgbClr val="14284B"/>
                </a:solidFill>
                <a:latin typeface="Calibri" pitchFamily="34" charset="0"/>
                <a:ea typeface="Calibri" pitchFamily="34" charset="-122"/>
                <a:cs typeface="Calibri" pitchFamily="34" charset="-120"/>
              </a:rPr>
              <a:t>28</a:t>
            </a:r>
            <a:endParaRPr lang="en-US" sz="1400" dirty="0"/>
          </a:p>
          <a:p>
            <a:pPr indent="0" marL="0">
              <a:buNone/>
            </a:pPr>
            <a:r>
              <a:rPr lang="en-US" sz="1200" dirty="0">
                <a:solidFill>
                  <a:srgbClr val="14284B"/>
                </a:solidFill>
                <a:latin typeface="Calibri" pitchFamily="34" charset="0"/>
                <a:ea typeface="Calibri" pitchFamily="34" charset="-122"/>
                <a:cs typeface="Calibri" pitchFamily="34" charset="-120"/>
              </a:rPr>
              <a:t>weeks in total</a:t>
            </a:r>
            <a:endParaRPr lang="en-US" sz="1400" dirty="0"/>
          </a:p>
        </p:txBody>
      </p:sp>
      <p:sp>
        <p:nvSpPr>
          <p:cNvPr id="6" name="Shape 3"/>
          <p:cNvSpPr/>
          <p:nvPr/>
        </p:nvSpPr>
        <p:spPr>
          <a:xfrm>
            <a:off x="9189720" y="2194560"/>
            <a:ext cx="2450592" cy="868680"/>
          </a:xfrm>
          <a:prstGeom prst="roundRect">
            <a:avLst>
              <a:gd name="adj" fmla="val 8421"/>
            </a:avLst>
          </a:prstGeom>
          <a:solidFill>
            <a:srgbClr val="E8F3F4"/>
          </a:solidFill>
          <a:ln w="12700">
            <a:solidFill>
              <a:srgbClr val="E8F3F4"/>
            </a:solidFill>
            <a:prstDash val="solid"/>
          </a:ln>
        </p:spPr>
      </p:sp>
      <p:sp>
        <p:nvSpPr>
          <p:cNvPr id="7" name="Text 4"/>
          <p:cNvSpPr txBox="1"/>
          <p:nvPr/>
        </p:nvSpPr>
        <p:spPr>
          <a:xfrm>
            <a:off x="9326880" y="2194560"/>
            <a:ext cx="2240280" cy="868680"/>
          </a:xfrm>
          <a:prstGeom prst="rect">
            <a:avLst/>
          </a:prstGeom>
          <a:noFill/>
          <a:ln/>
        </p:spPr>
        <p:txBody>
          <a:bodyPr wrap="square" lIns="0" tIns="0" rIns="0" bIns="0" rtlCol="0" anchor="ctr"/>
          <a:lstStyle/>
          <a:p>
            <a:pPr indent="0" marL="0">
              <a:buNone/>
            </a:pPr>
            <a:r>
              <a:rPr lang="en-US" sz="2200" b="1" dirty="0">
                <a:solidFill>
                  <a:srgbClr val="14284B"/>
                </a:solidFill>
                <a:latin typeface="Calibri" pitchFamily="34" charset="0"/>
                <a:ea typeface="Calibri" pitchFamily="34" charset="-122"/>
                <a:cs typeface="Calibri" pitchFamily="34" charset="-120"/>
              </a:rPr>
              <a:t>1 Feb 2027</a:t>
            </a:r>
            <a:endParaRPr lang="en-US" sz="1400" dirty="0"/>
          </a:p>
          <a:p>
            <a:pPr indent="0" marL="0">
              <a:buNone/>
            </a:pPr>
            <a:r>
              <a:rPr lang="en-US" sz="1200" dirty="0">
                <a:solidFill>
                  <a:srgbClr val="14284B"/>
                </a:solidFill>
                <a:latin typeface="Calibri" pitchFamily="34" charset="0"/>
                <a:ea typeface="Calibri" pitchFamily="34" charset="-122"/>
                <a:cs typeface="Calibri" pitchFamily="34" charset="-120"/>
              </a:rPr>
              <a:t>assumed start (Week 1)</a:t>
            </a:r>
            <a:endParaRPr lang="en-US" sz="1400" dirty="0"/>
          </a:p>
        </p:txBody>
      </p:sp>
      <p:sp>
        <p:nvSpPr>
          <p:cNvPr id="8" name="Shape 5"/>
          <p:cNvSpPr/>
          <p:nvPr/>
        </p:nvSpPr>
        <p:spPr>
          <a:xfrm>
            <a:off x="9189720" y="3200400"/>
            <a:ext cx="2450592" cy="868680"/>
          </a:xfrm>
          <a:prstGeom prst="roundRect">
            <a:avLst>
              <a:gd name="adj" fmla="val 8421"/>
            </a:avLst>
          </a:prstGeom>
          <a:solidFill>
            <a:srgbClr val="14284B"/>
          </a:solidFill>
          <a:ln w="12700">
            <a:solidFill>
              <a:srgbClr val="14284B"/>
            </a:solidFill>
            <a:prstDash val="solid"/>
          </a:ln>
        </p:spPr>
      </p:sp>
      <p:sp>
        <p:nvSpPr>
          <p:cNvPr id="9" name="Text 6"/>
          <p:cNvSpPr txBox="1"/>
          <p:nvPr/>
        </p:nvSpPr>
        <p:spPr>
          <a:xfrm>
            <a:off x="9326880" y="3200400"/>
            <a:ext cx="2240280" cy="8686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19–23 Jul</a:t>
            </a:r>
            <a:endParaRPr lang="en-US" sz="1400" dirty="0"/>
          </a:p>
          <a:p>
            <a:pPr indent="0" marL="0">
              <a:buNone/>
            </a:pPr>
            <a:r>
              <a:rPr lang="en-US" sz="1200" dirty="0">
                <a:solidFill>
                  <a:srgbClr val="FFFFFF"/>
                </a:solidFill>
                <a:latin typeface="Calibri" pitchFamily="34" charset="0"/>
                <a:ea typeface="Calibri" pitchFamily="34" charset="-122"/>
                <a:cs typeface="Calibri" pitchFamily="34" charset="-120"/>
              </a:rPr>
              <a:t>go-live (Week 25)</a:t>
            </a:r>
            <a:endParaRPr lang="en-US" sz="1400" dirty="0"/>
          </a:p>
        </p:txBody>
      </p:sp>
      <p:sp>
        <p:nvSpPr>
          <p:cNvPr id="10" name="Shape 7"/>
          <p:cNvSpPr/>
          <p:nvPr/>
        </p:nvSpPr>
        <p:spPr>
          <a:xfrm>
            <a:off x="9189720" y="4206240"/>
            <a:ext cx="2450592" cy="868680"/>
          </a:xfrm>
          <a:prstGeom prst="roundRect">
            <a:avLst>
              <a:gd name="adj" fmla="val 8421"/>
            </a:avLst>
          </a:prstGeom>
          <a:solidFill>
            <a:srgbClr val="E8F3F4"/>
          </a:solidFill>
          <a:ln w="12700">
            <a:solidFill>
              <a:srgbClr val="E8F3F4"/>
            </a:solidFill>
            <a:prstDash val="solid"/>
          </a:ln>
        </p:spPr>
      </p:sp>
      <p:sp>
        <p:nvSpPr>
          <p:cNvPr id="11" name="Text 8"/>
          <p:cNvSpPr txBox="1"/>
          <p:nvPr/>
        </p:nvSpPr>
        <p:spPr>
          <a:xfrm>
            <a:off x="9326880" y="4206240"/>
            <a:ext cx="2240280" cy="868680"/>
          </a:xfrm>
          <a:prstGeom prst="rect">
            <a:avLst/>
          </a:prstGeom>
          <a:noFill/>
          <a:ln/>
        </p:spPr>
        <p:txBody>
          <a:bodyPr wrap="square" lIns="0" tIns="0" rIns="0" bIns="0" rtlCol="0" anchor="ctr"/>
          <a:lstStyle/>
          <a:p>
            <a:pPr indent="0" marL="0">
              <a:buNone/>
            </a:pPr>
            <a:r>
              <a:rPr lang="en-US" sz="2200" b="1" dirty="0">
                <a:solidFill>
                  <a:srgbClr val="14284B"/>
                </a:solidFill>
                <a:latin typeface="Calibri" pitchFamily="34" charset="0"/>
                <a:ea typeface="Calibri" pitchFamily="34" charset="-122"/>
                <a:cs typeface="Calibri" pitchFamily="34" charset="-120"/>
              </a:rPr>
              <a:t>9–13 Aug</a:t>
            </a:r>
            <a:endParaRPr lang="en-US" sz="1400" dirty="0"/>
          </a:p>
          <a:p>
            <a:pPr indent="0" marL="0">
              <a:buNone/>
            </a:pPr>
            <a:r>
              <a:rPr lang="en-US" sz="1200" dirty="0">
                <a:solidFill>
                  <a:srgbClr val="14284B"/>
                </a:solidFill>
                <a:latin typeface="Calibri" pitchFamily="34" charset="0"/>
                <a:ea typeface="Calibri" pitchFamily="34" charset="-122"/>
                <a:cs typeface="Calibri" pitchFamily="34" charset="-120"/>
              </a:rPr>
              <a:t>closure (Week 28)</a:t>
            </a:r>
            <a:endParaRPr lang="en-US" sz="1400" dirty="0"/>
          </a:p>
        </p:txBody>
      </p:sp>
      <p:sp>
        <p:nvSpPr>
          <p:cNvPr id="12" name="Text 9"/>
          <p:cNvSpPr txBox="1"/>
          <p:nvPr/>
        </p:nvSpPr>
        <p:spPr>
          <a:xfrm>
            <a:off x="9189720" y="5257800"/>
            <a:ext cx="2450592" cy="914400"/>
          </a:xfrm>
          <a:prstGeom prst="rect">
            <a:avLst/>
          </a:prstGeom>
          <a:noFill/>
          <a:ln/>
        </p:spPr>
        <p:txBody>
          <a:bodyPr wrap="square" lIns="0" tIns="0" rIns="0" bIns="0" rtlCol="0" anchor="t"/>
          <a:lstStyle/>
          <a:p>
            <a:pPr indent="0" marL="0">
              <a:buNone/>
            </a:pPr>
            <a:r>
              <a:rPr lang="en-US" sz="1100" i="1" dirty="0">
                <a:solidFill>
                  <a:srgbClr val="5B6576"/>
                </a:solidFill>
                <a:latin typeface="Calibri" pitchFamily="34" charset="0"/>
                <a:ea typeface="Calibri" pitchFamily="34" charset="-122"/>
                <a:cs typeface="Calibri" pitchFamily="34" charset="-120"/>
              </a:rPr>
              <a:t>Red bars = critical path; yellow diamonds = milestones; dashed arrows = start-to-start (+1 week) dependencies. Dates are planning dates.</a:t>
            </a:r>
            <a:endParaRPr lang="en-US" sz="11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Critical path: zero float from charter to closure</a:t>
            </a:r>
            <a:endParaRPr lang="en-US" sz="2800" dirty="0"/>
          </a:p>
        </p:txBody>
      </p:sp>
      <p:sp>
        <p:nvSpPr>
          <p:cNvPr id="3" name="Shape 1"/>
          <p:cNvSpPr/>
          <p:nvPr/>
        </p:nvSpPr>
        <p:spPr>
          <a:xfrm>
            <a:off x="548640" y="1234440"/>
            <a:ext cx="1298448" cy="658368"/>
          </a:xfrm>
          <a:prstGeom prst="roundRect">
            <a:avLst>
              <a:gd name="adj" fmla="val 11111"/>
            </a:avLst>
          </a:prstGeom>
          <a:solidFill>
            <a:srgbClr val="C0392B"/>
          </a:solidFill>
          <a:ln w="12700">
            <a:solidFill>
              <a:srgbClr val="C0392B"/>
            </a:solidFill>
            <a:prstDash val="solid"/>
          </a:ln>
        </p:spPr>
      </p:sp>
      <p:sp>
        <p:nvSpPr>
          <p:cNvPr id="4" name="Text 2"/>
          <p:cNvSpPr txBox="1"/>
          <p:nvPr/>
        </p:nvSpPr>
        <p:spPr>
          <a:xfrm>
            <a:off x="548640" y="123444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W1</a:t>
            </a:r>
            <a:endParaRPr lang="en-US" sz="1400" dirty="0"/>
          </a:p>
        </p:txBody>
      </p:sp>
      <p:sp>
        <p:nvSpPr>
          <p:cNvPr id="5" name="Shape 3"/>
          <p:cNvSpPr/>
          <p:nvPr/>
        </p:nvSpPr>
        <p:spPr>
          <a:xfrm>
            <a:off x="1865376" y="1563624"/>
            <a:ext cx="246888" cy="0"/>
          </a:xfrm>
          <a:prstGeom prst="line">
            <a:avLst/>
          </a:prstGeom>
          <a:noFill/>
          <a:ln w="25400">
            <a:solidFill>
              <a:srgbClr val="14284B"/>
            </a:solidFill>
            <a:prstDash val="solid"/>
            <a:tailEnd type="triangle"/>
          </a:ln>
        </p:spPr>
      </p:sp>
      <p:sp>
        <p:nvSpPr>
          <p:cNvPr id="6" name="Shape 4"/>
          <p:cNvSpPr/>
          <p:nvPr/>
        </p:nvSpPr>
        <p:spPr>
          <a:xfrm>
            <a:off x="2130552" y="1234440"/>
            <a:ext cx="1298448" cy="658368"/>
          </a:xfrm>
          <a:prstGeom prst="roundRect">
            <a:avLst>
              <a:gd name="adj" fmla="val 11111"/>
            </a:avLst>
          </a:prstGeom>
          <a:solidFill>
            <a:srgbClr val="C0392B"/>
          </a:solidFill>
          <a:ln w="12700">
            <a:solidFill>
              <a:srgbClr val="C0392B"/>
            </a:solidFill>
            <a:prstDash val="solid"/>
          </a:ln>
        </p:spPr>
      </p:sp>
      <p:sp>
        <p:nvSpPr>
          <p:cNvPr id="7" name="Text 5"/>
          <p:cNvSpPr txBox="1"/>
          <p:nvPr/>
        </p:nvSpPr>
        <p:spPr>
          <a:xfrm>
            <a:off x="2130552" y="123444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W2</a:t>
            </a:r>
            <a:endParaRPr lang="en-US" sz="1400" dirty="0"/>
          </a:p>
        </p:txBody>
      </p:sp>
      <p:sp>
        <p:nvSpPr>
          <p:cNvPr id="8" name="Shape 6"/>
          <p:cNvSpPr/>
          <p:nvPr/>
        </p:nvSpPr>
        <p:spPr>
          <a:xfrm>
            <a:off x="3447288" y="1563624"/>
            <a:ext cx="246888" cy="0"/>
          </a:xfrm>
          <a:prstGeom prst="line">
            <a:avLst/>
          </a:prstGeom>
          <a:noFill/>
          <a:ln w="25400">
            <a:solidFill>
              <a:srgbClr val="14284B"/>
            </a:solidFill>
            <a:prstDash val="solid"/>
            <a:tailEnd type="triangle"/>
          </a:ln>
        </p:spPr>
      </p:sp>
      <p:sp>
        <p:nvSpPr>
          <p:cNvPr id="9" name="Shape 7"/>
          <p:cNvSpPr/>
          <p:nvPr/>
        </p:nvSpPr>
        <p:spPr>
          <a:xfrm>
            <a:off x="3712464" y="1234440"/>
            <a:ext cx="1298448" cy="658368"/>
          </a:xfrm>
          <a:prstGeom prst="roundRect">
            <a:avLst>
              <a:gd name="adj" fmla="val 11111"/>
            </a:avLst>
          </a:prstGeom>
          <a:solidFill>
            <a:srgbClr val="C0392B"/>
          </a:solidFill>
          <a:ln w="12700">
            <a:solidFill>
              <a:srgbClr val="C0392B"/>
            </a:solidFill>
            <a:prstDash val="solid"/>
          </a:ln>
        </p:spPr>
      </p:sp>
      <p:sp>
        <p:nvSpPr>
          <p:cNvPr id="10" name="Text 8"/>
          <p:cNvSpPr txBox="1"/>
          <p:nvPr/>
        </p:nvSpPr>
        <p:spPr>
          <a:xfrm>
            <a:off x="3712464" y="123444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W3–4</a:t>
            </a:r>
            <a:endParaRPr lang="en-US" sz="1400" dirty="0"/>
          </a:p>
        </p:txBody>
      </p:sp>
      <p:sp>
        <p:nvSpPr>
          <p:cNvPr id="11" name="Shape 9"/>
          <p:cNvSpPr/>
          <p:nvPr/>
        </p:nvSpPr>
        <p:spPr>
          <a:xfrm>
            <a:off x="5029200" y="1563624"/>
            <a:ext cx="246888" cy="0"/>
          </a:xfrm>
          <a:prstGeom prst="line">
            <a:avLst/>
          </a:prstGeom>
          <a:noFill/>
          <a:ln w="25400">
            <a:solidFill>
              <a:srgbClr val="14284B"/>
            </a:solidFill>
            <a:prstDash val="solid"/>
            <a:tailEnd type="triangle"/>
          </a:ln>
        </p:spPr>
      </p:sp>
      <p:sp>
        <p:nvSpPr>
          <p:cNvPr id="12" name="Shape 10"/>
          <p:cNvSpPr/>
          <p:nvPr/>
        </p:nvSpPr>
        <p:spPr>
          <a:xfrm>
            <a:off x="5294376" y="1234440"/>
            <a:ext cx="1298448" cy="658368"/>
          </a:xfrm>
          <a:prstGeom prst="roundRect">
            <a:avLst>
              <a:gd name="adj" fmla="val 11111"/>
            </a:avLst>
          </a:prstGeom>
          <a:solidFill>
            <a:srgbClr val="C0392B"/>
          </a:solidFill>
          <a:ln w="12700">
            <a:solidFill>
              <a:srgbClr val="C0392B"/>
            </a:solidFill>
            <a:prstDash val="solid"/>
          </a:ln>
        </p:spPr>
      </p:sp>
      <p:sp>
        <p:nvSpPr>
          <p:cNvPr id="13" name="Text 11"/>
          <p:cNvSpPr txBox="1"/>
          <p:nvPr/>
        </p:nvSpPr>
        <p:spPr>
          <a:xfrm>
            <a:off x="5294376" y="123444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2.2</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W5</a:t>
            </a:r>
            <a:endParaRPr lang="en-US" sz="1400" dirty="0"/>
          </a:p>
        </p:txBody>
      </p:sp>
      <p:sp>
        <p:nvSpPr>
          <p:cNvPr id="14" name="Shape 12"/>
          <p:cNvSpPr/>
          <p:nvPr/>
        </p:nvSpPr>
        <p:spPr>
          <a:xfrm>
            <a:off x="6611112" y="1563624"/>
            <a:ext cx="246888" cy="0"/>
          </a:xfrm>
          <a:prstGeom prst="line">
            <a:avLst/>
          </a:prstGeom>
          <a:noFill/>
          <a:ln w="25400">
            <a:solidFill>
              <a:srgbClr val="14284B"/>
            </a:solidFill>
            <a:prstDash val="solid"/>
            <a:tailEnd type="triangle"/>
          </a:ln>
        </p:spPr>
      </p:sp>
      <p:sp>
        <p:nvSpPr>
          <p:cNvPr id="15" name="Shape 13"/>
          <p:cNvSpPr/>
          <p:nvPr/>
        </p:nvSpPr>
        <p:spPr>
          <a:xfrm>
            <a:off x="6876288" y="1234440"/>
            <a:ext cx="1298448" cy="658368"/>
          </a:xfrm>
          <a:prstGeom prst="roundRect">
            <a:avLst>
              <a:gd name="adj" fmla="val 11111"/>
            </a:avLst>
          </a:prstGeom>
          <a:solidFill>
            <a:srgbClr val="C0392B"/>
          </a:solidFill>
          <a:ln w="12700">
            <a:solidFill>
              <a:srgbClr val="C0392B"/>
            </a:solidFill>
            <a:prstDash val="solid"/>
          </a:ln>
        </p:spPr>
      </p:sp>
      <p:sp>
        <p:nvSpPr>
          <p:cNvPr id="16" name="Text 14"/>
          <p:cNvSpPr txBox="1"/>
          <p:nvPr/>
        </p:nvSpPr>
        <p:spPr>
          <a:xfrm>
            <a:off x="6876288" y="123444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W6</a:t>
            </a:r>
            <a:endParaRPr lang="en-US" sz="1400" dirty="0"/>
          </a:p>
        </p:txBody>
      </p:sp>
      <p:sp>
        <p:nvSpPr>
          <p:cNvPr id="17" name="Shape 15"/>
          <p:cNvSpPr/>
          <p:nvPr/>
        </p:nvSpPr>
        <p:spPr>
          <a:xfrm>
            <a:off x="8193024" y="1563624"/>
            <a:ext cx="246888" cy="0"/>
          </a:xfrm>
          <a:prstGeom prst="line">
            <a:avLst/>
          </a:prstGeom>
          <a:noFill/>
          <a:ln w="25400">
            <a:solidFill>
              <a:srgbClr val="14284B"/>
            </a:solidFill>
            <a:prstDash val="solid"/>
            <a:tailEnd type="triangle"/>
          </a:ln>
        </p:spPr>
      </p:sp>
      <p:sp>
        <p:nvSpPr>
          <p:cNvPr id="18" name="Shape 16"/>
          <p:cNvSpPr/>
          <p:nvPr/>
        </p:nvSpPr>
        <p:spPr>
          <a:xfrm>
            <a:off x="8458200" y="1234440"/>
            <a:ext cx="1298448" cy="658368"/>
          </a:xfrm>
          <a:prstGeom prst="roundRect">
            <a:avLst>
              <a:gd name="adj" fmla="val 11111"/>
            </a:avLst>
          </a:prstGeom>
          <a:solidFill>
            <a:srgbClr val="C0392B"/>
          </a:solidFill>
          <a:ln w="12700">
            <a:solidFill>
              <a:srgbClr val="C0392B"/>
            </a:solidFill>
            <a:prstDash val="solid"/>
          </a:ln>
        </p:spPr>
      </p:sp>
      <p:sp>
        <p:nvSpPr>
          <p:cNvPr id="19" name="Text 17"/>
          <p:cNvSpPr txBox="1"/>
          <p:nvPr/>
        </p:nvSpPr>
        <p:spPr>
          <a:xfrm>
            <a:off x="8458200" y="123444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W7–8</a:t>
            </a:r>
            <a:endParaRPr lang="en-US" sz="1400" dirty="0"/>
          </a:p>
        </p:txBody>
      </p:sp>
      <p:sp>
        <p:nvSpPr>
          <p:cNvPr id="20" name="Shape 18"/>
          <p:cNvSpPr/>
          <p:nvPr/>
        </p:nvSpPr>
        <p:spPr>
          <a:xfrm>
            <a:off x="9774936" y="1563624"/>
            <a:ext cx="246888" cy="0"/>
          </a:xfrm>
          <a:prstGeom prst="line">
            <a:avLst/>
          </a:prstGeom>
          <a:noFill/>
          <a:ln w="25400">
            <a:solidFill>
              <a:srgbClr val="7E57C2"/>
            </a:solidFill>
            <a:prstDash val="dash"/>
            <a:tailEnd type="triangle"/>
          </a:ln>
        </p:spPr>
      </p:sp>
      <p:sp>
        <p:nvSpPr>
          <p:cNvPr id="21" name="Text 19"/>
          <p:cNvSpPr txBox="1"/>
          <p:nvPr/>
        </p:nvSpPr>
        <p:spPr>
          <a:xfrm>
            <a:off x="9573768" y="941832"/>
            <a:ext cx="640080" cy="256032"/>
          </a:xfrm>
          <a:prstGeom prst="rect">
            <a:avLst/>
          </a:prstGeom>
          <a:noFill/>
          <a:ln/>
        </p:spPr>
        <p:txBody>
          <a:bodyPr wrap="square" lIns="0" tIns="0" rIns="0" bIns="0" rtlCol="0" anchor="t"/>
          <a:lstStyle/>
          <a:p>
            <a:pPr algn="ctr" indent="0" marL="0">
              <a:buNone/>
            </a:pPr>
            <a:r>
              <a:rPr lang="en-US" sz="1200" b="1" dirty="0">
                <a:solidFill>
                  <a:srgbClr val="7E57C2"/>
                </a:solidFill>
                <a:latin typeface="Calibri" pitchFamily="34" charset="0"/>
                <a:ea typeface="Calibri" pitchFamily="34" charset="-122"/>
                <a:cs typeface="Calibri" pitchFamily="34" charset="-120"/>
              </a:rPr>
              <a:t>SS+1</a:t>
            </a:r>
            <a:endParaRPr lang="en-US" sz="1200" dirty="0"/>
          </a:p>
        </p:txBody>
      </p:sp>
      <p:sp>
        <p:nvSpPr>
          <p:cNvPr id="22" name="Shape 20"/>
          <p:cNvSpPr/>
          <p:nvPr/>
        </p:nvSpPr>
        <p:spPr>
          <a:xfrm>
            <a:off x="10040112" y="1234440"/>
            <a:ext cx="1298448" cy="658368"/>
          </a:xfrm>
          <a:prstGeom prst="roundRect">
            <a:avLst>
              <a:gd name="adj" fmla="val 11111"/>
            </a:avLst>
          </a:prstGeom>
          <a:solidFill>
            <a:srgbClr val="C0392B"/>
          </a:solidFill>
          <a:ln w="12700">
            <a:solidFill>
              <a:srgbClr val="C0392B"/>
            </a:solidFill>
            <a:prstDash val="solid"/>
          </a:ln>
        </p:spPr>
      </p:sp>
      <p:sp>
        <p:nvSpPr>
          <p:cNvPr id="23" name="Text 21"/>
          <p:cNvSpPr txBox="1"/>
          <p:nvPr/>
        </p:nvSpPr>
        <p:spPr>
          <a:xfrm>
            <a:off x="10040112" y="123444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W8–9</a:t>
            </a:r>
            <a:endParaRPr lang="en-US" sz="1400" dirty="0"/>
          </a:p>
        </p:txBody>
      </p:sp>
      <p:sp>
        <p:nvSpPr>
          <p:cNvPr id="24" name="Shape 22"/>
          <p:cNvSpPr/>
          <p:nvPr/>
        </p:nvSpPr>
        <p:spPr>
          <a:xfrm>
            <a:off x="548640" y="2194560"/>
            <a:ext cx="1298448" cy="658368"/>
          </a:xfrm>
          <a:prstGeom prst="roundRect">
            <a:avLst>
              <a:gd name="adj" fmla="val 11111"/>
            </a:avLst>
          </a:prstGeom>
          <a:solidFill>
            <a:srgbClr val="C0392B"/>
          </a:solidFill>
          <a:ln w="12700">
            <a:solidFill>
              <a:srgbClr val="C0392B"/>
            </a:solidFill>
            <a:prstDash val="solid"/>
          </a:ln>
        </p:spPr>
      </p:sp>
      <p:sp>
        <p:nvSpPr>
          <p:cNvPr id="25" name="Text 23"/>
          <p:cNvSpPr txBox="1"/>
          <p:nvPr/>
        </p:nvSpPr>
        <p:spPr>
          <a:xfrm>
            <a:off x="548640" y="219456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5.2</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W10</a:t>
            </a:r>
            <a:endParaRPr lang="en-US" sz="1400" dirty="0"/>
          </a:p>
        </p:txBody>
      </p:sp>
      <p:sp>
        <p:nvSpPr>
          <p:cNvPr id="26" name="Shape 24"/>
          <p:cNvSpPr/>
          <p:nvPr/>
        </p:nvSpPr>
        <p:spPr>
          <a:xfrm>
            <a:off x="1865376" y="2523744"/>
            <a:ext cx="246888" cy="0"/>
          </a:xfrm>
          <a:prstGeom prst="line">
            <a:avLst/>
          </a:prstGeom>
          <a:noFill/>
          <a:ln w="25400">
            <a:solidFill>
              <a:srgbClr val="14284B"/>
            </a:solidFill>
            <a:prstDash val="solid"/>
            <a:tailEnd type="triangle"/>
          </a:ln>
        </p:spPr>
      </p:sp>
      <p:sp>
        <p:nvSpPr>
          <p:cNvPr id="27" name="Shape 25"/>
          <p:cNvSpPr/>
          <p:nvPr/>
        </p:nvSpPr>
        <p:spPr>
          <a:xfrm>
            <a:off x="2130552" y="2194560"/>
            <a:ext cx="1298448" cy="658368"/>
          </a:xfrm>
          <a:prstGeom prst="roundRect">
            <a:avLst>
              <a:gd name="adj" fmla="val 11111"/>
            </a:avLst>
          </a:prstGeom>
          <a:solidFill>
            <a:srgbClr val="C0392B"/>
          </a:solidFill>
          <a:ln w="12700">
            <a:solidFill>
              <a:srgbClr val="C0392B"/>
            </a:solidFill>
            <a:prstDash val="solid"/>
          </a:ln>
        </p:spPr>
      </p:sp>
      <p:sp>
        <p:nvSpPr>
          <p:cNvPr id="28" name="Text 26"/>
          <p:cNvSpPr txBox="1"/>
          <p:nvPr/>
        </p:nvSpPr>
        <p:spPr>
          <a:xfrm>
            <a:off x="2130552" y="219456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6.1 / 6.2</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W11–12</a:t>
            </a:r>
            <a:endParaRPr lang="en-US" sz="1400" dirty="0"/>
          </a:p>
        </p:txBody>
      </p:sp>
      <p:sp>
        <p:nvSpPr>
          <p:cNvPr id="29" name="Shape 27"/>
          <p:cNvSpPr/>
          <p:nvPr/>
        </p:nvSpPr>
        <p:spPr>
          <a:xfrm>
            <a:off x="3447288" y="2523744"/>
            <a:ext cx="246888" cy="0"/>
          </a:xfrm>
          <a:prstGeom prst="line">
            <a:avLst/>
          </a:prstGeom>
          <a:noFill/>
          <a:ln w="25400">
            <a:solidFill>
              <a:srgbClr val="14284B"/>
            </a:solidFill>
            <a:prstDash val="solid"/>
            <a:tailEnd type="triangle"/>
          </a:ln>
        </p:spPr>
      </p:sp>
      <p:sp>
        <p:nvSpPr>
          <p:cNvPr id="30" name="Shape 28"/>
          <p:cNvSpPr/>
          <p:nvPr/>
        </p:nvSpPr>
        <p:spPr>
          <a:xfrm>
            <a:off x="3712464" y="2194560"/>
            <a:ext cx="1298448" cy="658368"/>
          </a:xfrm>
          <a:prstGeom prst="roundRect">
            <a:avLst>
              <a:gd name="adj" fmla="val 11111"/>
            </a:avLst>
          </a:prstGeom>
          <a:solidFill>
            <a:srgbClr val="C0392B"/>
          </a:solidFill>
          <a:ln w="12700">
            <a:solidFill>
              <a:srgbClr val="C0392B"/>
            </a:solidFill>
            <a:prstDash val="solid"/>
          </a:ln>
        </p:spPr>
      </p:sp>
      <p:sp>
        <p:nvSpPr>
          <p:cNvPr id="31" name="Text 29"/>
          <p:cNvSpPr txBox="1"/>
          <p:nvPr/>
        </p:nvSpPr>
        <p:spPr>
          <a:xfrm>
            <a:off x="3712464" y="219456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6.3</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W13</a:t>
            </a:r>
            <a:endParaRPr lang="en-US" sz="1400" dirty="0"/>
          </a:p>
        </p:txBody>
      </p:sp>
      <p:sp>
        <p:nvSpPr>
          <p:cNvPr id="32" name="Shape 30"/>
          <p:cNvSpPr/>
          <p:nvPr/>
        </p:nvSpPr>
        <p:spPr>
          <a:xfrm>
            <a:off x="5029200" y="2523744"/>
            <a:ext cx="246888" cy="0"/>
          </a:xfrm>
          <a:prstGeom prst="line">
            <a:avLst/>
          </a:prstGeom>
          <a:noFill/>
          <a:ln w="25400">
            <a:solidFill>
              <a:srgbClr val="14284B"/>
            </a:solidFill>
            <a:prstDash val="solid"/>
            <a:tailEnd type="triangle"/>
          </a:ln>
        </p:spPr>
      </p:sp>
      <p:sp>
        <p:nvSpPr>
          <p:cNvPr id="33" name="Shape 31"/>
          <p:cNvSpPr/>
          <p:nvPr/>
        </p:nvSpPr>
        <p:spPr>
          <a:xfrm>
            <a:off x="5294376" y="2194560"/>
            <a:ext cx="1298448" cy="658368"/>
          </a:xfrm>
          <a:prstGeom prst="roundRect">
            <a:avLst>
              <a:gd name="adj" fmla="val 11111"/>
            </a:avLst>
          </a:prstGeom>
          <a:solidFill>
            <a:srgbClr val="C0392B"/>
          </a:solidFill>
          <a:ln w="12700">
            <a:solidFill>
              <a:srgbClr val="C0392B"/>
            </a:solidFill>
            <a:prstDash val="solid"/>
          </a:ln>
        </p:spPr>
      </p:sp>
      <p:sp>
        <p:nvSpPr>
          <p:cNvPr id="34" name="Text 32"/>
          <p:cNvSpPr txBox="1"/>
          <p:nvPr/>
        </p:nvSpPr>
        <p:spPr>
          <a:xfrm>
            <a:off x="5294376" y="219456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W14–15</a:t>
            </a:r>
            <a:endParaRPr lang="en-US" sz="1400" dirty="0"/>
          </a:p>
        </p:txBody>
      </p:sp>
      <p:sp>
        <p:nvSpPr>
          <p:cNvPr id="35" name="Shape 33"/>
          <p:cNvSpPr/>
          <p:nvPr/>
        </p:nvSpPr>
        <p:spPr>
          <a:xfrm>
            <a:off x="6611112" y="2523744"/>
            <a:ext cx="246888" cy="0"/>
          </a:xfrm>
          <a:prstGeom prst="line">
            <a:avLst/>
          </a:prstGeom>
          <a:noFill/>
          <a:ln w="25400">
            <a:solidFill>
              <a:srgbClr val="14284B"/>
            </a:solidFill>
            <a:prstDash val="solid"/>
            <a:tailEnd type="triangle"/>
          </a:ln>
        </p:spPr>
      </p:sp>
      <p:sp>
        <p:nvSpPr>
          <p:cNvPr id="36" name="Shape 34"/>
          <p:cNvSpPr/>
          <p:nvPr/>
        </p:nvSpPr>
        <p:spPr>
          <a:xfrm>
            <a:off x="6876288" y="2194560"/>
            <a:ext cx="1298448" cy="658368"/>
          </a:xfrm>
          <a:prstGeom prst="roundRect">
            <a:avLst>
              <a:gd name="adj" fmla="val 11111"/>
            </a:avLst>
          </a:prstGeom>
          <a:solidFill>
            <a:srgbClr val="C0392B"/>
          </a:solidFill>
          <a:ln w="12700">
            <a:solidFill>
              <a:srgbClr val="C0392B"/>
            </a:solidFill>
            <a:prstDash val="solid"/>
          </a:ln>
        </p:spPr>
      </p:sp>
      <p:sp>
        <p:nvSpPr>
          <p:cNvPr id="37" name="Text 35"/>
          <p:cNvSpPr txBox="1"/>
          <p:nvPr/>
        </p:nvSpPr>
        <p:spPr>
          <a:xfrm>
            <a:off x="6876288" y="219456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8.2</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W16–17</a:t>
            </a:r>
            <a:endParaRPr lang="en-US" sz="1400" dirty="0"/>
          </a:p>
        </p:txBody>
      </p:sp>
      <p:sp>
        <p:nvSpPr>
          <p:cNvPr id="38" name="Shape 36"/>
          <p:cNvSpPr/>
          <p:nvPr/>
        </p:nvSpPr>
        <p:spPr>
          <a:xfrm>
            <a:off x="8193024" y="2523744"/>
            <a:ext cx="246888" cy="0"/>
          </a:xfrm>
          <a:prstGeom prst="line">
            <a:avLst/>
          </a:prstGeom>
          <a:noFill/>
          <a:ln w="25400">
            <a:solidFill>
              <a:srgbClr val="14284B"/>
            </a:solidFill>
            <a:prstDash val="solid"/>
            <a:tailEnd type="triangle"/>
          </a:ln>
        </p:spPr>
      </p:sp>
      <p:sp>
        <p:nvSpPr>
          <p:cNvPr id="39" name="Shape 37"/>
          <p:cNvSpPr/>
          <p:nvPr/>
        </p:nvSpPr>
        <p:spPr>
          <a:xfrm>
            <a:off x="8458200" y="2194560"/>
            <a:ext cx="1298448" cy="658368"/>
          </a:xfrm>
          <a:prstGeom prst="roundRect">
            <a:avLst>
              <a:gd name="adj" fmla="val 11111"/>
            </a:avLst>
          </a:prstGeom>
          <a:solidFill>
            <a:srgbClr val="C0392B"/>
          </a:solidFill>
          <a:ln w="12700">
            <a:solidFill>
              <a:srgbClr val="C0392B"/>
            </a:solidFill>
            <a:prstDash val="solid"/>
          </a:ln>
        </p:spPr>
      </p:sp>
      <p:sp>
        <p:nvSpPr>
          <p:cNvPr id="40" name="Text 38"/>
          <p:cNvSpPr txBox="1"/>
          <p:nvPr/>
        </p:nvSpPr>
        <p:spPr>
          <a:xfrm>
            <a:off x="8458200" y="219456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W18–20</a:t>
            </a:r>
            <a:endParaRPr lang="en-US" sz="1400" dirty="0"/>
          </a:p>
        </p:txBody>
      </p:sp>
      <p:sp>
        <p:nvSpPr>
          <p:cNvPr id="41" name="Shape 39"/>
          <p:cNvSpPr/>
          <p:nvPr/>
        </p:nvSpPr>
        <p:spPr>
          <a:xfrm>
            <a:off x="9774936" y="2523744"/>
            <a:ext cx="246888" cy="0"/>
          </a:xfrm>
          <a:prstGeom prst="line">
            <a:avLst/>
          </a:prstGeom>
          <a:noFill/>
          <a:ln w="25400">
            <a:solidFill>
              <a:srgbClr val="14284B"/>
            </a:solidFill>
            <a:prstDash val="solid"/>
            <a:tailEnd type="triangle"/>
          </a:ln>
        </p:spPr>
      </p:sp>
      <p:sp>
        <p:nvSpPr>
          <p:cNvPr id="42" name="Shape 40"/>
          <p:cNvSpPr/>
          <p:nvPr/>
        </p:nvSpPr>
        <p:spPr>
          <a:xfrm>
            <a:off x="10040112" y="2194560"/>
            <a:ext cx="1298448" cy="658368"/>
          </a:xfrm>
          <a:prstGeom prst="roundRect">
            <a:avLst>
              <a:gd name="adj" fmla="val 11111"/>
            </a:avLst>
          </a:prstGeom>
          <a:solidFill>
            <a:srgbClr val="C0392B"/>
          </a:solidFill>
          <a:ln w="12700">
            <a:solidFill>
              <a:srgbClr val="C0392B"/>
            </a:solidFill>
            <a:prstDash val="solid"/>
          </a:ln>
        </p:spPr>
      </p:sp>
      <p:sp>
        <p:nvSpPr>
          <p:cNvPr id="43" name="Text 41"/>
          <p:cNvSpPr txBox="1"/>
          <p:nvPr/>
        </p:nvSpPr>
        <p:spPr>
          <a:xfrm>
            <a:off x="10040112" y="219456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W21–22</a:t>
            </a:r>
            <a:endParaRPr lang="en-US" sz="1400" dirty="0"/>
          </a:p>
        </p:txBody>
      </p:sp>
      <p:sp>
        <p:nvSpPr>
          <p:cNvPr id="44" name="Shape 42"/>
          <p:cNvSpPr/>
          <p:nvPr/>
        </p:nvSpPr>
        <p:spPr>
          <a:xfrm>
            <a:off x="548640" y="3154680"/>
            <a:ext cx="1298448" cy="658368"/>
          </a:xfrm>
          <a:prstGeom prst="roundRect">
            <a:avLst>
              <a:gd name="adj" fmla="val 11111"/>
            </a:avLst>
          </a:prstGeom>
          <a:solidFill>
            <a:srgbClr val="C0392B"/>
          </a:solidFill>
          <a:ln w="12700">
            <a:solidFill>
              <a:srgbClr val="C0392B"/>
            </a:solidFill>
            <a:prstDash val="solid"/>
          </a:ln>
        </p:spPr>
      </p:sp>
      <p:sp>
        <p:nvSpPr>
          <p:cNvPr id="45" name="Text 43"/>
          <p:cNvSpPr txBox="1"/>
          <p:nvPr/>
        </p:nvSpPr>
        <p:spPr>
          <a:xfrm>
            <a:off x="548640" y="315468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8.4</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W23</a:t>
            </a:r>
            <a:endParaRPr lang="en-US" sz="1400" dirty="0"/>
          </a:p>
        </p:txBody>
      </p:sp>
      <p:sp>
        <p:nvSpPr>
          <p:cNvPr id="46" name="Shape 44"/>
          <p:cNvSpPr/>
          <p:nvPr/>
        </p:nvSpPr>
        <p:spPr>
          <a:xfrm>
            <a:off x="1865376" y="3483864"/>
            <a:ext cx="246888" cy="0"/>
          </a:xfrm>
          <a:prstGeom prst="line">
            <a:avLst/>
          </a:prstGeom>
          <a:noFill/>
          <a:ln w="25400">
            <a:solidFill>
              <a:srgbClr val="14284B"/>
            </a:solidFill>
            <a:prstDash val="solid"/>
            <a:tailEnd type="triangle"/>
          </a:ln>
        </p:spPr>
      </p:sp>
      <p:sp>
        <p:nvSpPr>
          <p:cNvPr id="47" name="Shape 45"/>
          <p:cNvSpPr/>
          <p:nvPr/>
        </p:nvSpPr>
        <p:spPr>
          <a:xfrm>
            <a:off x="2130552" y="3154680"/>
            <a:ext cx="1298448" cy="658368"/>
          </a:xfrm>
          <a:prstGeom prst="roundRect">
            <a:avLst>
              <a:gd name="adj" fmla="val 11111"/>
            </a:avLst>
          </a:prstGeom>
          <a:solidFill>
            <a:srgbClr val="C0392B"/>
          </a:solidFill>
          <a:ln w="12700">
            <a:solidFill>
              <a:srgbClr val="C0392B"/>
            </a:solidFill>
            <a:prstDash val="solid"/>
          </a:ln>
        </p:spPr>
      </p:sp>
      <p:sp>
        <p:nvSpPr>
          <p:cNvPr id="48" name="Text 46"/>
          <p:cNvSpPr txBox="1"/>
          <p:nvPr/>
        </p:nvSpPr>
        <p:spPr>
          <a:xfrm>
            <a:off x="2130552" y="315468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8.5</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W24</a:t>
            </a:r>
            <a:endParaRPr lang="en-US" sz="1400" dirty="0"/>
          </a:p>
        </p:txBody>
      </p:sp>
      <p:sp>
        <p:nvSpPr>
          <p:cNvPr id="49" name="Shape 47"/>
          <p:cNvSpPr/>
          <p:nvPr/>
        </p:nvSpPr>
        <p:spPr>
          <a:xfrm>
            <a:off x="3447288" y="3483864"/>
            <a:ext cx="246888" cy="0"/>
          </a:xfrm>
          <a:prstGeom prst="line">
            <a:avLst/>
          </a:prstGeom>
          <a:noFill/>
          <a:ln w="25400">
            <a:solidFill>
              <a:srgbClr val="14284B"/>
            </a:solidFill>
            <a:prstDash val="solid"/>
            <a:tailEnd type="triangle"/>
          </a:ln>
        </p:spPr>
      </p:sp>
      <p:sp>
        <p:nvSpPr>
          <p:cNvPr id="50" name="Shape 48"/>
          <p:cNvSpPr/>
          <p:nvPr/>
        </p:nvSpPr>
        <p:spPr>
          <a:xfrm>
            <a:off x="3712464" y="3154680"/>
            <a:ext cx="1298448" cy="658368"/>
          </a:xfrm>
          <a:prstGeom prst="roundRect">
            <a:avLst>
              <a:gd name="adj" fmla="val 11111"/>
            </a:avLst>
          </a:prstGeom>
          <a:solidFill>
            <a:srgbClr val="C0392B"/>
          </a:solidFill>
          <a:ln w="12700">
            <a:solidFill>
              <a:srgbClr val="C0392B"/>
            </a:solidFill>
            <a:prstDash val="solid"/>
          </a:ln>
        </p:spPr>
      </p:sp>
      <p:sp>
        <p:nvSpPr>
          <p:cNvPr id="51" name="Text 49"/>
          <p:cNvSpPr txBox="1"/>
          <p:nvPr/>
        </p:nvSpPr>
        <p:spPr>
          <a:xfrm>
            <a:off x="3712464" y="315468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W25</a:t>
            </a:r>
            <a:endParaRPr lang="en-US" sz="1400" dirty="0"/>
          </a:p>
        </p:txBody>
      </p:sp>
      <p:sp>
        <p:nvSpPr>
          <p:cNvPr id="52" name="Shape 50"/>
          <p:cNvSpPr/>
          <p:nvPr/>
        </p:nvSpPr>
        <p:spPr>
          <a:xfrm>
            <a:off x="5029200" y="3483864"/>
            <a:ext cx="246888" cy="0"/>
          </a:xfrm>
          <a:prstGeom prst="line">
            <a:avLst/>
          </a:prstGeom>
          <a:noFill/>
          <a:ln w="25400">
            <a:solidFill>
              <a:srgbClr val="14284B"/>
            </a:solidFill>
            <a:prstDash val="solid"/>
            <a:tailEnd type="triangle"/>
          </a:ln>
        </p:spPr>
      </p:sp>
      <p:sp>
        <p:nvSpPr>
          <p:cNvPr id="53" name="Shape 51"/>
          <p:cNvSpPr/>
          <p:nvPr/>
        </p:nvSpPr>
        <p:spPr>
          <a:xfrm>
            <a:off x="5294376" y="3154680"/>
            <a:ext cx="1298448" cy="658368"/>
          </a:xfrm>
          <a:prstGeom prst="roundRect">
            <a:avLst>
              <a:gd name="adj" fmla="val 11111"/>
            </a:avLst>
          </a:prstGeom>
          <a:solidFill>
            <a:srgbClr val="C0392B"/>
          </a:solidFill>
          <a:ln w="12700">
            <a:solidFill>
              <a:srgbClr val="C0392B"/>
            </a:solidFill>
            <a:prstDash val="solid"/>
          </a:ln>
        </p:spPr>
      </p:sp>
      <p:sp>
        <p:nvSpPr>
          <p:cNvPr id="54" name="Text 52"/>
          <p:cNvSpPr txBox="1"/>
          <p:nvPr/>
        </p:nvSpPr>
        <p:spPr>
          <a:xfrm>
            <a:off x="5294376" y="315468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13.1</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W26–27</a:t>
            </a:r>
            <a:endParaRPr lang="en-US" sz="1400" dirty="0"/>
          </a:p>
        </p:txBody>
      </p:sp>
      <p:sp>
        <p:nvSpPr>
          <p:cNvPr id="55" name="Shape 53"/>
          <p:cNvSpPr/>
          <p:nvPr/>
        </p:nvSpPr>
        <p:spPr>
          <a:xfrm>
            <a:off x="6611112" y="3483864"/>
            <a:ext cx="246888" cy="0"/>
          </a:xfrm>
          <a:prstGeom prst="line">
            <a:avLst/>
          </a:prstGeom>
          <a:noFill/>
          <a:ln w="25400">
            <a:solidFill>
              <a:srgbClr val="14284B"/>
            </a:solidFill>
            <a:prstDash val="solid"/>
            <a:tailEnd type="triangle"/>
          </a:ln>
        </p:spPr>
      </p:sp>
      <p:sp>
        <p:nvSpPr>
          <p:cNvPr id="56" name="Shape 54"/>
          <p:cNvSpPr/>
          <p:nvPr/>
        </p:nvSpPr>
        <p:spPr>
          <a:xfrm>
            <a:off x="6876288" y="3154680"/>
            <a:ext cx="1298448" cy="658368"/>
          </a:xfrm>
          <a:prstGeom prst="roundRect">
            <a:avLst>
              <a:gd name="adj" fmla="val 11111"/>
            </a:avLst>
          </a:prstGeom>
          <a:solidFill>
            <a:srgbClr val="C0392B"/>
          </a:solidFill>
          <a:ln w="12700">
            <a:solidFill>
              <a:srgbClr val="C0392B"/>
            </a:solidFill>
            <a:prstDash val="solid"/>
          </a:ln>
        </p:spPr>
      </p:sp>
      <p:sp>
        <p:nvSpPr>
          <p:cNvPr id="57" name="Text 55"/>
          <p:cNvSpPr txBox="1"/>
          <p:nvPr/>
        </p:nvSpPr>
        <p:spPr>
          <a:xfrm>
            <a:off x="6876288" y="3154680"/>
            <a:ext cx="1298448" cy="65836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13.2</a:t>
            </a:r>
            <a:endParaRPr lang="en-US" sz="1400" dirty="0"/>
          </a:p>
          <a:p>
            <a:pPr algn="ctr" indent="0" marL="0">
              <a:buNone/>
            </a:pPr>
            <a:r>
              <a:rPr lang="en-US" sz="1300" dirty="0">
                <a:solidFill>
                  <a:srgbClr val="FFFFFF"/>
                </a:solidFill>
                <a:latin typeface="Calibri" pitchFamily="34" charset="0"/>
                <a:ea typeface="Calibri" pitchFamily="34" charset="-122"/>
                <a:cs typeface="Calibri" pitchFamily="34" charset="-120"/>
              </a:rPr>
              <a:t>W28</a:t>
            </a:r>
            <a:endParaRPr lang="en-US" sz="1400" dirty="0"/>
          </a:p>
        </p:txBody>
      </p:sp>
      <p:sp>
        <p:nvSpPr>
          <p:cNvPr id="58" name="Text 56"/>
          <p:cNvSpPr txBox="1"/>
          <p:nvPr/>
        </p:nvSpPr>
        <p:spPr>
          <a:xfrm>
            <a:off x="10040112" y="1911096"/>
            <a:ext cx="1298448" cy="201168"/>
          </a:xfrm>
          <a:prstGeom prst="rect">
            <a:avLst/>
          </a:prstGeom>
          <a:noFill/>
          <a:ln/>
        </p:spPr>
        <p:txBody>
          <a:bodyPr wrap="square" lIns="0" tIns="0" rIns="0" bIns="0" rtlCol="0" anchor="t"/>
          <a:lstStyle/>
          <a:p>
            <a:pPr algn="ctr" indent="0" marL="0">
              <a:buNone/>
            </a:pPr>
            <a:r>
              <a:rPr lang="en-US" sz="900" dirty="0">
                <a:solidFill>
                  <a:srgbClr val="5B6576"/>
                </a:solidFill>
                <a:latin typeface="Calibri" pitchFamily="34" charset="0"/>
                <a:ea typeface="Calibri" pitchFamily="34" charset="-122"/>
                <a:cs typeface="Calibri" pitchFamily="34" charset="-120"/>
              </a:rPr>
              <a:t>↵ continues</a:t>
            </a:r>
            <a:endParaRPr lang="en-US" sz="900" dirty="0"/>
          </a:p>
        </p:txBody>
      </p:sp>
      <p:sp>
        <p:nvSpPr>
          <p:cNvPr id="59" name="Text 57"/>
          <p:cNvSpPr txBox="1"/>
          <p:nvPr/>
        </p:nvSpPr>
        <p:spPr>
          <a:xfrm>
            <a:off x="10040112" y="2871216"/>
            <a:ext cx="1298448" cy="201168"/>
          </a:xfrm>
          <a:prstGeom prst="rect">
            <a:avLst/>
          </a:prstGeom>
          <a:noFill/>
          <a:ln/>
        </p:spPr>
        <p:txBody>
          <a:bodyPr wrap="square" lIns="0" tIns="0" rIns="0" bIns="0" rtlCol="0" anchor="t"/>
          <a:lstStyle/>
          <a:p>
            <a:pPr algn="ctr" indent="0" marL="0">
              <a:buNone/>
            </a:pPr>
            <a:r>
              <a:rPr lang="en-US" sz="900" dirty="0">
                <a:solidFill>
                  <a:srgbClr val="5B6576"/>
                </a:solidFill>
                <a:latin typeface="Calibri" pitchFamily="34" charset="0"/>
                <a:ea typeface="Calibri" pitchFamily="34" charset="-122"/>
                <a:cs typeface="Calibri" pitchFamily="34" charset="-120"/>
              </a:rPr>
              <a:t>↵ continues</a:t>
            </a:r>
            <a:endParaRPr lang="en-US" sz="900" dirty="0"/>
          </a:p>
        </p:txBody>
      </p:sp>
      <p:sp>
        <p:nvSpPr>
          <p:cNvPr id="60" name="Shape 58"/>
          <p:cNvSpPr/>
          <p:nvPr/>
        </p:nvSpPr>
        <p:spPr>
          <a:xfrm>
            <a:off x="548640" y="4251960"/>
            <a:ext cx="6675120" cy="1737360"/>
          </a:xfrm>
          <a:prstGeom prst="roundRect">
            <a:avLst>
              <a:gd name="adj" fmla="val 4211"/>
            </a:avLst>
          </a:prstGeom>
          <a:solidFill>
            <a:srgbClr val="F3F5F8"/>
          </a:solidFill>
          <a:ln w="12700">
            <a:solidFill>
              <a:srgbClr val="F3F5F8"/>
            </a:solidFill>
            <a:prstDash val="solid"/>
          </a:ln>
        </p:spPr>
      </p:sp>
      <p:sp>
        <p:nvSpPr>
          <p:cNvPr id="61" name="Text 59"/>
          <p:cNvSpPr txBox="1"/>
          <p:nvPr/>
        </p:nvSpPr>
        <p:spPr>
          <a:xfrm>
            <a:off x="777240" y="4343400"/>
            <a:ext cx="630936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Key dependencies</a:t>
            </a:r>
            <a:endParaRPr lang="en-US" sz="1500" dirty="0"/>
          </a:p>
        </p:txBody>
      </p:sp>
      <p:sp>
        <p:nvSpPr>
          <p:cNvPr id="62" name="Text 60"/>
          <p:cNvSpPr txBox="1"/>
          <p:nvPr/>
        </p:nvSpPr>
        <p:spPr>
          <a:xfrm>
            <a:off x="777240" y="4681728"/>
            <a:ext cx="6309360" cy="12801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Configuration baseline (6.3) before testing, migration and training material</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All readiness work (7.2, 8.2, 8.3, 9.1) before the pilot (10.1)</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UAT (8.4) → retest and go/no-go (8.5) → deployment (12.1)</a:t>
            </a:r>
            <a:endParaRPr lang="en-US" sz="1500" dirty="0"/>
          </a:p>
        </p:txBody>
      </p:sp>
      <p:sp>
        <p:nvSpPr>
          <p:cNvPr id="63" name="Shape 61"/>
          <p:cNvSpPr/>
          <p:nvPr/>
        </p:nvSpPr>
        <p:spPr>
          <a:xfrm>
            <a:off x="7498080" y="4251960"/>
            <a:ext cx="4142232" cy="1737360"/>
          </a:xfrm>
          <a:prstGeom prst="roundRect">
            <a:avLst>
              <a:gd name="adj" fmla="val 4211"/>
            </a:avLst>
          </a:prstGeom>
          <a:solidFill>
            <a:srgbClr val="FCF1DE"/>
          </a:solidFill>
          <a:ln w="12700">
            <a:solidFill>
              <a:srgbClr val="FCF1DE"/>
            </a:solidFill>
            <a:prstDash val="solid"/>
          </a:ln>
        </p:spPr>
      </p:sp>
      <p:sp>
        <p:nvSpPr>
          <p:cNvPr id="64" name="Text 62"/>
          <p:cNvSpPr txBox="1"/>
          <p:nvPr/>
        </p:nvSpPr>
        <p:spPr>
          <a:xfrm>
            <a:off x="7726680" y="4343400"/>
            <a:ext cx="374904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Float on non-critical tasks</a:t>
            </a:r>
            <a:endParaRPr lang="en-US" sz="1500" dirty="0"/>
          </a:p>
        </p:txBody>
      </p:sp>
      <p:sp>
        <p:nvSpPr>
          <p:cNvPr id="65" name="Text 63"/>
          <p:cNvSpPr txBox="1"/>
          <p:nvPr/>
        </p:nvSpPr>
        <p:spPr>
          <a:xfrm>
            <a:off x="7726680" y="4681728"/>
            <a:ext cx="3794760" cy="128016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7.1 content audit: 6 weeks</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9.1 training materials, 9.2 training rollout: 2 weeks each</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7.2 migration, 8.3 backup test: 1 week each (7.2 watched; R4)</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Resources and RACI: one Accountable role per deliverable</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863840" cy="914400"/>
        </p:xfrm>
        <a:graphic>
          <a:graphicData uri="http://schemas.openxmlformats.org/drawingml/2006/table">
            <a:tbl>
              <a:tblPr/>
              <a:tblGrid>
                <a:gridCol w="2103120"/>
                <a:gridCol w="576072"/>
                <a:gridCol w="576072"/>
                <a:gridCol w="576072"/>
                <a:gridCol w="576072"/>
                <a:gridCol w="576072"/>
                <a:gridCol w="576072"/>
                <a:gridCol w="576072"/>
                <a:gridCol w="576072"/>
                <a:gridCol w="576072"/>
                <a:gridCol w="576072"/>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Deliverable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Spon.</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PM</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Tech</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LMS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Infra</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QA</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Lect.</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Stud.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Charter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Requirements spec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Platform decision</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Architecture and security</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Environments and install</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Configuration and GitHub</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Content migration</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Testing and UAT</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Training</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Pilot and remediation</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Go-live approval</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Handover and closure</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b="1" dirty="0">
                          <a:solidFill>
                            <a:srgbClr val="0F8B8D"/>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D4EFE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A0A8B5"/>
                          </a:solidFill>
                          <a:latin typeface="Calibri" pitchFamily="34" charset="0"/>
                          <a:ea typeface="Calibri" pitchFamily="34" charset="-122"/>
                          <a:cs typeface="Calibri" pitchFamily="34" charset="-120"/>
                        </a:rPr>
                        <a:t>I</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bl>
          </a:graphicData>
        </a:graphic>
      </p:graphicFrame>
      <p:sp>
        <p:nvSpPr>
          <p:cNvPr id="4" name="Shape 1"/>
          <p:cNvSpPr/>
          <p:nvPr/>
        </p:nvSpPr>
        <p:spPr>
          <a:xfrm>
            <a:off x="8686800" y="1188720"/>
            <a:ext cx="2953512" cy="4800600"/>
          </a:xfrm>
          <a:prstGeom prst="roundRect">
            <a:avLst>
              <a:gd name="adj" fmla="val 2477"/>
            </a:avLst>
          </a:prstGeom>
          <a:solidFill>
            <a:srgbClr val="F3F5F8"/>
          </a:solidFill>
          <a:ln w="12700">
            <a:solidFill>
              <a:srgbClr val="F3F5F8"/>
            </a:solidFill>
            <a:prstDash val="solid"/>
          </a:ln>
        </p:spPr>
      </p:sp>
      <p:sp>
        <p:nvSpPr>
          <p:cNvPr id="5" name="Text 2"/>
          <p:cNvSpPr txBox="1"/>
          <p:nvPr/>
        </p:nvSpPr>
        <p:spPr>
          <a:xfrm>
            <a:off x="8887968" y="1298448"/>
            <a:ext cx="265176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Core allocations</a:t>
            </a:r>
            <a:endParaRPr lang="en-US" sz="1500" dirty="0"/>
          </a:p>
        </p:txBody>
      </p:sp>
      <p:sp>
        <p:nvSpPr>
          <p:cNvPr id="6" name="Text 3"/>
          <p:cNvSpPr txBox="1"/>
          <p:nvPr/>
        </p:nvSpPr>
        <p:spPr>
          <a:xfrm>
            <a:off x="8887968" y="1645920"/>
            <a:ext cx="2651760" cy="219456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PM: 1.0 FTE, Weeks 1–28</a:t>
            </a:r>
            <a:endParaRPr lang="en-US" sz="1200" dirty="0"/>
          </a:p>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LMS Admin: 1.0 FTE, Weeks 9–28</a:t>
            </a:r>
            <a:endParaRPr lang="en-US" sz="1200" dirty="0"/>
          </a:p>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Instructional Designer: 1.0 FTE, Weeks 6–26</a:t>
            </a:r>
            <a:endParaRPr lang="en-US" sz="1200" dirty="0"/>
          </a:p>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QA Tester: 0.8 FTE, Weeks 13–24</a:t>
            </a:r>
            <a:endParaRPr lang="en-US" sz="1200" dirty="0"/>
          </a:p>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Security Specialist (contract): 0.3 FTE, Weeks 7–8, 16–17</a:t>
            </a:r>
            <a:endParaRPr lang="en-US" sz="1200" dirty="0"/>
          </a:p>
        </p:txBody>
      </p:sp>
      <p:sp>
        <p:nvSpPr>
          <p:cNvPr id="7" name="Text 4"/>
          <p:cNvSpPr txBox="1"/>
          <p:nvPr/>
        </p:nvSpPr>
        <p:spPr>
          <a:xfrm>
            <a:off x="8887968" y="3886200"/>
            <a:ext cx="2651760" cy="320040"/>
          </a:xfrm>
          <a:prstGeom prst="rect">
            <a:avLst/>
          </a:prstGeom>
          <a:noFill/>
          <a:ln/>
        </p:spPr>
        <p:txBody>
          <a:bodyPr wrap="square" lIns="0" tIns="0" rIns="0" bIns="0" rtlCol="0" anchor="t"/>
          <a:lstStyle/>
          <a:p>
            <a:pPr indent="0" marL="0">
              <a:buNone/>
            </a:pPr>
            <a:r>
              <a:rPr lang="en-US" sz="1500" b="1" dirty="0">
                <a:solidFill>
                  <a:srgbClr val="C0392B"/>
                </a:solidFill>
                <a:latin typeface="Calibri" pitchFamily="34" charset="0"/>
                <a:ea typeface="Calibri" pitchFamily="34" charset="-122"/>
                <a:cs typeface="Calibri" pitchFamily="34" charset="-120"/>
              </a:rPr>
              <a:t>Resource peaks</a:t>
            </a:r>
            <a:endParaRPr lang="en-US" sz="1500" dirty="0"/>
          </a:p>
        </p:txBody>
      </p:sp>
      <p:sp>
        <p:nvSpPr>
          <p:cNvPr id="8" name="Text 5"/>
          <p:cNvSpPr txBox="1"/>
          <p:nvPr/>
        </p:nvSpPr>
        <p:spPr>
          <a:xfrm>
            <a:off x="8887968" y="4224528"/>
            <a:ext cx="2651760" cy="169164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Weeks 14–16: migration and training material compete; use 9.1 float or a casual assistant</a:t>
            </a:r>
            <a:endParaRPr lang="en-US" sz="1200" dirty="0"/>
          </a:p>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Weeks 19–21: rollout during pilot; lecturer champions co-train</a:t>
            </a:r>
            <a:endParaRPr lang="en-US" sz="1200" dirty="0"/>
          </a:p>
        </p:txBody>
      </p:sp>
      <p:sp>
        <p:nvSpPr>
          <p:cNvPr id="9" name="Text 6"/>
          <p:cNvSpPr txBox="1"/>
          <p:nvPr/>
        </p:nvSpPr>
        <p:spPr>
          <a:xfrm>
            <a:off x="548640" y="6053328"/>
            <a:ext cx="11064240" cy="274320"/>
          </a:xfrm>
          <a:prstGeom prst="rect">
            <a:avLst/>
          </a:prstGeom>
          <a:noFill/>
          <a:ln/>
        </p:spPr>
        <p:txBody>
          <a:bodyPr wrap="square" lIns="0" tIns="0" rIns="0" bIns="0" rtlCol="0" anchor="b"/>
          <a:lstStyle/>
          <a:p>
            <a:pPr indent="0" marL="0">
              <a:buNone/>
            </a:pPr>
            <a:r>
              <a:rPr lang="en-US" sz="1000" i="1" dirty="0">
                <a:solidFill>
                  <a:srgbClr val="5B6576"/>
                </a:solidFill>
                <a:latin typeface="Calibri" pitchFamily="34" charset="0"/>
                <a:ea typeface="Calibri" pitchFamily="34" charset="-122"/>
                <a:cs typeface="Calibri" pitchFamily="34" charset="-120"/>
              </a:rPr>
              <a:t>R = Responsible, A = Accountable, C = Consulted, I = Informed. ID = Instructional Designer; Lect./Stud. = lecturer and student representatives.</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Indicative budget: AUD 337,700 including contingency</a:t>
            </a:r>
            <a:endParaRPr lang="en-US" sz="2800" dirty="0"/>
          </a:p>
        </p:txBody>
      </p:sp>
      <p:graphicFrame>
        <p:nvGraphicFramePr>
          <p:cNvPr id="3" name="Chart 0" descr=""/>
          <p:cNvGraphicFramePr/>
          <p:nvPr/>
        </p:nvGraphicFramePr>
        <p:xfrm>
          <a:off x="457200" y="1188720"/>
          <a:ext cx="7498080" cy="475488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8229600" y="1188720"/>
            <a:ext cx="3410712" cy="1463040"/>
          </a:xfrm>
          <a:prstGeom prst="roundRect">
            <a:avLst>
              <a:gd name="adj" fmla="val 5000"/>
            </a:avLst>
          </a:prstGeom>
          <a:solidFill>
            <a:srgbClr val="14284B"/>
          </a:solidFill>
          <a:ln w="12700">
            <a:solidFill>
              <a:srgbClr val="14284B"/>
            </a:solidFill>
            <a:prstDash val="solid"/>
          </a:ln>
        </p:spPr>
      </p:sp>
      <p:sp>
        <p:nvSpPr>
          <p:cNvPr id="5" name="Text 2"/>
          <p:cNvSpPr txBox="1"/>
          <p:nvPr/>
        </p:nvSpPr>
        <p:spPr>
          <a:xfrm>
            <a:off x="8412480" y="1188720"/>
            <a:ext cx="3108960" cy="146304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AUD 337,700</a:t>
            </a:r>
            <a:endParaRPr lang="en-US" sz="1400" dirty="0"/>
          </a:p>
          <a:p>
            <a:pPr indent="0" marL="0">
              <a:buNone/>
            </a:pPr>
            <a:r>
              <a:rPr lang="en-US" sz="1200" dirty="0">
                <a:solidFill>
                  <a:srgbClr val="FFFFFF"/>
                </a:solidFill>
                <a:latin typeface="Calibri" pitchFamily="34" charset="0"/>
                <a:ea typeface="Calibri" pitchFamily="34" charset="-122"/>
                <a:cs typeface="Calibri" pitchFamily="34" charset="-120"/>
              </a:rPr>
              <a:t>total, 28 weeks + first year of hosting</a:t>
            </a:r>
            <a:endParaRPr lang="en-US" sz="1400" dirty="0"/>
          </a:p>
        </p:txBody>
      </p:sp>
      <p:sp>
        <p:nvSpPr>
          <p:cNvPr id="6" name="Shape 3"/>
          <p:cNvSpPr/>
          <p:nvPr/>
        </p:nvSpPr>
        <p:spPr>
          <a:xfrm>
            <a:off x="8229600" y="2834640"/>
            <a:ext cx="3410712" cy="1325880"/>
          </a:xfrm>
          <a:prstGeom prst="roundRect">
            <a:avLst>
              <a:gd name="adj" fmla="val 5517"/>
            </a:avLst>
          </a:prstGeom>
          <a:solidFill>
            <a:srgbClr val="E8F3F4"/>
          </a:solidFill>
          <a:ln w="12700">
            <a:solidFill>
              <a:srgbClr val="E8F3F4"/>
            </a:solidFill>
            <a:prstDash val="solid"/>
          </a:ln>
        </p:spPr>
      </p:sp>
      <p:sp>
        <p:nvSpPr>
          <p:cNvPr id="7" name="Text 4"/>
          <p:cNvSpPr txBox="1"/>
          <p:nvPr/>
        </p:nvSpPr>
        <p:spPr>
          <a:xfrm>
            <a:off x="8412480" y="2880360"/>
            <a:ext cx="3108960" cy="1234440"/>
          </a:xfrm>
          <a:prstGeom prst="rect">
            <a:avLst/>
          </a:prstGeom>
          <a:noFill/>
          <a:ln/>
        </p:spPr>
        <p:txBody>
          <a:bodyPr wrap="square" lIns="0" tIns="0" rIns="0" bIns="0" rtlCol="0" anchor="ctr"/>
          <a:lstStyle/>
          <a:p>
            <a:pPr indent="0" marL="0">
              <a:buNone/>
            </a:pPr>
            <a:r>
              <a:rPr lang="en-US" sz="1500" b="1" dirty="0">
                <a:solidFill>
                  <a:srgbClr val="14284B"/>
                </a:solidFill>
                <a:latin typeface="Calibri" pitchFamily="34" charset="0"/>
                <a:ea typeface="Calibri" pitchFamily="34" charset="-122"/>
                <a:cs typeface="Calibri" pitchFamily="34" charset="-120"/>
              </a:rPr>
              <a:t>Contingency AUD 30,700</a:t>
            </a:r>
            <a:endParaRPr lang="en-US" sz="1500" dirty="0"/>
          </a:p>
          <a:p>
            <a:pPr indent="0" marL="0">
              <a:buNone/>
            </a:pPr>
            <a:r>
              <a:rPr lang="en-US" sz="1200" dirty="0">
                <a:solidFill>
                  <a:srgbClr val="1F2937"/>
                </a:solidFill>
                <a:latin typeface="Calibri" pitchFamily="34" charset="0"/>
                <a:ea typeface="Calibri" pitchFamily="34" charset="-122"/>
                <a:cs typeface="Calibri" pitchFamily="34" charset="-120"/>
              </a:rPr>
              <a:t>Covers total residual risk EMV of AUD 29,750 (slide 17)</a:t>
            </a:r>
            <a:endParaRPr lang="en-US" sz="1500" dirty="0"/>
          </a:p>
        </p:txBody>
      </p:sp>
      <p:sp>
        <p:nvSpPr>
          <p:cNvPr id="8" name="Shape 5"/>
          <p:cNvSpPr/>
          <p:nvPr/>
        </p:nvSpPr>
        <p:spPr>
          <a:xfrm>
            <a:off x="8229600" y="4343400"/>
            <a:ext cx="3410712" cy="1645920"/>
          </a:xfrm>
          <a:prstGeom prst="roundRect">
            <a:avLst>
              <a:gd name="adj" fmla="val 4444"/>
            </a:avLst>
          </a:prstGeom>
          <a:solidFill>
            <a:srgbClr val="F3F5F8"/>
          </a:solidFill>
          <a:ln w="12700">
            <a:solidFill>
              <a:srgbClr val="F3F5F8"/>
            </a:solidFill>
            <a:prstDash val="solid"/>
          </a:ln>
        </p:spPr>
      </p:sp>
      <p:sp>
        <p:nvSpPr>
          <p:cNvPr id="9" name="Text 6"/>
          <p:cNvSpPr txBox="1"/>
          <p:nvPr/>
        </p:nvSpPr>
        <p:spPr>
          <a:xfrm>
            <a:off x="8412480" y="4389120"/>
            <a:ext cx="3108960" cy="155448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Open source is not free: hosting, administration, patching, backup and support make up most of the cost, so they are budgeted explicitly. Figures are illustrative, not vendor quotes.</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Risk framework: 14 risks scored on a 5 × 5 matrix</a:t>
            </a:r>
            <a:endParaRPr lang="en-US" sz="2800" dirty="0"/>
          </a:p>
        </p:txBody>
      </p:sp>
      <p:pic>
        <p:nvPicPr>
          <p:cNvPr id="3" name="Image 0" descr="assets/heat.png">    </p:cNvPr>
          <p:cNvPicPr>
            <a:picLocks noChangeAspect="1"/>
          </p:cNvPicPr>
          <p:nvPr/>
        </p:nvPicPr>
        <p:blipFill>
          <a:blip r:embed="rId1"/>
          <a:stretch>
            <a:fillRect/>
          </a:stretch>
        </p:blipFill>
        <p:spPr>
          <a:xfrm>
            <a:off x="457200" y="1188720"/>
            <a:ext cx="6949440" cy="3447288"/>
          </a:xfrm>
          <a:prstGeom prst="rect">
            <a:avLst/>
          </a:prstGeom>
        </p:spPr>
      </p:pic>
      <p:sp>
        <p:nvSpPr>
          <p:cNvPr id="4" name="Text 1"/>
          <p:cNvSpPr txBox="1"/>
          <p:nvPr/>
        </p:nvSpPr>
        <p:spPr>
          <a:xfrm>
            <a:off x="548640" y="4800600"/>
            <a:ext cx="6766560" cy="12344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Score = likelihood × impact (1–5 each)</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Bands: Low 1–6, Medium 8–12, High 15–25</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Residual risk assumes preventive controls work</a:t>
            </a:r>
            <a:endParaRPr lang="en-US" sz="1300" dirty="0"/>
          </a:p>
          <a:p>
            <a:pPr marL="203200" indent="-2032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Reviewed weekly by the PM, monthly by the steering committee</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680960" y="1188720"/>
          <a:ext cx="3959352" cy="914400"/>
        </p:xfrm>
        <a:graphic>
          <a:graphicData uri="http://schemas.openxmlformats.org/drawingml/2006/table">
            <a:tbl>
              <a:tblPr/>
              <a:tblGrid>
                <a:gridCol w="457200"/>
                <a:gridCol w="2039112"/>
                <a:gridCol w="731520"/>
                <a:gridCol w="7315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documented risk</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Inherent</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Residual</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R1</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Low lecturer adoption (workload fears) [1]</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16 High</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8 Med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R2</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Resistance; no time to redesign courses [2]</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12 Med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 Low</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R4</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Content migration errors or delays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12 Med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 Low</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R5</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Data breach from misconfiguration or patching</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10 Med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 Low</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R6</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Privacy non-compliance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10 Med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5 Low</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R3</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Enrolment CSV integration problems [5]</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9 Med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 Low</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R8</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Key resource shortage [5]</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12 Med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 Low</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457200">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R14</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Overrun pushes go-live into teaching</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12 Med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6 Low</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Mitigation vs contingency: responses mapped to key risks</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7863840" cy="914400"/>
        </p:xfrm>
        <a:graphic>
          <a:graphicData uri="http://schemas.openxmlformats.org/drawingml/2006/table">
            <a:tbl>
              <a:tblPr/>
              <a:tblGrid>
                <a:gridCol w="1143000"/>
                <a:gridCol w="1234440"/>
                <a:gridCol w="2743200"/>
                <a:gridCol w="2743200"/>
              </a:tblGrid>
              <a:tr h="71323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Preventive controls (reduce likelihood)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Contingency response (if it happens)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r>
              <a:tr h="71323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R1 adoption</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Mitigate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Champions, course templates, workload recognition, early demos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Catch-up sessions Weeks 21–23; below 90% trained at go/no-go → sponsor defers go-live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71323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R4 migration</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Mitigate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Content inventory and templates, reconciliation checklist, lecturer sign-off</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Prioritise pilot and first-trimester courses; casual assistant</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71323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R5 breach</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Mitigate + Transfer</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Least-privilege roles, admin MFA, patching, OWASP ASVS testing [14]</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Incident response; disable accounts; restore from backup</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71323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R12 backup</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Mitigate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Daily backups, off-site copies, restore test before pilot</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Restore latest verified backup; invoke rollback plan</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713232">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R14 schedule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Mitigate / Accept</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Weekly tracking, float monitoring, early escalation</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Fast-track or crash; defer go-live through the CCB</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bl>
          </a:graphicData>
        </a:graphic>
      </p:graphicFrame>
      <p:sp>
        <p:nvSpPr>
          <p:cNvPr id="4" name="Shape 1"/>
          <p:cNvSpPr/>
          <p:nvPr/>
        </p:nvSpPr>
        <p:spPr>
          <a:xfrm>
            <a:off x="8686800" y="1188720"/>
            <a:ext cx="2953512" cy="2194560"/>
          </a:xfrm>
          <a:prstGeom prst="roundRect">
            <a:avLst>
              <a:gd name="adj" fmla="val 3333"/>
            </a:avLst>
          </a:prstGeom>
          <a:solidFill>
            <a:srgbClr val="14284B"/>
          </a:solidFill>
          <a:ln w="12700">
            <a:solidFill>
              <a:srgbClr val="14284B"/>
            </a:solidFill>
            <a:prstDash val="solid"/>
          </a:ln>
        </p:spPr>
      </p:sp>
      <p:sp>
        <p:nvSpPr>
          <p:cNvPr id="5" name="Text 2"/>
          <p:cNvSpPr txBox="1"/>
          <p:nvPr/>
        </p:nvSpPr>
        <p:spPr>
          <a:xfrm>
            <a:off x="8869680" y="1188720"/>
            <a:ext cx="2651760" cy="2194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EMV = probability × cost impact</a:t>
            </a:r>
            <a:endParaRPr lang="en-US" sz="1400" dirty="0"/>
          </a:p>
          <a:p>
            <a:pPr indent="0" marL="0">
              <a:buNone/>
            </a:pPr>
            <a:r>
              <a:rPr lang="en-US" sz="3000" b="1" dirty="0">
                <a:solidFill>
                  <a:srgbClr val="FFFFFF"/>
                </a:solidFill>
                <a:latin typeface="Calibri" pitchFamily="34" charset="0"/>
                <a:ea typeface="Calibri" pitchFamily="34" charset="-122"/>
                <a:cs typeface="Calibri" pitchFamily="34" charset="-120"/>
              </a:rPr>
              <a:t>AUD 29,750</a:t>
            </a:r>
            <a:endParaRPr lang="en-US" sz="1400" dirty="0"/>
          </a:p>
          <a:p>
            <a:pPr indent="0" marL="0">
              <a:buNone/>
            </a:pPr>
            <a:r>
              <a:rPr lang="en-US" sz="1200" dirty="0">
                <a:solidFill>
                  <a:srgbClr val="FFFFFF"/>
                </a:solidFill>
                <a:latin typeface="Calibri" pitchFamily="34" charset="0"/>
                <a:ea typeface="Calibri" pitchFamily="34" charset="-122"/>
                <a:cs typeface="Calibri" pitchFamily="34" charset="-120"/>
              </a:rPr>
              <a:t>total residual EMV, 14 risks</a:t>
            </a:r>
            <a:endParaRPr lang="en-US" sz="1400" dirty="0"/>
          </a:p>
        </p:txBody>
      </p:sp>
      <p:sp>
        <p:nvSpPr>
          <p:cNvPr id="6" name="Shape 3"/>
          <p:cNvSpPr/>
          <p:nvPr/>
        </p:nvSpPr>
        <p:spPr>
          <a:xfrm>
            <a:off x="8686800" y="3520440"/>
            <a:ext cx="2953512" cy="1051560"/>
          </a:xfrm>
          <a:prstGeom prst="roundRect">
            <a:avLst>
              <a:gd name="adj" fmla="val 6957"/>
            </a:avLst>
          </a:prstGeom>
          <a:solidFill>
            <a:srgbClr val="E8F3F4"/>
          </a:solidFill>
          <a:ln w="12700">
            <a:solidFill>
              <a:srgbClr val="E8F3F4"/>
            </a:solidFill>
            <a:prstDash val="solid"/>
          </a:ln>
        </p:spPr>
      </p:sp>
      <p:sp>
        <p:nvSpPr>
          <p:cNvPr id="7" name="Text 4"/>
          <p:cNvSpPr txBox="1"/>
          <p:nvPr/>
        </p:nvSpPr>
        <p:spPr>
          <a:xfrm>
            <a:off x="8869680" y="3520440"/>
            <a:ext cx="2651760" cy="1051560"/>
          </a:xfrm>
          <a:prstGeom prst="rect">
            <a:avLst/>
          </a:prstGeom>
          <a:noFill/>
          <a:ln/>
        </p:spPr>
        <p:txBody>
          <a:bodyPr wrap="square" lIns="0" tIns="0" rIns="0" bIns="0" rtlCol="0" anchor="ctr"/>
          <a:lstStyle/>
          <a:p>
            <a:pPr indent="0" marL="0">
              <a:buNone/>
            </a:pPr>
            <a:r>
              <a:rPr lang="en-US" sz="1800" b="1" dirty="0">
                <a:solidFill>
                  <a:srgbClr val="14284B"/>
                </a:solidFill>
                <a:latin typeface="Calibri" pitchFamily="34" charset="0"/>
                <a:ea typeface="Calibri" pitchFamily="34" charset="-122"/>
                <a:cs typeface="Calibri" pitchFamily="34" charset="-120"/>
              </a:rPr>
              <a:t>≤ AUD 30,700 </a:t>
            </a:r>
            <a:pPr indent="0" marL="0">
              <a:buNone/>
            </a:pPr>
            <a:r>
              <a:rPr lang="en-US" sz="1200" dirty="0">
                <a:solidFill>
                  <a:srgbClr val="1F2937"/>
                </a:solidFill>
                <a:latin typeface="Calibri" pitchFamily="34" charset="0"/>
                <a:ea typeface="Calibri" pitchFamily="34" charset="-122"/>
                <a:cs typeface="Calibri" pitchFamily="34" charset="-120"/>
              </a:rPr>
              <a:t>contingency (matches budget)</a:t>
            </a:r>
            <a:endParaRPr lang="en-US" sz="1400" dirty="0"/>
          </a:p>
        </p:txBody>
      </p:sp>
      <p:sp>
        <p:nvSpPr>
          <p:cNvPr id="8" name="Text 5"/>
          <p:cNvSpPr txBox="1"/>
          <p:nvPr/>
        </p:nvSpPr>
        <p:spPr>
          <a:xfrm>
            <a:off x="8686800" y="4681728"/>
            <a:ext cx="2953512" cy="1325880"/>
          </a:xfrm>
          <a:prstGeom prst="rect">
            <a:avLst/>
          </a:prstGeom>
          <a:noFill/>
          <a:ln/>
        </p:spPr>
        <p:txBody>
          <a:bodyPr wrap="square" lIns="0" tIns="0" rIns="0" bIns="0" rtlCol="0" anchor="t"/>
          <a:lstStyle/>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Probability = band midpoint: Rare 5%, Unlikely 20%</a:t>
            </a:r>
            <a:endParaRPr lang="en-US" sz="1200" dirty="0"/>
          </a:p>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Drawdowns above AUD 5,000 need CCB approval</a:t>
            </a:r>
            <a:endParaRPr lang="en-US" sz="1200" dirty="0"/>
          </a:p>
          <a:p>
            <a:pPr marL="203200" indent="-203200">
              <a:spcAft>
                <a:spcPts val="600"/>
              </a:spcAft>
              <a:buSzPct val="100000"/>
              <a:buChar char="•"/>
            </a:pPr>
            <a:r>
              <a:rPr lang="en-US" sz="1200" dirty="0">
                <a:solidFill>
                  <a:srgbClr val="1F2937"/>
                </a:solidFill>
                <a:latin typeface="Calibri" pitchFamily="34" charset="0"/>
                <a:ea typeface="Calibri" pitchFamily="34" charset="-122"/>
                <a:cs typeface="Calibri" pitchFamily="34" charset="-120"/>
              </a:rPr>
              <a:t>Severe R5/R6 events: cyber insurance and sponsor reserve</a:t>
            </a:r>
            <a:endParaRPr lang="en-US" sz="1200" dirty="0"/>
          </a:p>
        </p:txBody>
      </p:sp>
      <p:sp>
        <p:nvSpPr>
          <p:cNvPr id="9" name="Text 6"/>
          <p:cNvSpPr txBox="1"/>
          <p:nvPr/>
        </p:nvSpPr>
        <p:spPr>
          <a:xfrm>
            <a:off x="548640" y="6053328"/>
            <a:ext cx="11064240" cy="274320"/>
          </a:xfrm>
          <a:prstGeom prst="rect">
            <a:avLst/>
          </a:prstGeom>
          <a:noFill/>
          <a:ln/>
        </p:spPr>
        <p:txBody>
          <a:bodyPr wrap="square" lIns="0" tIns="0" rIns="0" bIns="0" rtlCol="0" anchor="b"/>
          <a:lstStyle/>
          <a:p>
            <a:pPr indent="0" marL="0">
              <a:buNone/>
            </a:pPr>
            <a:r>
              <a:rPr lang="en-US" sz="1000" i="1" dirty="0">
                <a:solidFill>
                  <a:srgbClr val="5B6576"/>
                </a:solidFill>
                <a:latin typeface="Calibri" pitchFamily="34" charset="0"/>
                <a:ea typeface="Calibri" pitchFamily="34" charset="-122"/>
                <a:cs typeface="Calibri" pitchFamily="34" charset="-120"/>
              </a:rPr>
              <a:t>Example: R1 = 20% × AUD 25,000 = AUD 5,000 EMV. Strategy categories follow PMBOK [7]. Cost impacts are planning estimates.</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Issue management: every issue logged, owned and closed</a:t>
            </a:r>
            <a:endParaRPr lang="en-US" sz="2800" dirty="0"/>
          </a:p>
        </p:txBody>
      </p:sp>
      <p:sp>
        <p:nvSpPr>
          <p:cNvPr id="3" name="Shape 1"/>
          <p:cNvSpPr/>
          <p:nvPr/>
        </p:nvSpPr>
        <p:spPr>
          <a:xfrm>
            <a:off x="548640" y="1234440"/>
            <a:ext cx="2560320" cy="1371600"/>
          </a:xfrm>
          <a:prstGeom prst="roundRect">
            <a:avLst>
              <a:gd name="adj" fmla="val 5333"/>
            </a:avLst>
          </a:prstGeom>
          <a:solidFill>
            <a:srgbClr val="F3F5F8"/>
          </a:solidFill>
          <a:ln w="12700">
            <a:solidFill>
              <a:srgbClr val="F3F5F8"/>
            </a:solidFill>
            <a:prstDash val="solid"/>
          </a:ln>
        </p:spPr>
      </p:sp>
      <p:sp>
        <p:nvSpPr>
          <p:cNvPr id="4" name="Shape 2"/>
          <p:cNvSpPr/>
          <p:nvPr/>
        </p:nvSpPr>
        <p:spPr>
          <a:xfrm>
            <a:off x="685800" y="1371600"/>
            <a:ext cx="502920" cy="502920"/>
          </a:xfrm>
          <a:prstGeom prst="ellipse">
            <a:avLst/>
          </a:prstGeom>
          <a:solidFill>
            <a:srgbClr val="14284B"/>
          </a:solidFill>
          <a:ln w="12700">
            <a:solidFill>
              <a:srgbClr val="14284B"/>
            </a:solidFill>
            <a:prstDash val="solid"/>
          </a:ln>
        </p:spPr>
      </p:sp>
      <p:pic>
        <p:nvPicPr>
          <p:cNvPr id="5" name="Image 0" descr="preencoded.png">    </p:cNvPr>
          <p:cNvPicPr>
            <a:picLocks noChangeAspect="1"/>
          </p:cNvPicPr>
          <p:nvPr/>
        </p:nvPicPr>
        <p:blipFill>
          <a:blip r:embed="rId1"/>
          <a:stretch>
            <a:fillRect/>
          </a:stretch>
        </p:blipFill>
        <p:spPr>
          <a:xfrm>
            <a:off x="806501" y="1492301"/>
            <a:ext cx="261518" cy="261518"/>
          </a:xfrm>
          <a:prstGeom prst="rect">
            <a:avLst/>
          </a:prstGeom>
        </p:spPr>
      </p:pic>
      <p:sp>
        <p:nvSpPr>
          <p:cNvPr id="6" name="Text 3"/>
          <p:cNvSpPr txBox="1"/>
          <p:nvPr/>
        </p:nvSpPr>
        <p:spPr>
          <a:xfrm>
            <a:off x="1280160" y="1371600"/>
            <a:ext cx="1783080" cy="5029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1. Identify and log</a:t>
            </a:r>
            <a:endParaRPr lang="en-US" sz="1400" dirty="0"/>
          </a:p>
        </p:txBody>
      </p:sp>
      <p:sp>
        <p:nvSpPr>
          <p:cNvPr id="7" name="Text 4"/>
          <p:cNvSpPr txBox="1"/>
          <p:nvPr/>
        </p:nvSpPr>
        <p:spPr>
          <a:xfrm>
            <a:off x="731520" y="1984248"/>
            <a:ext cx="2240280" cy="5486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GitHub Issue, unique number</a:t>
            </a:r>
            <a:endParaRPr lang="en-US" sz="1300" dirty="0"/>
          </a:p>
        </p:txBody>
      </p:sp>
      <p:sp>
        <p:nvSpPr>
          <p:cNvPr id="8" name="Shape 5"/>
          <p:cNvSpPr/>
          <p:nvPr/>
        </p:nvSpPr>
        <p:spPr>
          <a:xfrm>
            <a:off x="3136392" y="1801368"/>
            <a:ext cx="201168" cy="237744"/>
          </a:xfrm>
          <a:prstGeom prst="rightArrow">
            <a:avLst/>
          </a:prstGeom>
          <a:solidFill>
            <a:srgbClr val="E8A33D"/>
          </a:solidFill>
          <a:ln w="12700">
            <a:solidFill>
              <a:srgbClr val="E8A33D"/>
            </a:solidFill>
            <a:prstDash val="solid"/>
          </a:ln>
        </p:spPr>
      </p:sp>
      <p:sp>
        <p:nvSpPr>
          <p:cNvPr id="9" name="Shape 6"/>
          <p:cNvSpPr/>
          <p:nvPr/>
        </p:nvSpPr>
        <p:spPr>
          <a:xfrm>
            <a:off x="3364992" y="1234440"/>
            <a:ext cx="2560320" cy="1371600"/>
          </a:xfrm>
          <a:prstGeom prst="roundRect">
            <a:avLst>
              <a:gd name="adj" fmla="val 5333"/>
            </a:avLst>
          </a:prstGeom>
          <a:solidFill>
            <a:srgbClr val="F3F5F8"/>
          </a:solidFill>
          <a:ln w="12700">
            <a:solidFill>
              <a:srgbClr val="F3F5F8"/>
            </a:solidFill>
            <a:prstDash val="solid"/>
          </a:ln>
        </p:spPr>
      </p:sp>
      <p:sp>
        <p:nvSpPr>
          <p:cNvPr id="10" name="Shape 7"/>
          <p:cNvSpPr/>
          <p:nvPr/>
        </p:nvSpPr>
        <p:spPr>
          <a:xfrm>
            <a:off x="3502152" y="1371600"/>
            <a:ext cx="502920" cy="502920"/>
          </a:xfrm>
          <a:prstGeom prst="ellipse">
            <a:avLst/>
          </a:prstGeom>
          <a:solidFill>
            <a:srgbClr val="14284B"/>
          </a:solidFill>
          <a:ln w="12700">
            <a:solidFill>
              <a:srgbClr val="14284B"/>
            </a:solidFill>
            <a:prstDash val="solid"/>
          </a:ln>
        </p:spPr>
      </p:sp>
      <p:pic>
        <p:nvPicPr>
          <p:cNvPr id="11" name="Image 1" descr="preencoded.png">    </p:cNvPr>
          <p:cNvPicPr>
            <a:picLocks noChangeAspect="1"/>
          </p:cNvPicPr>
          <p:nvPr/>
        </p:nvPicPr>
        <p:blipFill>
          <a:blip r:embed="rId2"/>
          <a:stretch>
            <a:fillRect/>
          </a:stretch>
        </p:blipFill>
        <p:spPr>
          <a:xfrm>
            <a:off x="3622853" y="1492301"/>
            <a:ext cx="261518" cy="261518"/>
          </a:xfrm>
          <a:prstGeom prst="rect">
            <a:avLst/>
          </a:prstGeom>
        </p:spPr>
      </p:pic>
      <p:sp>
        <p:nvSpPr>
          <p:cNvPr id="12" name="Text 8"/>
          <p:cNvSpPr txBox="1"/>
          <p:nvPr/>
        </p:nvSpPr>
        <p:spPr>
          <a:xfrm>
            <a:off x="4096512" y="1371600"/>
            <a:ext cx="1783080" cy="5029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2. Assess</a:t>
            </a:r>
            <a:endParaRPr lang="en-US" sz="1400" dirty="0"/>
          </a:p>
        </p:txBody>
      </p:sp>
      <p:sp>
        <p:nvSpPr>
          <p:cNvPr id="13" name="Text 9"/>
          <p:cNvSpPr txBox="1"/>
          <p:nvPr/>
        </p:nvSpPr>
        <p:spPr>
          <a:xfrm>
            <a:off x="3547872" y="1984248"/>
            <a:ext cx="2240280" cy="5486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Severity and priority</a:t>
            </a:r>
            <a:endParaRPr lang="en-US" sz="1300" dirty="0"/>
          </a:p>
        </p:txBody>
      </p:sp>
      <p:sp>
        <p:nvSpPr>
          <p:cNvPr id="14" name="Shape 10"/>
          <p:cNvSpPr/>
          <p:nvPr/>
        </p:nvSpPr>
        <p:spPr>
          <a:xfrm>
            <a:off x="5952744" y="1801368"/>
            <a:ext cx="201168" cy="237744"/>
          </a:xfrm>
          <a:prstGeom prst="rightArrow">
            <a:avLst/>
          </a:prstGeom>
          <a:solidFill>
            <a:srgbClr val="E8A33D"/>
          </a:solidFill>
          <a:ln w="12700">
            <a:solidFill>
              <a:srgbClr val="E8A33D"/>
            </a:solidFill>
            <a:prstDash val="solid"/>
          </a:ln>
        </p:spPr>
      </p:sp>
      <p:sp>
        <p:nvSpPr>
          <p:cNvPr id="15" name="Shape 11"/>
          <p:cNvSpPr/>
          <p:nvPr/>
        </p:nvSpPr>
        <p:spPr>
          <a:xfrm>
            <a:off x="6181344" y="1234440"/>
            <a:ext cx="2560320" cy="1371600"/>
          </a:xfrm>
          <a:prstGeom prst="roundRect">
            <a:avLst>
              <a:gd name="adj" fmla="val 5333"/>
            </a:avLst>
          </a:prstGeom>
          <a:solidFill>
            <a:srgbClr val="F3F5F8"/>
          </a:solidFill>
          <a:ln w="12700">
            <a:solidFill>
              <a:srgbClr val="F3F5F8"/>
            </a:solidFill>
            <a:prstDash val="solid"/>
          </a:ln>
        </p:spPr>
      </p:sp>
      <p:sp>
        <p:nvSpPr>
          <p:cNvPr id="16" name="Shape 12"/>
          <p:cNvSpPr/>
          <p:nvPr/>
        </p:nvSpPr>
        <p:spPr>
          <a:xfrm>
            <a:off x="6318504" y="1371600"/>
            <a:ext cx="502920" cy="502920"/>
          </a:xfrm>
          <a:prstGeom prst="ellipse">
            <a:avLst/>
          </a:prstGeom>
          <a:solidFill>
            <a:srgbClr val="14284B"/>
          </a:solidFill>
          <a:ln w="12700">
            <a:solidFill>
              <a:srgbClr val="14284B"/>
            </a:solidFill>
            <a:prstDash val="solid"/>
          </a:ln>
        </p:spPr>
      </p:sp>
      <p:pic>
        <p:nvPicPr>
          <p:cNvPr id="17" name="Image 2" descr="preencoded.png">    </p:cNvPr>
          <p:cNvPicPr>
            <a:picLocks noChangeAspect="1"/>
          </p:cNvPicPr>
          <p:nvPr/>
        </p:nvPicPr>
        <p:blipFill>
          <a:blip r:embed="rId3"/>
          <a:stretch>
            <a:fillRect/>
          </a:stretch>
        </p:blipFill>
        <p:spPr>
          <a:xfrm>
            <a:off x="6439205" y="1492301"/>
            <a:ext cx="261518" cy="261518"/>
          </a:xfrm>
          <a:prstGeom prst="rect">
            <a:avLst/>
          </a:prstGeom>
        </p:spPr>
      </p:pic>
      <p:sp>
        <p:nvSpPr>
          <p:cNvPr id="18" name="Text 13"/>
          <p:cNvSpPr txBox="1"/>
          <p:nvPr/>
        </p:nvSpPr>
        <p:spPr>
          <a:xfrm>
            <a:off x="6912864" y="1371600"/>
            <a:ext cx="1783080" cy="5029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3. Assign owner</a:t>
            </a:r>
            <a:endParaRPr lang="en-US" sz="1400" dirty="0"/>
          </a:p>
        </p:txBody>
      </p:sp>
      <p:sp>
        <p:nvSpPr>
          <p:cNvPr id="19" name="Text 14"/>
          <p:cNvSpPr txBox="1"/>
          <p:nvPr/>
        </p:nvSpPr>
        <p:spPr>
          <a:xfrm>
            <a:off x="6364224" y="1984248"/>
            <a:ext cx="2240280" cy="5486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One owner per issue</a:t>
            </a:r>
            <a:endParaRPr lang="en-US" sz="1300" dirty="0"/>
          </a:p>
        </p:txBody>
      </p:sp>
      <p:sp>
        <p:nvSpPr>
          <p:cNvPr id="20" name="Shape 15"/>
          <p:cNvSpPr/>
          <p:nvPr/>
        </p:nvSpPr>
        <p:spPr>
          <a:xfrm>
            <a:off x="8769096" y="1801368"/>
            <a:ext cx="201168" cy="237744"/>
          </a:xfrm>
          <a:prstGeom prst="rightArrow">
            <a:avLst/>
          </a:prstGeom>
          <a:solidFill>
            <a:srgbClr val="E8A33D"/>
          </a:solidFill>
          <a:ln w="12700">
            <a:solidFill>
              <a:srgbClr val="E8A33D"/>
            </a:solidFill>
            <a:prstDash val="solid"/>
          </a:ln>
        </p:spPr>
      </p:sp>
      <p:sp>
        <p:nvSpPr>
          <p:cNvPr id="21" name="Shape 16"/>
          <p:cNvSpPr/>
          <p:nvPr/>
        </p:nvSpPr>
        <p:spPr>
          <a:xfrm>
            <a:off x="8997696" y="1234440"/>
            <a:ext cx="2560320" cy="1371600"/>
          </a:xfrm>
          <a:prstGeom prst="roundRect">
            <a:avLst>
              <a:gd name="adj" fmla="val 5333"/>
            </a:avLst>
          </a:prstGeom>
          <a:solidFill>
            <a:srgbClr val="F3F5F8"/>
          </a:solidFill>
          <a:ln w="12700">
            <a:solidFill>
              <a:srgbClr val="F3F5F8"/>
            </a:solidFill>
            <a:prstDash val="solid"/>
          </a:ln>
        </p:spPr>
      </p:sp>
      <p:sp>
        <p:nvSpPr>
          <p:cNvPr id="22" name="Shape 17"/>
          <p:cNvSpPr/>
          <p:nvPr/>
        </p:nvSpPr>
        <p:spPr>
          <a:xfrm>
            <a:off x="9134856" y="1371600"/>
            <a:ext cx="502920" cy="502920"/>
          </a:xfrm>
          <a:prstGeom prst="ellipse">
            <a:avLst/>
          </a:prstGeom>
          <a:solidFill>
            <a:srgbClr val="14284B"/>
          </a:solidFill>
          <a:ln w="12700">
            <a:solidFill>
              <a:srgbClr val="14284B"/>
            </a:solidFill>
            <a:prstDash val="solid"/>
          </a:ln>
        </p:spPr>
      </p:sp>
      <p:pic>
        <p:nvPicPr>
          <p:cNvPr id="23" name="Image 3" descr="preencoded.png">    </p:cNvPr>
          <p:cNvPicPr>
            <a:picLocks noChangeAspect="1"/>
          </p:cNvPicPr>
          <p:nvPr/>
        </p:nvPicPr>
        <p:blipFill>
          <a:blip r:embed="rId4"/>
          <a:stretch>
            <a:fillRect/>
          </a:stretch>
        </p:blipFill>
        <p:spPr>
          <a:xfrm>
            <a:off x="9255557" y="1492301"/>
            <a:ext cx="261518" cy="261518"/>
          </a:xfrm>
          <a:prstGeom prst="rect">
            <a:avLst/>
          </a:prstGeom>
        </p:spPr>
      </p:pic>
      <p:sp>
        <p:nvSpPr>
          <p:cNvPr id="24" name="Text 18"/>
          <p:cNvSpPr txBox="1"/>
          <p:nvPr/>
        </p:nvSpPr>
        <p:spPr>
          <a:xfrm>
            <a:off x="9729216" y="1371600"/>
            <a:ext cx="1783080" cy="5029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4. Set target date</a:t>
            </a:r>
            <a:endParaRPr lang="en-US" sz="1400" dirty="0"/>
          </a:p>
        </p:txBody>
      </p:sp>
      <p:sp>
        <p:nvSpPr>
          <p:cNvPr id="25" name="Text 19"/>
          <p:cNvSpPr txBox="1"/>
          <p:nvPr/>
        </p:nvSpPr>
        <p:spPr>
          <a:xfrm>
            <a:off x="9180576" y="1984248"/>
            <a:ext cx="2240280" cy="5486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By severity</a:t>
            </a:r>
            <a:endParaRPr lang="en-US" sz="1300" dirty="0"/>
          </a:p>
        </p:txBody>
      </p:sp>
      <p:sp>
        <p:nvSpPr>
          <p:cNvPr id="26" name="Shape 20"/>
          <p:cNvSpPr/>
          <p:nvPr/>
        </p:nvSpPr>
        <p:spPr>
          <a:xfrm>
            <a:off x="548640" y="2834640"/>
            <a:ext cx="2560320" cy="1371600"/>
          </a:xfrm>
          <a:prstGeom prst="roundRect">
            <a:avLst>
              <a:gd name="adj" fmla="val 5333"/>
            </a:avLst>
          </a:prstGeom>
          <a:solidFill>
            <a:srgbClr val="E8F3F4"/>
          </a:solidFill>
          <a:ln w="12700">
            <a:solidFill>
              <a:srgbClr val="E8F3F4"/>
            </a:solidFill>
            <a:prstDash val="solid"/>
          </a:ln>
        </p:spPr>
      </p:sp>
      <p:sp>
        <p:nvSpPr>
          <p:cNvPr id="27" name="Shape 21"/>
          <p:cNvSpPr/>
          <p:nvPr/>
        </p:nvSpPr>
        <p:spPr>
          <a:xfrm>
            <a:off x="685800" y="2971800"/>
            <a:ext cx="502920" cy="502920"/>
          </a:xfrm>
          <a:prstGeom prst="ellipse">
            <a:avLst/>
          </a:prstGeom>
          <a:solidFill>
            <a:srgbClr val="14284B"/>
          </a:solidFill>
          <a:ln w="12700">
            <a:solidFill>
              <a:srgbClr val="14284B"/>
            </a:solidFill>
            <a:prstDash val="solid"/>
          </a:ln>
        </p:spPr>
      </p:sp>
      <p:pic>
        <p:nvPicPr>
          <p:cNvPr id="28" name="Image 4" descr="preencoded.png">    </p:cNvPr>
          <p:cNvPicPr>
            <a:picLocks noChangeAspect="1"/>
          </p:cNvPicPr>
          <p:nvPr/>
        </p:nvPicPr>
        <p:blipFill>
          <a:blip r:embed="rId5"/>
          <a:stretch>
            <a:fillRect/>
          </a:stretch>
        </p:blipFill>
        <p:spPr>
          <a:xfrm>
            <a:off x="806501" y="3092501"/>
            <a:ext cx="261518" cy="261518"/>
          </a:xfrm>
          <a:prstGeom prst="rect">
            <a:avLst/>
          </a:prstGeom>
        </p:spPr>
      </p:pic>
      <p:sp>
        <p:nvSpPr>
          <p:cNvPr id="29" name="Text 22"/>
          <p:cNvSpPr txBox="1"/>
          <p:nvPr/>
        </p:nvSpPr>
        <p:spPr>
          <a:xfrm>
            <a:off x="1280160" y="2971800"/>
            <a:ext cx="1783080" cy="5029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5. Escalate</a:t>
            </a:r>
            <a:endParaRPr lang="en-US" sz="1400" dirty="0"/>
          </a:p>
        </p:txBody>
      </p:sp>
      <p:sp>
        <p:nvSpPr>
          <p:cNvPr id="30" name="Text 23"/>
          <p:cNvSpPr txBox="1"/>
          <p:nvPr/>
        </p:nvSpPr>
        <p:spPr>
          <a:xfrm>
            <a:off x="731520" y="3584448"/>
            <a:ext cx="2240280" cy="5486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To sponsor; CR if baseline changes</a:t>
            </a:r>
            <a:endParaRPr lang="en-US" sz="1300" dirty="0"/>
          </a:p>
        </p:txBody>
      </p:sp>
      <p:sp>
        <p:nvSpPr>
          <p:cNvPr id="31" name="Shape 24"/>
          <p:cNvSpPr/>
          <p:nvPr/>
        </p:nvSpPr>
        <p:spPr>
          <a:xfrm>
            <a:off x="3136392" y="3401568"/>
            <a:ext cx="201168" cy="237744"/>
          </a:xfrm>
          <a:prstGeom prst="rightArrow">
            <a:avLst/>
          </a:prstGeom>
          <a:solidFill>
            <a:srgbClr val="E8A33D"/>
          </a:solidFill>
          <a:ln w="12700">
            <a:solidFill>
              <a:srgbClr val="E8A33D"/>
            </a:solidFill>
            <a:prstDash val="solid"/>
          </a:ln>
        </p:spPr>
      </p:sp>
      <p:sp>
        <p:nvSpPr>
          <p:cNvPr id="32" name="Shape 25"/>
          <p:cNvSpPr/>
          <p:nvPr/>
        </p:nvSpPr>
        <p:spPr>
          <a:xfrm>
            <a:off x="3364992" y="2834640"/>
            <a:ext cx="2560320" cy="1371600"/>
          </a:xfrm>
          <a:prstGeom prst="roundRect">
            <a:avLst>
              <a:gd name="adj" fmla="val 5333"/>
            </a:avLst>
          </a:prstGeom>
          <a:solidFill>
            <a:srgbClr val="E8F3F4"/>
          </a:solidFill>
          <a:ln w="12700">
            <a:solidFill>
              <a:srgbClr val="E8F3F4"/>
            </a:solidFill>
            <a:prstDash val="solid"/>
          </a:ln>
        </p:spPr>
      </p:sp>
      <p:sp>
        <p:nvSpPr>
          <p:cNvPr id="33" name="Shape 26"/>
          <p:cNvSpPr/>
          <p:nvPr/>
        </p:nvSpPr>
        <p:spPr>
          <a:xfrm>
            <a:off x="3502152" y="2971800"/>
            <a:ext cx="502920" cy="502920"/>
          </a:xfrm>
          <a:prstGeom prst="ellipse">
            <a:avLst/>
          </a:prstGeom>
          <a:solidFill>
            <a:srgbClr val="14284B"/>
          </a:solidFill>
          <a:ln w="12700">
            <a:solidFill>
              <a:srgbClr val="14284B"/>
            </a:solidFill>
            <a:prstDash val="solid"/>
          </a:ln>
        </p:spPr>
      </p:sp>
      <p:pic>
        <p:nvPicPr>
          <p:cNvPr id="34" name="Image 5" descr="preencoded.png">    </p:cNvPr>
          <p:cNvPicPr>
            <a:picLocks noChangeAspect="1"/>
          </p:cNvPicPr>
          <p:nvPr/>
        </p:nvPicPr>
        <p:blipFill>
          <a:blip r:embed="rId6"/>
          <a:stretch>
            <a:fillRect/>
          </a:stretch>
        </p:blipFill>
        <p:spPr>
          <a:xfrm>
            <a:off x="3622853" y="3092501"/>
            <a:ext cx="261518" cy="261518"/>
          </a:xfrm>
          <a:prstGeom prst="rect">
            <a:avLst/>
          </a:prstGeom>
        </p:spPr>
      </p:pic>
      <p:sp>
        <p:nvSpPr>
          <p:cNvPr id="35" name="Text 27"/>
          <p:cNvSpPr txBox="1"/>
          <p:nvPr/>
        </p:nvSpPr>
        <p:spPr>
          <a:xfrm>
            <a:off x="4096512" y="2971800"/>
            <a:ext cx="1783080" cy="5029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6. Track action</a:t>
            </a:r>
            <a:endParaRPr lang="en-US" sz="1400" dirty="0"/>
          </a:p>
        </p:txBody>
      </p:sp>
      <p:sp>
        <p:nvSpPr>
          <p:cNvPr id="36" name="Text 28"/>
          <p:cNvSpPr txBox="1"/>
          <p:nvPr/>
        </p:nvSpPr>
        <p:spPr>
          <a:xfrm>
            <a:off x="3547872" y="3584448"/>
            <a:ext cx="2240280" cy="5486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Weekly team review</a:t>
            </a:r>
            <a:endParaRPr lang="en-US" sz="1300" dirty="0"/>
          </a:p>
        </p:txBody>
      </p:sp>
      <p:sp>
        <p:nvSpPr>
          <p:cNvPr id="37" name="Shape 29"/>
          <p:cNvSpPr/>
          <p:nvPr/>
        </p:nvSpPr>
        <p:spPr>
          <a:xfrm>
            <a:off x="5952744" y="3401568"/>
            <a:ext cx="201168" cy="237744"/>
          </a:xfrm>
          <a:prstGeom prst="rightArrow">
            <a:avLst/>
          </a:prstGeom>
          <a:solidFill>
            <a:srgbClr val="E8A33D"/>
          </a:solidFill>
          <a:ln w="12700">
            <a:solidFill>
              <a:srgbClr val="E8A33D"/>
            </a:solidFill>
            <a:prstDash val="solid"/>
          </a:ln>
        </p:spPr>
      </p:sp>
      <p:sp>
        <p:nvSpPr>
          <p:cNvPr id="38" name="Shape 30"/>
          <p:cNvSpPr/>
          <p:nvPr/>
        </p:nvSpPr>
        <p:spPr>
          <a:xfrm>
            <a:off x="6181344" y="2834640"/>
            <a:ext cx="2560320" cy="1371600"/>
          </a:xfrm>
          <a:prstGeom prst="roundRect">
            <a:avLst>
              <a:gd name="adj" fmla="val 5333"/>
            </a:avLst>
          </a:prstGeom>
          <a:solidFill>
            <a:srgbClr val="E8F3F4"/>
          </a:solidFill>
          <a:ln w="12700">
            <a:solidFill>
              <a:srgbClr val="E8F3F4"/>
            </a:solidFill>
            <a:prstDash val="solid"/>
          </a:ln>
        </p:spPr>
      </p:sp>
      <p:sp>
        <p:nvSpPr>
          <p:cNvPr id="39" name="Shape 31"/>
          <p:cNvSpPr/>
          <p:nvPr/>
        </p:nvSpPr>
        <p:spPr>
          <a:xfrm>
            <a:off x="6318504" y="2971800"/>
            <a:ext cx="502920" cy="502920"/>
          </a:xfrm>
          <a:prstGeom prst="ellipse">
            <a:avLst/>
          </a:prstGeom>
          <a:solidFill>
            <a:srgbClr val="14284B"/>
          </a:solidFill>
          <a:ln w="12700">
            <a:solidFill>
              <a:srgbClr val="14284B"/>
            </a:solidFill>
            <a:prstDash val="solid"/>
          </a:ln>
        </p:spPr>
      </p:sp>
      <p:pic>
        <p:nvPicPr>
          <p:cNvPr id="40" name="Image 6" descr="preencoded.png">    </p:cNvPr>
          <p:cNvPicPr>
            <a:picLocks noChangeAspect="1"/>
          </p:cNvPicPr>
          <p:nvPr/>
        </p:nvPicPr>
        <p:blipFill>
          <a:blip r:embed="rId7"/>
          <a:stretch>
            <a:fillRect/>
          </a:stretch>
        </p:blipFill>
        <p:spPr>
          <a:xfrm>
            <a:off x="6439205" y="3092501"/>
            <a:ext cx="261518" cy="261518"/>
          </a:xfrm>
          <a:prstGeom prst="rect">
            <a:avLst/>
          </a:prstGeom>
        </p:spPr>
      </p:pic>
      <p:sp>
        <p:nvSpPr>
          <p:cNvPr id="41" name="Text 32"/>
          <p:cNvSpPr txBox="1"/>
          <p:nvPr/>
        </p:nvSpPr>
        <p:spPr>
          <a:xfrm>
            <a:off x="6912864" y="2971800"/>
            <a:ext cx="1783080" cy="5029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7. Verify and close</a:t>
            </a:r>
            <a:endParaRPr lang="en-US" sz="1400" dirty="0"/>
          </a:p>
        </p:txBody>
      </p:sp>
      <p:sp>
        <p:nvSpPr>
          <p:cNvPr id="42" name="Text 33"/>
          <p:cNvSpPr txBox="1"/>
          <p:nvPr/>
        </p:nvSpPr>
        <p:spPr>
          <a:xfrm>
            <a:off x="6364224" y="3584448"/>
            <a:ext cx="2240280" cy="5486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Requester or QA confirms</a:t>
            </a:r>
            <a:endParaRPr lang="en-US" sz="1300" dirty="0"/>
          </a:p>
        </p:txBody>
      </p:sp>
      <p:sp>
        <p:nvSpPr>
          <p:cNvPr id="43" name="Shape 34"/>
          <p:cNvSpPr/>
          <p:nvPr/>
        </p:nvSpPr>
        <p:spPr>
          <a:xfrm>
            <a:off x="8769096" y="3401568"/>
            <a:ext cx="201168" cy="237744"/>
          </a:xfrm>
          <a:prstGeom prst="rightArrow">
            <a:avLst/>
          </a:prstGeom>
          <a:solidFill>
            <a:srgbClr val="E8A33D"/>
          </a:solidFill>
          <a:ln w="12700">
            <a:solidFill>
              <a:srgbClr val="E8A33D"/>
            </a:solidFill>
            <a:prstDash val="solid"/>
          </a:ln>
        </p:spPr>
      </p:sp>
      <p:sp>
        <p:nvSpPr>
          <p:cNvPr id="44" name="Shape 35"/>
          <p:cNvSpPr/>
          <p:nvPr/>
        </p:nvSpPr>
        <p:spPr>
          <a:xfrm>
            <a:off x="8997696" y="2834640"/>
            <a:ext cx="2560320" cy="1371600"/>
          </a:xfrm>
          <a:prstGeom prst="roundRect">
            <a:avLst>
              <a:gd name="adj" fmla="val 5333"/>
            </a:avLst>
          </a:prstGeom>
          <a:solidFill>
            <a:srgbClr val="E8F3F4"/>
          </a:solidFill>
          <a:ln w="12700">
            <a:solidFill>
              <a:srgbClr val="E8F3F4"/>
            </a:solidFill>
            <a:prstDash val="solid"/>
          </a:ln>
        </p:spPr>
      </p:sp>
      <p:sp>
        <p:nvSpPr>
          <p:cNvPr id="45" name="Shape 36"/>
          <p:cNvSpPr/>
          <p:nvPr/>
        </p:nvSpPr>
        <p:spPr>
          <a:xfrm>
            <a:off x="9134856" y="2971800"/>
            <a:ext cx="502920" cy="502920"/>
          </a:xfrm>
          <a:prstGeom prst="ellipse">
            <a:avLst/>
          </a:prstGeom>
          <a:solidFill>
            <a:srgbClr val="14284B"/>
          </a:solidFill>
          <a:ln w="12700">
            <a:solidFill>
              <a:srgbClr val="14284B"/>
            </a:solidFill>
            <a:prstDash val="solid"/>
          </a:ln>
        </p:spPr>
      </p:sp>
      <p:pic>
        <p:nvPicPr>
          <p:cNvPr id="46" name="Image 7" descr="preencoded.png">    </p:cNvPr>
          <p:cNvPicPr>
            <a:picLocks noChangeAspect="1"/>
          </p:cNvPicPr>
          <p:nvPr/>
        </p:nvPicPr>
        <p:blipFill>
          <a:blip r:embed="rId8"/>
          <a:stretch>
            <a:fillRect/>
          </a:stretch>
        </p:blipFill>
        <p:spPr>
          <a:xfrm>
            <a:off x="9255557" y="3092501"/>
            <a:ext cx="261518" cy="261518"/>
          </a:xfrm>
          <a:prstGeom prst="rect">
            <a:avLst/>
          </a:prstGeom>
        </p:spPr>
      </p:pic>
      <p:sp>
        <p:nvSpPr>
          <p:cNvPr id="47" name="Text 37"/>
          <p:cNvSpPr txBox="1"/>
          <p:nvPr/>
        </p:nvSpPr>
        <p:spPr>
          <a:xfrm>
            <a:off x="9729216" y="2971800"/>
            <a:ext cx="1783080" cy="502920"/>
          </a:xfrm>
          <a:prstGeom prst="rect">
            <a:avLst/>
          </a:prstGeom>
          <a:noFill/>
          <a:ln/>
        </p:spPr>
        <p:txBody>
          <a:bodyPr wrap="square" lIns="0" tIns="0" rIns="0" bIns="0" rtlCol="0" anchor="ctr"/>
          <a:lstStyle/>
          <a:p>
            <a:pPr indent="0" marL="0">
              <a:buNone/>
            </a:pPr>
            <a:r>
              <a:rPr lang="en-US" sz="1400" b="1" dirty="0">
                <a:solidFill>
                  <a:srgbClr val="14284B"/>
                </a:solidFill>
                <a:latin typeface="Calibri" pitchFamily="34" charset="0"/>
                <a:ea typeface="Calibri" pitchFamily="34" charset="-122"/>
                <a:cs typeface="Calibri" pitchFamily="34" charset="-120"/>
              </a:rPr>
              <a:t>8. Learn</a:t>
            </a:r>
            <a:endParaRPr lang="en-US" sz="1400" dirty="0"/>
          </a:p>
        </p:txBody>
      </p:sp>
      <p:sp>
        <p:nvSpPr>
          <p:cNvPr id="48" name="Text 38"/>
          <p:cNvSpPr txBox="1"/>
          <p:nvPr/>
        </p:nvSpPr>
        <p:spPr>
          <a:xfrm>
            <a:off x="9180576" y="3584448"/>
            <a:ext cx="2240280" cy="548640"/>
          </a:xfrm>
          <a:prstGeom prst="rect">
            <a:avLst/>
          </a:prstGeom>
          <a:noFill/>
          <a:ln/>
        </p:spPr>
        <p:txBody>
          <a:bodyPr wrap="square" lIns="0" tIns="0" rIns="0" bIns="0" rtlCol="0" anchor="t"/>
          <a:lstStyle/>
          <a:p>
            <a:pPr indent="0" marL="0">
              <a:buNone/>
            </a:pPr>
            <a:r>
              <a:rPr lang="en-US" sz="1300" dirty="0">
                <a:solidFill>
                  <a:srgbClr val="5B6576"/>
                </a:solidFill>
                <a:latin typeface="Calibri" pitchFamily="34" charset="0"/>
                <a:ea typeface="Calibri" pitchFamily="34" charset="-122"/>
                <a:cs typeface="Calibri" pitchFamily="34" charset="-120"/>
              </a:rPr>
              <a:t>Root causes to lessons log</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4023360" cy="914400"/>
        </p:xfrm>
        <a:graphic>
          <a:graphicData uri="http://schemas.openxmlformats.org/drawingml/2006/table">
            <a:tbl>
              <a:tblPr/>
              <a:tblGrid>
                <a:gridCol w="1463040"/>
                <a:gridCol w="2560320"/>
              </a:tblGrid>
              <a:tr h="29260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Severity</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Target resolution</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r>
              <a:tr h="29260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 working day</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29260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 days</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29260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 days</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292608">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Next planned release</a:t>
                      </a:r>
                      <a:endParaRPr lang="en-US" sz="13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bl>
          </a:graphicData>
        </a:graphic>
      </p:graphicFrame>
      <p:sp>
        <p:nvSpPr>
          <p:cNvPr id="50" name="Shape 39"/>
          <p:cNvSpPr/>
          <p:nvPr/>
        </p:nvSpPr>
        <p:spPr>
          <a:xfrm>
            <a:off x="4846320" y="4526280"/>
            <a:ext cx="6793992" cy="1463040"/>
          </a:xfrm>
          <a:prstGeom prst="roundRect">
            <a:avLst>
              <a:gd name="adj" fmla="val 5000"/>
            </a:avLst>
          </a:prstGeom>
          <a:solidFill>
            <a:srgbClr val="FCF1DE"/>
          </a:solidFill>
          <a:ln w="12700">
            <a:solidFill>
              <a:srgbClr val="FCF1DE"/>
            </a:solidFill>
            <a:prstDash val="solid"/>
          </a:ln>
        </p:spPr>
      </p:sp>
      <p:sp>
        <p:nvSpPr>
          <p:cNvPr id="51" name="Text 40"/>
          <p:cNvSpPr txBox="1"/>
          <p:nvPr/>
        </p:nvSpPr>
        <p:spPr>
          <a:xfrm>
            <a:off x="5029200" y="4572000"/>
            <a:ext cx="6492240" cy="1371600"/>
          </a:xfrm>
          <a:prstGeom prst="rect">
            <a:avLst/>
          </a:prstGeom>
          <a:noFill/>
          <a:ln/>
        </p:spPr>
        <p:txBody>
          <a:bodyPr wrap="square" lIns="0" tIns="0" rIns="0" bIns="0" rtlCol="0" anchor="ctr"/>
          <a:lstStyle/>
          <a:p>
            <a:pPr indent="0" marL="0">
              <a:buNone/>
            </a:pPr>
            <a:r>
              <a:rPr lang="en-US" sz="1300" b="1" dirty="0">
                <a:solidFill>
                  <a:srgbClr val="14284B"/>
                </a:solidFill>
                <a:latin typeface="Calibri" pitchFamily="34" charset="0"/>
                <a:ea typeface="Calibri" pitchFamily="34" charset="-122"/>
                <a:cs typeface="Calibri" pitchFamily="34" charset="-120"/>
              </a:rPr>
              <a:t>Risk vs issue: </a:t>
            </a:r>
            <a:pPr indent="0" marL="0">
              <a:buNone/>
            </a:pPr>
            <a:r>
              <a:rPr lang="en-US" sz="1300" dirty="0">
                <a:solidFill>
                  <a:srgbClr val="1F2937"/>
                </a:solidFill>
                <a:latin typeface="Calibri" pitchFamily="34" charset="0"/>
                <a:ea typeface="Calibri" pitchFamily="34" charset="-122"/>
                <a:cs typeface="Calibri" pitchFamily="34" charset="-120"/>
              </a:rPr>
              <a:t>a risk may happen; an issue already has. When a risk trigger fires, it moves from the risk register to the issue log.</a:t>
            </a:r>
            <a:endParaRPr lang="en-US" sz="1300" dirty="0"/>
          </a:p>
          <a:p>
            <a:pPr indent="0" marL="0">
              <a:buNone/>
            </a:pPr>
            <a:r>
              <a:rPr lang="en-US" sz="1300" b="1" dirty="0">
                <a:solidFill>
                  <a:srgbClr val="14284B"/>
                </a:solidFill>
                <a:latin typeface="Calibri" pitchFamily="34" charset="0"/>
                <a:ea typeface="Calibri" pitchFamily="34" charset="-122"/>
                <a:cs typeface="Calibri" pitchFamily="34" charset="-120"/>
              </a:rPr>
              <a:t>Template example (ISS-007): </a:t>
            </a:r>
            <a:pPr indent="0" marL="0">
              <a:buNone/>
            </a:pPr>
            <a:r>
              <a:rPr lang="en-US" sz="1300" dirty="0">
                <a:solidFill>
                  <a:srgbClr val="1F2937"/>
                </a:solidFill>
                <a:latin typeface="Calibri" pitchFamily="34" charset="0"/>
                <a:ea typeface="Calibri" pitchFamily="34" charset="-122"/>
                <a:cs typeface="Calibri" pitchFamily="34" charset="-120"/>
              </a:rPr>
              <a:t>CSV export date format differs from spec → conversion script; linked to R3; no CR needed. Illustrative only.</a:t>
            </a:r>
            <a:endParaRPr lang="en-US" sz="13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Change control: no change alters the baseline without a decision</a:t>
            </a:r>
            <a:endParaRPr lang="en-US" sz="2800" dirty="0"/>
          </a:p>
        </p:txBody>
      </p:sp>
      <p:pic>
        <p:nvPicPr>
          <p:cNvPr id="3" name="Image 0" descr="assets/chg.png">    </p:cNvPr>
          <p:cNvPicPr>
            <a:picLocks noChangeAspect="1"/>
          </p:cNvPicPr>
          <p:nvPr/>
        </p:nvPicPr>
        <p:blipFill>
          <a:blip r:embed="rId1"/>
          <a:stretch>
            <a:fillRect/>
          </a:stretch>
        </p:blipFill>
        <p:spPr>
          <a:xfrm>
            <a:off x="548640" y="1143000"/>
            <a:ext cx="11091672" cy="2596896"/>
          </a:xfrm>
          <a:prstGeom prst="rect">
            <a:avLst/>
          </a:prstGeom>
        </p:spPr>
      </p:pic>
      <p:sp>
        <p:nvSpPr>
          <p:cNvPr id="4" name="Shape 1"/>
          <p:cNvSpPr/>
          <p:nvPr/>
        </p:nvSpPr>
        <p:spPr>
          <a:xfrm>
            <a:off x="548640" y="3931920"/>
            <a:ext cx="5120640" cy="2057400"/>
          </a:xfrm>
          <a:prstGeom prst="roundRect">
            <a:avLst>
              <a:gd name="adj" fmla="val 3556"/>
            </a:avLst>
          </a:prstGeom>
          <a:solidFill>
            <a:srgbClr val="F3F5F8"/>
          </a:solidFill>
          <a:ln w="12700">
            <a:solidFill>
              <a:srgbClr val="F3F5F8"/>
            </a:solidFill>
            <a:prstDash val="solid"/>
          </a:ln>
        </p:spPr>
      </p:sp>
      <p:sp>
        <p:nvSpPr>
          <p:cNvPr id="5" name="Text 2"/>
          <p:cNvSpPr txBox="1"/>
          <p:nvPr/>
        </p:nvSpPr>
        <p:spPr>
          <a:xfrm>
            <a:off x="777240" y="4023360"/>
            <a:ext cx="475488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Who decides</a:t>
            </a:r>
            <a:endParaRPr lang="en-US" sz="1500" dirty="0"/>
          </a:p>
        </p:txBody>
      </p:sp>
      <p:sp>
        <p:nvSpPr>
          <p:cNvPr id="6" name="Text 3"/>
          <p:cNvSpPr txBox="1"/>
          <p:nvPr/>
        </p:nvSpPr>
        <p:spPr>
          <a:xfrm>
            <a:off x="777240" y="4389120"/>
            <a:ext cx="4754880" cy="15544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CCB: sponsor (chair), PM, technical lead, lecturer representative</a:t>
            </a:r>
            <a:endParaRPr lang="en-US" sz="1400" dirty="0"/>
          </a:p>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PM may approve minor changes: no scope or critical-path effect, up to AUD 5,000</a:t>
            </a:r>
            <a:endParaRPr lang="en-US" sz="1400" dirty="0"/>
          </a:p>
          <a:p>
            <a:pPr marL="203200" indent="-2032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Every decision is recorded and linked: issue → pull request → release</a:t>
            </a:r>
            <a:endParaRPr lang="en-US" sz="1400" dirty="0"/>
          </a:p>
        </p:txBody>
      </p:sp>
      <p:sp>
        <p:nvSpPr>
          <p:cNvPr id="7" name="Shape 4"/>
          <p:cNvSpPr/>
          <p:nvPr/>
        </p:nvSpPr>
        <p:spPr>
          <a:xfrm>
            <a:off x="5943600" y="3931920"/>
            <a:ext cx="5696712" cy="2057400"/>
          </a:xfrm>
          <a:prstGeom prst="roundRect">
            <a:avLst>
              <a:gd name="adj" fmla="val 3556"/>
            </a:avLst>
          </a:prstGeom>
          <a:solidFill>
            <a:srgbClr val="FBECEA"/>
          </a:solidFill>
          <a:ln w="12700">
            <a:solidFill>
              <a:srgbClr val="FBECEA"/>
            </a:solidFill>
            <a:prstDash val="solid"/>
          </a:ln>
        </p:spPr>
      </p:sp>
      <p:sp>
        <p:nvSpPr>
          <p:cNvPr id="8" name="Text 5"/>
          <p:cNvSpPr txBox="1"/>
          <p:nvPr/>
        </p:nvSpPr>
        <p:spPr>
          <a:xfrm>
            <a:off x="6126480" y="4005072"/>
            <a:ext cx="5394960" cy="1920240"/>
          </a:xfrm>
          <a:prstGeom prst="rect">
            <a:avLst/>
          </a:prstGeom>
          <a:noFill/>
          <a:ln/>
        </p:spPr>
        <p:txBody>
          <a:bodyPr wrap="square" lIns="0" tIns="0" rIns="0" bIns="0" rtlCol="0" anchor="t"/>
          <a:lstStyle/>
          <a:p>
            <a:pPr indent="0" marL="0">
              <a:buNone/>
            </a:pPr>
            <a:r>
              <a:rPr lang="en-US" sz="1500" b="1" dirty="0">
                <a:solidFill>
                  <a:srgbClr val="C0392B"/>
                </a:solidFill>
                <a:latin typeface="Calibri" pitchFamily="34" charset="0"/>
                <a:ea typeface="Calibri" pitchFamily="34" charset="-122"/>
                <a:cs typeface="Calibri" pitchFamily="34" charset="-120"/>
              </a:rPr>
              <a:t>Worked example: CR-014 (illustrative)</a:t>
            </a:r>
            <a:endParaRPr lang="en-US" sz="1400" dirty="0"/>
          </a:p>
          <a:p>
            <a:pPr indent="0" marL="0">
              <a:buNone/>
            </a:pPr>
            <a:r>
              <a:rPr lang="en-US" sz="1400" b="1" dirty="0">
                <a:solidFill>
                  <a:srgbClr val="1F2937"/>
                </a:solidFill>
                <a:latin typeface="Calibri" pitchFamily="34" charset="0"/>
                <a:ea typeface="Calibri" pitchFamily="34" charset="-122"/>
                <a:cs typeface="Calibri" pitchFamily="34" charset="-120"/>
              </a:rPr>
              <a:t>Request: </a:t>
            </a:r>
            <a:pPr indent="0" marL="0">
              <a:buNone/>
            </a:pPr>
            <a:r>
              <a:rPr lang="en-US" sz="1400" dirty="0">
                <a:solidFill>
                  <a:srgbClr val="1F2937"/>
                </a:solidFill>
                <a:latin typeface="Calibri" pitchFamily="34" charset="0"/>
                <a:ea typeface="Calibri" pitchFamily="34" charset="-122"/>
                <a:cs typeface="Calibri" pitchFamily="34" charset="-120"/>
              </a:rPr>
              <a:t>integrate live video conferencing into Moodle.</a:t>
            </a:r>
            <a:endParaRPr lang="en-US" sz="1400" dirty="0"/>
          </a:p>
          <a:p>
            <a:pPr indent="0" marL="0">
              <a:buNone/>
            </a:pPr>
            <a:r>
              <a:rPr lang="en-US" sz="1400" b="1" dirty="0">
                <a:solidFill>
                  <a:srgbClr val="1F2937"/>
                </a:solidFill>
                <a:latin typeface="Calibri" pitchFamily="34" charset="0"/>
                <a:ea typeface="Calibri" pitchFamily="34" charset="-122"/>
                <a:cs typeface="Calibri" pitchFamily="34" charset="-120"/>
              </a:rPr>
              <a:t>Impact: </a:t>
            </a:r>
            <a:pPr indent="0" marL="0">
              <a:buNone/>
            </a:pPr>
            <a:r>
              <a:rPr lang="en-US" sz="1400" dirty="0">
                <a:solidFill>
                  <a:srgbClr val="1F2937"/>
                </a:solidFill>
                <a:latin typeface="Calibri" pitchFamily="34" charset="0"/>
                <a:ea typeface="Calibri" pitchFamily="34" charset="-122"/>
                <a:cs typeface="Calibri" pitchFamily="34" charset="-120"/>
              </a:rPr>
              <a:t>+3 weeks on task 8.2 (zero float) pushes go-live from Week 25 to Week 28, into teaching; AUD 18,500 (60% of contingency); new privacy data flow.</a:t>
            </a:r>
            <a:endParaRPr lang="en-US" sz="1400" dirty="0"/>
          </a:p>
          <a:p>
            <a:pPr indent="0" marL="0">
              <a:buNone/>
            </a:pPr>
            <a:r>
              <a:rPr lang="en-US" sz="1400" b="1" dirty="0">
                <a:solidFill>
                  <a:srgbClr val="1F2937"/>
                </a:solidFill>
                <a:latin typeface="Calibri" pitchFamily="34" charset="0"/>
                <a:ea typeface="Calibri" pitchFamily="34" charset="-122"/>
                <a:cs typeface="Calibri" pitchFamily="34" charset="-120"/>
              </a:rPr>
              <a:t>Decision: </a:t>
            </a:r>
            <a:pPr indent="0" marL="0">
              <a:buNone/>
            </a:pPr>
            <a:r>
              <a:rPr lang="en-US" sz="1400" dirty="0">
                <a:solidFill>
                  <a:srgbClr val="1F2937"/>
                </a:solidFill>
                <a:latin typeface="Calibri" pitchFamily="34" charset="0"/>
                <a:ea typeface="Calibri" pitchFamily="34" charset="-122"/>
                <a:cs typeface="Calibri" pitchFamily="34" charset="-120"/>
              </a:rPr>
              <a:t>rejected for this phase in Week 16; added to the Phase 2 backlog.</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Communication plan: right message, right audience, right time</a:t>
            </a:r>
            <a:endParaRPr lang="en-US" sz="2800" dirty="0"/>
          </a:p>
        </p:txBody>
      </p:sp>
      <p:pic>
        <p:nvPicPr>
          <p:cNvPr id="3" name="Image 0" descr="assets/team.jpg">    </p:cNvPr>
          <p:cNvPicPr>
            <a:picLocks noChangeAspect="1"/>
          </p:cNvPicPr>
          <p:nvPr/>
        </p:nvPicPr>
        <p:blipFill>
          <a:blip r:embed="rId1"/>
          <a:stretch>
            <a:fillRect/>
          </a:stretch>
        </p:blipFill>
        <p:spPr>
          <a:xfrm>
            <a:off x="548640" y="1188720"/>
            <a:ext cx="3566160" cy="3246120"/>
          </a:xfrm>
          <a:prstGeom prst="rect">
            <a:avLst/>
          </a:prstGeom>
        </p:spPr>
      </p:pic>
      <p:sp>
        <p:nvSpPr>
          <p:cNvPr id="4" name="Text 1"/>
          <p:cNvSpPr txBox="1"/>
          <p:nvPr/>
        </p:nvSpPr>
        <p:spPr>
          <a:xfrm>
            <a:off x="548640" y="4800600"/>
            <a:ext cx="3566160" cy="1234440"/>
          </a:xfrm>
          <a:prstGeom prst="rect">
            <a:avLst/>
          </a:prstGeom>
          <a:noFill/>
          <a:ln/>
        </p:spPr>
        <p:txBody>
          <a:bodyPr wrap="square" lIns="0" tIns="0" rIns="0" bIns="0" rtlCol="0" anchor="t"/>
          <a:lstStyle/>
          <a:p>
            <a:pPr indent="0" marL="0">
              <a:buNone/>
            </a:pPr>
            <a:r>
              <a:rPr lang="en-US" sz="1400" b="1" dirty="0">
                <a:solidFill>
                  <a:srgbClr val="14284B"/>
                </a:solidFill>
                <a:latin typeface="Calibri" pitchFamily="34" charset="0"/>
                <a:ea typeface="Calibri" pitchFamily="34" charset="-122"/>
                <a:cs typeface="Calibri" pitchFamily="34" charset="-120"/>
              </a:rPr>
              <a:t>Engagement by power and interest</a:t>
            </a:r>
            <a:endParaRPr lang="en-US" sz="1400" dirty="0"/>
          </a:p>
          <a:p>
            <a:pPr indent="0" marL="0">
              <a:buNone/>
            </a:pPr>
            <a:r>
              <a:rPr lang="en-US" sz="1200" dirty="0">
                <a:solidFill>
                  <a:srgbClr val="1F2937"/>
                </a:solidFill>
                <a:latin typeface="Calibri" pitchFamily="34" charset="0"/>
                <a:ea typeface="Calibri" pitchFamily="34" charset="-122"/>
                <a:cs typeface="Calibri" pitchFamily="34" charset="-120"/>
              </a:rPr>
              <a:t>Manage closely: sponsor, heads of school, IT Services. Keep satisfied: executive, Privacy Officer. Involve: lecturers. Monitor: suppliers.</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389120" y="1188720"/>
          <a:ext cx="7251192" cy="914400"/>
        </p:xfrm>
        <a:graphic>
          <a:graphicData uri="http://schemas.openxmlformats.org/drawingml/2006/table">
            <a:tbl>
              <a:tblPr/>
              <a:tblGrid>
                <a:gridCol w="1737360"/>
                <a:gridCol w="1920240"/>
                <a:gridCol w="1828800"/>
                <a:gridCol w="1764792"/>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Stakeholder</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Key information</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Frequency or trigger</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14284B"/>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Sponsor and steering committee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Progress, risks, issues, decisions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Status report; steering meeting</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Fortnightly report; monthly meeting</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Project team</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Tasks, dependencies, blockers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Stand-up; GitHub project board</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Twice weekly; continuous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Lecturers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Purpose, timeline, training, support</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Bulletin; school meetings; training</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Monthly; before training; at go-live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Pilot lecturers and students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Pilot schedule, how to report problems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Briefing; in-LMS announcements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Before pilot; weekly during pilot</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Students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What changes, login, where to get help</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Portal news; email; orientation video</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4 weeks and 1 week before go-live</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IT Services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Architecture, operations, handover</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Technical docs; handover sessions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During design; before handover</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All users (incidents)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Outages and workarounds</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LMS banner; email</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On incident</a:t>
                      </a:r>
                      <a:endParaRPr lang="en-US" sz="1200" dirty="0">
                        <a:latin typeface="Calibri" charset="0"/>
                        <a:ea typeface="Calibri" charset="0"/>
                        <a:cs typeface="Calibri" charset="0"/>
                      </a:endParaRPr>
                    </a:p>
                  </a:txBody>
                  <a:tcPr marL="63500" marR="63500" marT="38100" marB="38100" anchor="ctr">
                    <a:lnL w="6350" cap="flat" cmpd="sng" algn="ctr">
                      <a:solidFill>
                        <a:srgbClr val="C9D1DC"/>
                      </a:solidFill>
                      <a:prstDash val="solid"/>
                      <a:round/>
                      <a:headEnd type="none" w="med" len="med"/>
                      <a:tailEnd type="none" w="med" len="med"/>
                    </a:lnL>
                    <a:lnR w="6350" cap="flat" cmpd="sng" algn="ctr">
                      <a:solidFill>
                        <a:srgbClr val="C9D1DC"/>
                      </a:solidFill>
                      <a:prstDash val="solid"/>
                      <a:round/>
                      <a:headEnd type="none" w="med" len="med"/>
                      <a:tailEnd type="none" w="med" len="med"/>
                    </a:lnR>
                    <a:lnT w="6350" cap="flat" cmpd="sng" algn="ctr">
                      <a:solidFill>
                        <a:srgbClr val="C9D1DC"/>
                      </a:solidFill>
                      <a:prstDash val="solid"/>
                      <a:round/>
                      <a:headEnd type="none" w="med" len="med"/>
                      <a:tailEnd type="none" w="med" len="med"/>
                    </a:lnT>
                    <a:lnB w="6350" cap="flat" cmpd="sng" algn="ctr">
                      <a:solidFill>
                        <a:srgbClr val="C9D1DC"/>
                      </a:solidFill>
                      <a:prstDash val="solid"/>
                      <a:round/>
                      <a:headEnd type="none" w="med" len="med"/>
                      <a:tailEnd type="none" w="med" len="med"/>
                    </a:lnB>
                    <a:solidFill>
                      <a:srgbClr val="F3F5F8"/>
                    </a:solidFill>
                  </a:tcPr>
                </a:tc>
              </a:tr>
            </a:tbl>
          </a:graphicData>
        </a:graphic>
      </p:graphicFrame>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Quality management: planned gates before go-live</a:t>
            </a:r>
            <a:endParaRPr lang="en-US" sz="2800" dirty="0"/>
          </a:p>
        </p:txBody>
      </p:sp>
      <p:sp>
        <p:nvSpPr>
          <p:cNvPr id="3" name="Text 1"/>
          <p:cNvSpPr txBox="1"/>
          <p:nvPr/>
        </p:nvSpPr>
        <p:spPr>
          <a:xfrm>
            <a:off x="548640" y="1143000"/>
            <a:ext cx="11091672" cy="548640"/>
          </a:xfrm>
          <a:prstGeom prst="rect">
            <a:avLst/>
          </a:prstGeom>
          <a:noFill/>
          <a:ln/>
        </p:spPr>
        <p:txBody>
          <a:bodyPr wrap="square" lIns="0" tIns="0" rIns="0" bIns="0" rtlCol="0" anchor="t"/>
          <a:lstStyle/>
          <a:p>
            <a:pPr indent="0" marL="0">
              <a:buNone/>
            </a:pPr>
            <a:r>
              <a:rPr lang="en-US" sz="1400" b="1" dirty="0">
                <a:solidFill>
                  <a:srgbClr val="0F8B8D"/>
                </a:solidFill>
                <a:latin typeface="Calibri" pitchFamily="34" charset="0"/>
                <a:ea typeface="Calibri" pitchFamily="34" charset="-122"/>
                <a:cs typeface="Calibri" pitchFamily="34" charset="-120"/>
              </a:rPr>
              <a:t>Quality assurance </a:t>
            </a:r>
            <a:pPr indent="0" marL="0">
              <a:buNone/>
            </a:pPr>
            <a:r>
              <a:rPr lang="en-US" sz="1400" dirty="0">
                <a:solidFill>
                  <a:srgbClr val="1F2937"/>
                </a:solidFill>
                <a:latin typeface="Calibri" pitchFamily="34" charset="0"/>
                <a:ea typeface="Calibri" pitchFamily="34" charset="-122"/>
                <a:cs typeface="Calibri" pitchFamily="34" charset="-120"/>
              </a:rPr>
              <a:t>prevents defects through process: requirement and design reviews, pull-request peer review, change control.   </a:t>
            </a:r>
            <a:pPr indent="0" marL="0">
              <a:buNone/>
            </a:pPr>
            <a:r>
              <a:rPr lang="en-US" sz="1400" b="1" dirty="0">
                <a:solidFill>
                  <a:srgbClr val="0F8B8D"/>
                </a:solidFill>
                <a:latin typeface="Calibri" pitchFamily="34" charset="0"/>
                <a:ea typeface="Calibri" pitchFamily="34" charset="-122"/>
                <a:cs typeface="Calibri" pitchFamily="34" charset="-120"/>
              </a:rPr>
              <a:t>Quality control </a:t>
            </a:r>
            <a:pPr indent="0" marL="0">
              <a:buNone/>
            </a:pPr>
            <a:r>
              <a:rPr lang="en-US" sz="1400" dirty="0">
                <a:solidFill>
                  <a:srgbClr val="1F2937"/>
                </a:solidFill>
                <a:latin typeface="Calibri" pitchFamily="34" charset="0"/>
                <a:ea typeface="Calibri" pitchFamily="34" charset="-122"/>
                <a:cs typeface="Calibri" pitchFamily="34" charset="-120"/>
              </a:rPr>
              <a:t>detects defects through testing [10], [11].</a:t>
            </a:r>
            <a:endParaRPr lang="en-US" sz="1400" dirty="0"/>
          </a:p>
        </p:txBody>
      </p:sp>
      <p:sp>
        <p:nvSpPr>
          <p:cNvPr id="4" name="Shape 2"/>
          <p:cNvSpPr/>
          <p:nvPr/>
        </p:nvSpPr>
        <p:spPr>
          <a:xfrm>
            <a:off x="548640" y="1874520"/>
            <a:ext cx="1645920" cy="1005840"/>
          </a:xfrm>
          <a:prstGeom prst="chevron">
            <a:avLst/>
          </a:prstGeom>
          <a:solidFill>
            <a:srgbClr val="14284B"/>
          </a:solidFill>
          <a:ln w="12700">
            <a:solidFill>
              <a:srgbClr val="FFFFFF"/>
            </a:solidFill>
            <a:prstDash val="solid"/>
          </a:ln>
        </p:spPr>
      </p:sp>
      <p:sp>
        <p:nvSpPr>
          <p:cNvPr id="5" name="Shape 3"/>
          <p:cNvSpPr/>
          <p:nvPr/>
        </p:nvSpPr>
        <p:spPr>
          <a:xfrm>
            <a:off x="2121408" y="1874520"/>
            <a:ext cx="1645920" cy="1005840"/>
          </a:xfrm>
          <a:prstGeom prst="chevron">
            <a:avLst/>
          </a:prstGeom>
          <a:solidFill>
            <a:srgbClr val="0F8B8D"/>
          </a:solidFill>
          <a:ln w="12700">
            <a:solidFill>
              <a:srgbClr val="FFFFFF"/>
            </a:solidFill>
            <a:prstDash val="solid"/>
          </a:ln>
        </p:spPr>
      </p:sp>
      <p:sp>
        <p:nvSpPr>
          <p:cNvPr id="6" name="Shape 4"/>
          <p:cNvSpPr/>
          <p:nvPr/>
        </p:nvSpPr>
        <p:spPr>
          <a:xfrm>
            <a:off x="3694176" y="1874520"/>
            <a:ext cx="1645920" cy="1005840"/>
          </a:xfrm>
          <a:prstGeom prst="chevron">
            <a:avLst/>
          </a:prstGeom>
          <a:solidFill>
            <a:srgbClr val="14284B"/>
          </a:solidFill>
          <a:ln w="12700">
            <a:solidFill>
              <a:srgbClr val="FFFFFF"/>
            </a:solidFill>
            <a:prstDash val="solid"/>
          </a:ln>
        </p:spPr>
      </p:sp>
      <p:sp>
        <p:nvSpPr>
          <p:cNvPr id="7" name="Shape 5"/>
          <p:cNvSpPr/>
          <p:nvPr/>
        </p:nvSpPr>
        <p:spPr>
          <a:xfrm>
            <a:off x="5266944" y="1874520"/>
            <a:ext cx="1645920" cy="1005840"/>
          </a:xfrm>
          <a:prstGeom prst="chevron">
            <a:avLst/>
          </a:prstGeom>
          <a:solidFill>
            <a:srgbClr val="0F8B8D"/>
          </a:solidFill>
          <a:ln w="12700">
            <a:solidFill>
              <a:srgbClr val="FFFFFF"/>
            </a:solidFill>
            <a:prstDash val="solid"/>
          </a:ln>
        </p:spPr>
      </p:sp>
      <p:sp>
        <p:nvSpPr>
          <p:cNvPr id="8" name="Shape 6"/>
          <p:cNvSpPr/>
          <p:nvPr/>
        </p:nvSpPr>
        <p:spPr>
          <a:xfrm>
            <a:off x="6839712" y="1874520"/>
            <a:ext cx="1645920" cy="1005840"/>
          </a:xfrm>
          <a:prstGeom prst="chevron">
            <a:avLst/>
          </a:prstGeom>
          <a:solidFill>
            <a:srgbClr val="14284B"/>
          </a:solidFill>
          <a:ln w="12700">
            <a:solidFill>
              <a:srgbClr val="FFFFFF"/>
            </a:solidFill>
            <a:prstDash val="solid"/>
          </a:ln>
        </p:spPr>
      </p:sp>
      <p:sp>
        <p:nvSpPr>
          <p:cNvPr id="9" name="Shape 7"/>
          <p:cNvSpPr/>
          <p:nvPr/>
        </p:nvSpPr>
        <p:spPr>
          <a:xfrm>
            <a:off x="8412480" y="1874520"/>
            <a:ext cx="1645920" cy="1005840"/>
          </a:xfrm>
          <a:prstGeom prst="chevron">
            <a:avLst/>
          </a:prstGeom>
          <a:solidFill>
            <a:srgbClr val="0F8B8D"/>
          </a:solidFill>
          <a:ln w="12700">
            <a:solidFill>
              <a:srgbClr val="FFFFFF"/>
            </a:solidFill>
            <a:prstDash val="solid"/>
          </a:ln>
        </p:spPr>
      </p:sp>
      <p:sp>
        <p:nvSpPr>
          <p:cNvPr id="10" name="Shape 8"/>
          <p:cNvSpPr/>
          <p:nvPr/>
        </p:nvSpPr>
        <p:spPr>
          <a:xfrm>
            <a:off x="9985248" y="1874520"/>
            <a:ext cx="1645920" cy="1005840"/>
          </a:xfrm>
          <a:prstGeom prst="chevron">
            <a:avLst/>
          </a:prstGeom>
          <a:solidFill>
            <a:srgbClr val="E8A33D"/>
          </a:solidFill>
          <a:ln w="12700">
            <a:solidFill>
              <a:srgbClr val="FFFFFF"/>
            </a:solidFill>
            <a:prstDash val="solid"/>
          </a:ln>
        </p:spPr>
      </p:sp>
      <p:sp>
        <p:nvSpPr>
          <p:cNvPr id="11" name="Text 9"/>
          <p:cNvSpPr txBox="1"/>
          <p:nvPr/>
        </p:nvSpPr>
        <p:spPr>
          <a:xfrm>
            <a:off x="960120" y="1874520"/>
            <a:ext cx="10972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Traceability</a:t>
            </a:r>
            <a:endParaRPr lang="en-US" sz="1100" dirty="0"/>
          </a:p>
        </p:txBody>
      </p:sp>
      <p:sp>
        <p:nvSpPr>
          <p:cNvPr id="12" name="Text 10"/>
          <p:cNvSpPr txBox="1"/>
          <p:nvPr/>
        </p:nvSpPr>
        <p:spPr>
          <a:xfrm>
            <a:off x="548640" y="2971800"/>
            <a:ext cx="1536192" cy="54864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Each requirement → test case</a:t>
            </a:r>
            <a:endParaRPr lang="en-US" sz="1100" dirty="0"/>
          </a:p>
        </p:txBody>
      </p:sp>
      <p:sp>
        <p:nvSpPr>
          <p:cNvPr id="13" name="Text 11"/>
          <p:cNvSpPr txBox="1"/>
          <p:nvPr/>
        </p:nvSpPr>
        <p:spPr>
          <a:xfrm>
            <a:off x="2532888" y="1874520"/>
            <a:ext cx="10972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8.1 Functional</a:t>
            </a:r>
            <a:endParaRPr lang="en-US" sz="1100" dirty="0"/>
          </a:p>
        </p:txBody>
      </p:sp>
      <p:sp>
        <p:nvSpPr>
          <p:cNvPr id="14" name="Text 12"/>
          <p:cNvSpPr txBox="1"/>
          <p:nvPr/>
        </p:nvSpPr>
        <p:spPr>
          <a:xfrm>
            <a:off x="2121408" y="2971800"/>
            <a:ext cx="1536192" cy="54864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and integration tests</a:t>
            </a:r>
            <a:endParaRPr lang="en-US" sz="1100" dirty="0"/>
          </a:p>
        </p:txBody>
      </p:sp>
      <p:sp>
        <p:nvSpPr>
          <p:cNvPr id="15" name="Text 13"/>
          <p:cNvSpPr txBox="1"/>
          <p:nvPr/>
        </p:nvSpPr>
        <p:spPr>
          <a:xfrm>
            <a:off x="4105656" y="1874520"/>
            <a:ext cx="10972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8.2 Security</a:t>
            </a:r>
            <a:endParaRPr lang="en-US" sz="1100" dirty="0"/>
          </a:p>
        </p:txBody>
      </p:sp>
      <p:sp>
        <p:nvSpPr>
          <p:cNvPr id="16" name="Text 14"/>
          <p:cNvSpPr txBox="1"/>
          <p:nvPr/>
        </p:nvSpPr>
        <p:spPr>
          <a:xfrm>
            <a:off x="3694176" y="2971800"/>
            <a:ext cx="1536192" cy="54864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ASVS [14], WCAG 2.2 [13], load</a:t>
            </a:r>
            <a:endParaRPr lang="en-US" sz="1100" dirty="0"/>
          </a:p>
        </p:txBody>
      </p:sp>
      <p:sp>
        <p:nvSpPr>
          <p:cNvPr id="17" name="Text 15"/>
          <p:cNvSpPr txBox="1"/>
          <p:nvPr/>
        </p:nvSpPr>
        <p:spPr>
          <a:xfrm>
            <a:off x="5678424" y="1874520"/>
            <a:ext cx="10972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8.3 Backup</a:t>
            </a:r>
            <a:endParaRPr lang="en-US" sz="1100" dirty="0"/>
          </a:p>
        </p:txBody>
      </p:sp>
      <p:sp>
        <p:nvSpPr>
          <p:cNvPr id="18" name="Text 16"/>
          <p:cNvSpPr txBox="1"/>
          <p:nvPr/>
        </p:nvSpPr>
        <p:spPr>
          <a:xfrm>
            <a:off x="5266944" y="2971800"/>
            <a:ext cx="1536192" cy="54864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Full restore test</a:t>
            </a:r>
            <a:endParaRPr lang="en-US" sz="1100" dirty="0"/>
          </a:p>
        </p:txBody>
      </p:sp>
      <p:sp>
        <p:nvSpPr>
          <p:cNvPr id="19" name="Text 17"/>
          <p:cNvSpPr txBox="1"/>
          <p:nvPr/>
        </p:nvSpPr>
        <p:spPr>
          <a:xfrm>
            <a:off x="7251192" y="1874520"/>
            <a:ext cx="10972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10.1 Pilot</a:t>
            </a:r>
            <a:endParaRPr lang="en-US" sz="1100" dirty="0"/>
          </a:p>
        </p:txBody>
      </p:sp>
      <p:sp>
        <p:nvSpPr>
          <p:cNvPr id="20" name="Text 18"/>
          <p:cNvSpPr txBox="1"/>
          <p:nvPr/>
        </p:nvSpPr>
        <p:spPr>
          <a:xfrm>
            <a:off x="6839712" y="2971800"/>
            <a:ext cx="1536192" cy="54864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Five courses, exit criteria</a:t>
            </a:r>
            <a:endParaRPr lang="en-US" sz="1100" dirty="0"/>
          </a:p>
        </p:txBody>
      </p:sp>
      <p:sp>
        <p:nvSpPr>
          <p:cNvPr id="21" name="Text 19"/>
          <p:cNvSpPr txBox="1"/>
          <p:nvPr/>
        </p:nvSpPr>
        <p:spPr>
          <a:xfrm>
            <a:off x="8823960" y="1874520"/>
            <a:ext cx="1097280" cy="10058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8.4 UAT</a:t>
            </a:r>
            <a:endParaRPr lang="en-US" sz="1100" dirty="0"/>
          </a:p>
        </p:txBody>
      </p:sp>
      <p:sp>
        <p:nvSpPr>
          <p:cNvPr id="22" name="Text 20"/>
          <p:cNvSpPr txBox="1"/>
          <p:nvPr/>
        </p:nvSpPr>
        <p:spPr>
          <a:xfrm>
            <a:off x="8412480" y="2971800"/>
            <a:ext cx="1536192" cy="54864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Realistic user scenarios</a:t>
            </a:r>
            <a:endParaRPr lang="en-US" sz="1100" dirty="0"/>
          </a:p>
        </p:txBody>
      </p:sp>
      <p:sp>
        <p:nvSpPr>
          <p:cNvPr id="23" name="Text 21"/>
          <p:cNvSpPr txBox="1"/>
          <p:nvPr/>
        </p:nvSpPr>
        <p:spPr>
          <a:xfrm>
            <a:off x="10396728" y="1874520"/>
            <a:ext cx="1097280" cy="1005840"/>
          </a:xfrm>
          <a:prstGeom prst="rect">
            <a:avLst/>
          </a:prstGeom>
          <a:noFill/>
          <a:ln/>
        </p:spPr>
        <p:txBody>
          <a:bodyPr wrap="square" lIns="0" tIns="0" rIns="0" bIns="0" rtlCol="0" anchor="ctr"/>
          <a:lstStyle/>
          <a:p>
            <a:pPr algn="ctr" indent="0" marL="0">
              <a:buNone/>
            </a:pPr>
            <a:r>
              <a:rPr lang="en-US" sz="1100" b="1" dirty="0">
                <a:solidFill>
                  <a:srgbClr val="1F2937"/>
                </a:solidFill>
                <a:latin typeface="Calibri" pitchFamily="34" charset="0"/>
                <a:ea typeface="Calibri" pitchFamily="34" charset="-122"/>
                <a:cs typeface="Calibri" pitchFamily="34" charset="-120"/>
              </a:rPr>
              <a:t>8.5 Go/no-go</a:t>
            </a:r>
            <a:endParaRPr lang="en-US" sz="1100" dirty="0"/>
          </a:p>
        </p:txBody>
      </p:sp>
      <p:sp>
        <p:nvSpPr>
          <p:cNvPr id="24" name="Text 22"/>
          <p:cNvSpPr txBox="1"/>
          <p:nvPr/>
        </p:nvSpPr>
        <p:spPr>
          <a:xfrm>
            <a:off x="9985248" y="2971800"/>
            <a:ext cx="1536192" cy="54864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Retest, acceptance, sponsor</a:t>
            </a:r>
            <a:endParaRPr lang="en-US" sz="1100" dirty="0"/>
          </a:p>
        </p:txBody>
      </p:sp>
      <p:sp>
        <p:nvSpPr>
          <p:cNvPr id="25" name="Shape 23"/>
          <p:cNvSpPr/>
          <p:nvPr/>
        </p:nvSpPr>
        <p:spPr>
          <a:xfrm>
            <a:off x="548640" y="3703320"/>
            <a:ext cx="11091672" cy="2286000"/>
          </a:xfrm>
          <a:prstGeom prst="roundRect">
            <a:avLst>
              <a:gd name="adj" fmla="val 3200"/>
            </a:avLst>
          </a:prstGeom>
          <a:solidFill>
            <a:srgbClr val="F3F5F8"/>
          </a:solidFill>
          <a:ln w="12700">
            <a:solidFill>
              <a:srgbClr val="F3F5F8"/>
            </a:solidFill>
            <a:prstDash val="solid"/>
          </a:ln>
        </p:spPr>
      </p:sp>
      <p:sp>
        <p:nvSpPr>
          <p:cNvPr id="26" name="Text 24"/>
          <p:cNvSpPr txBox="1"/>
          <p:nvPr/>
        </p:nvSpPr>
        <p:spPr>
          <a:xfrm>
            <a:off x="777240" y="3794760"/>
            <a:ext cx="73152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Mandatory go-live gates (all must pass)</a:t>
            </a:r>
            <a:endParaRPr lang="en-US" sz="1500" dirty="0"/>
          </a:p>
        </p:txBody>
      </p:sp>
      <p:sp>
        <p:nvSpPr>
          <p:cNvPr id="27" name="Text 25"/>
          <p:cNvSpPr txBox="1"/>
          <p:nvPr/>
        </p:nvSpPr>
        <p:spPr>
          <a:xfrm>
            <a:off x="777240" y="4206240"/>
            <a:ext cx="5303520" cy="17373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100% must-have requirements pass UAT, incl. retest</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Zero open critical or high defects</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No unresolved high-risk security findings</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No unresolved WCAG 2.2 A/AA failures in core workflows</a:t>
            </a:r>
            <a:endParaRPr lang="en-US" sz="1500" dirty="0"/>
          </a:p>
        </p:txBody>
      </p:sp>
      <p:sp>
        <p:nvSpPr>
          <p:cNvPr id="28" name="Text 26"/>
          <p:cNvSpPr txBox="1"/>
          <p:nvPr/>
        </p:nvSpPr>
        <p:spPr>
          <a:xfrm>
            <a:off x="6217920" y="4206240"/>
            <a:ext cx="5303520" cy="173736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100% of agreed courses reconciled</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Restore test passed; rollback rehearsed</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Core pages within agreed load threshold</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At least 90% of teaching staff trained; sponsor decision recorded</a:t>
            </a:r>
            <a:endParaRPr lang="en-US" sz="1500" dirty="0"/>
          </a:p>
        </p:txBody>
      </p:sp>
      <p:sp>
        <p:nvSpPr>
          <p:cNvPr id="29" name="Text 27"/>
          <p:cNvSpPr txBox="1"/>
          <p:nvPr/>
        </p:nvSpPr>
        <p:spPr>
          <a:xfrm>
            <a:off x="548640" y="6053328"/>
            <a:ext cx="11064240" cy="274320"/>
          </a:xfrm>
          <a:prstGeom prst="rect">
            <a:avLst/>
          </a:prstGeom>
          <a:noFill/>
          <a:ln/>
        </p:spPr>
        <p:txBody>
          <a:bodyPr wrap="square" lIns="0" tIns="0" rIns="0" bIns="0" rtlCol="0" anchor="b"/>
          <a:lstStyle/>
          <a:p>
            <a:pPr indent="0" marL="0">
              <a:buNone/>
            </a:pPr>
            <a:r>
              <a:rPr lang="en-US" sz="1000" i="1" dirty="0">
                <a:solidFill>
                  <a:srgbClr val="5B6576"/>
                </a:solidFill>
                <a:latin typeface="Calibri" pitchFamily="34" charset="0"/>
                <a:ea typeface="Calibri" pitchFamily="34" charset="-122"/>
                <a:cs typeface="Calibri" pitchFamily="34" charset="-120"/>
              </a:rPr>
              <a:t>These are planned controls and thresholds. No tests have been executed and no compliance is claimed.</a:t>
            </a:r>
            <a:endParaRPr lang="en-US" sz="10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Configuration management: GitHub keeps every change traceable</a:t>
            </a:r>
            <a:endParaRPr lang="en-US" sz="2800" dirty="0"/>
          </a:p>
        </p:txBody>
      </p:sp>
      <p:sp>
        <p:nvSpPr>
          <p:cNvPr id="3" name="Shape 1"/>
          <p:cNvSpPr/>
          <p:nvPr/>
        </p:nvSpPr>
        <p:spPr>
          <a:xfrm>
            <a:off x="548640" y="1234440"/>
            <a:ext cx="1691640" cy="1920240"/>
          </a:xfrm>
          <a:prstGeom prst="roundRect">
            <a:avLst>
              <a:gd name="adj" fmla="val 4324"/>
            </a:avLst>
          </a:prstGeom>
          <a:solidFill>
            <a:srgbClr val="E8F3F4"/>
          </a:solidFill>
          <a:ln w="12700">
            <a:solidFill>
              <a:srgbClr val="E8F3F4"/>
            </a:solidFill>
            <a:prstDash val="solid"/>
          </a:ln>
        </p:spPr>
      </p:sp>
      <p:sp>
        <p:nvSpPr>
          <p:cNvPr id="4" name="Shape 2"/>
          <p:cNvSpPr/>
          <p:nvPr/>
        </p:nvSpPr>
        <p:spPr>
          <a:xfrm>
            <a:off x="1115568" y="1371600"/>
            <a:ext cx="548640" cy="548640"/>
          </a:xfrm>
          <a:prstGeom prst="ellipse">
            <a:avLst/>
          </a:prstGeom>
          <a:solidFill>
            <a:srgbClr val="14284B"/>
          </a:solidFill>
          <a:ln w="12700">
            <a:solidFill>
              <a:srgbClr val="14284B"/>
            </a:solidFill>
            <a:prstDash val="solid"/>
          </a:ln>
        </p:spPr>
      </p:sp>
      <p:pic>
        <p:nvPicPr>
          <p:cNvPr id="5" name="Image 0" descr="preencoded.png">    </p:cNvPr>
          <p:cNvPicPr>
            <a:picLocks noChangeAspect="1"/>
          </p:cNvPicPr>
          <p:nvPr/>
        </p:nvPicPr>
        <p:blipFill>
          <a:blip r:embed="rId1"/>
          <a:stretch>
            <a:fillRect/>
          </a:stretch>
        </p:blipFill>
        <p:spPr>
          <a:xfrm>
            <a:off x="1247242" y="1503274"/>
            <a:ext cx="285293" cy="285293"/>
          </a:xfrm>
          <a:prstGeom prst="rect">
            <a:avLst/>
          </a:prstGeom>
        </p:spPr>
      </p:pic>
      <p:sp>
        <p:nvSpPr>
          <p:cNvPr id="6" name="Text 3"/>
          <p:cNvSpPr txBox="1"/>
          <p:nvPr/>
        </p:nvSpPr>
        <p:spPr>
          <a:xfrm>
            <a:off x="621792" y="2011680"/>
            <a:ext cx="1554480" cy="320040"/>
          </a:xfrm>
          <a:prstGeom prst="rect">
            <a:avLst/>
          </a:prstGeom>
          <a:noFill/>
          <a:ln/>
        </p:spPr>
        <p:txBody>
          <a:bodyPr wrap="square" lIns="0" tIns="0" rIns="0" bIns="0" rtlCol="0" anchor="t"/>
          <a:lstStyle/>
          <a:p>
            <a:pPr algn="ctr" indent="0" marL="0">
              <a:buNone/>
            </a:pPr>
            <a:r>
              <a:rPr lang="en-US" sz="1400" b="1" dirty="0">
                <a:solidFill>
                  <a:srgbClr val="14284B"/>
                </a:solidFill>
                <a:latin typeface="Calibri" pitchFamily="34" charset="0"/>
                <a:ea typeface="Calibri" pitchFamily="34" charset="-122"/>
                <a:cs typeface="Calibri" pitchFamily="34" charset="-120"/>
              </a:rPr>
              <a:t>Issue / CR</a:t>
            </a:r>
            <a:endParaRPr lang="en-US" sz="1400" dirty="0"/>
          </a:p>
        </p:txBody>
      </p:sp>
      <p:sp>
        <p:nvSpPr>
          <p:cNvPr id="7" name="Text 4"/>
          <p:cNvSpPr txBox="1"/>
          <p:nvPr/>
        </p:nvSpPr>
        <p:spPr>
          <a:xfrm>
            <a:off x="640080" y="2359152"/>
            <a:ext cx="1508760" cy="7315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Labelled: issue, defect, change-request</a:t>
            </a:r>
            <a:endParaRPr lang="en-US" sz="1100" dirty="0"/>
          </a:p>
        </p:txBody>
      </p:sp>
      <p:sp>
        <p:nvSpPr>
          <p:cNvPr id="8" name="Shape 5"/>
          <p:cNvSpPr/>
          <p:nvPr/>
        </p:nvSpPr>
        <p:spPr>
          <a:xfrm>
            <a:off x="2258568" y="2057400"/>
            <a:ext cx="146304" cy="228600"/>
          </a:xfrm>
          <a:prstGeom prst="rightArrow">
            <a:avLst/>
          </a:prstGeom>
          <a:solidFill>
            <a:srgbClr val="E8A33D"/>
          </a:solidFill>
          <a:ln w="12700">
            <a:solidFill>
              <a:srgbClr val="E8A33D"/>
            </a:solidFill>
            <a:prstDash val="solid"/>
          </a:ln>
        </p:spPr>
      </p:sp>
      <p:sp>
        <p:nvSpPr>
          <p:cNvPr id="9" name="Shape 6"/>
          <p:cNvSpPr/>
          <p:nvPr/>
        </p:nvSpPr>
        <p:spPr>
          <a:xfrm>
            <a:off x="2423160" y="1234440"/>
            <a:ext cx="1691640" cy="1920240"/>
          </a:xfrm>
          <a:prstGeom prst="roundRect">
            <a:avLst>
              <a:gd name="adj" fmla="val 4324"/>
            </a:avLst>
          </a:prstGeom>
          <a:solidFill>
            <a:srgbClr val="E8F3F4"/>
          </a:solidFill>
          <a:ln w="12700">
            <a:solidFill>
              <a:srgbClr val="E8F3F4"/>
            </a:solidFill>
            <a:prstDash val="solid"/>
          </a:ln>
        </p:spPr>
      </p:sp>
      <p:sp>
        <p:nvSpPr>
          <p:cNvPr id="10" name="Shape 7"/>
          <p:cNvSpPr/>
          <p:nvPr/>
        </p:nvSpPr>
        <p:spPr>
          <a:xfrm>
            <a:off x="2990088" y="1371600"/>
            <a:ext cx="548640" cy="548640"/>
          </a:xfrm>
          <a:prstGeom prst="ellipse">
            <a:avLst/>
          </a:prstGeom>
          <a:solidFill>
            <a:srgbClr val="14284B"/>
          </a:solidFill>
          <a:ln w="12700">
            <a:solidFill>
              <a:srgbClr val="14284B"/>
            </a:solidFill>
            <a:prstDash val="solid"/>
          </a:ln>
        </p:spPr>
      </p:sp>
      <p:pic>
        <p:nvPicPr>
          <p:cNvPr id="11" name="Image 1" descr="preencoded.png">    </p:cNvPr>
          <p:cNvPicPr>
            <a:picLocks noChangeAspect="1"/>
          </p:cNvPicPr>
          <p:nvPr/>
        </p:nvPicPr>
        <p:blipFill>
          <a:blip r:embed="rId2"/>
          <a:stretch>
            <a:fillRect/>
          </a:stretch>
        </p:blipFill>
        <p:spPr>
          <a:xfrm>
            <a:off x="3121762" y="1503274"/>
            <a:ext cx="285293" cy="285293"/>
          </a:xfrm>
          <a:prstGeom prst="rect">
            <a:avLst/>
          </a:prstGeom>
        </p:spPr>
      </p:pic>
      <p:sp>
        <p:nvSpPr>
          <p:cNvPr id="12" name="Text 8"/>
          <p:cNvSpPr txBox="1"/>
          <p:nvPr/>
        </p:nvSpPr>
        <p:spPr>
          <a:xfrm>
            <a:off x="2496312" y="2011680"/>
            <a:ext cx="1554480" cy="320040"/>
          </a:xfrm>
          <a:prstGeom prst="rect">
            <a:avLst/>
          </a:prstGeom>
          <a:noFill/>
          <a:ln/>
        </p:spPr>
        <p:txBody>
          <a:bodyPr wrap="square" lIns="0" tIns="0" rIns="0" bIns="0" rtlCol="0" anchor="t"/>
          <a:lstStyle/>
          <a:p>
            <a:pPr algn="ctr" indent="0" marL="0">
              <a:buNone/>
            </a:pPr>
            <a:r>
              <a:rPr lang="en-US" sz="1400" b="1" dirty="0">
                <a:solidFill>
                  <a:srgbClr val="14284B"/>
                </a:solidFill>
                <a:latin typeface="Calibri" pitchFamily="34" charset="0"/>
                <a:ea typeface="Calibri" pitchFamily="34" charset="-122"/>
                <a:cs typeface="Calibri" pitchFamily="34" charset="-120"/>
              </a:rPr>
              <a:t>Feature branch</a:t>
            </a:r>
            <a:endParaRPr lang="en-US" sz="1400" dirty="0"/>
          </a:p>
        </p:txBody>
      </p:sp>
      <p:sp>
        <p:nvSpPr>
          <p:cNvPr id="13" name="Text 9"/>
          <p:cNvSpPr txBox="1"/>
          <p:nvPr/>
        </p:nvSpPr>
        <p:spPr>
          <a:xfrm>
            <a:off x="2514600" y="2359152"/>
            <a:ext cx="1508760" cy="7315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e.g. feature/cr-012-quiz-settings</a:t>
            </a:r>
            <a:endParaRPr lang="en-US" sz="1100" dirty="0"/>
          </a:p>
        </p:txBody>
      </p:sp>
      <p:sp>
        <p:nvSpPr>
          <p:cNvPr id="14" name="Shape 10"/>
          <p:cNvSpPr/>
          <p:nvPr/>
        </p:nvSpPr>
        <p:spPr>
          <a:xfrm>
            <a:off x="4133088" y="2057400"/>
            <a:ext cx="146304" cy="228600"/>
          </a:xfrm>
          <a:prstGeom prst="rightArrow">
            <a:avLst/>
          </a:prstGeom>
          <a:solidFill>
            <a:srgbClr val="E8A33D"/>
          </a:solidFill>
          <a:ln w="12700">
            <a:solidFill>
              <a:srgbClr val="E8A33D"/>
            </a:solidFill>
            <a:prstDash val="solid"/>
          </a:ln>
        </p:spPr>
      </p:sp>
      <p:sp>
        <p:nvSpPr>
          <p:cNvPr id="15" name="Shape 11"/>
          <p:cNvSpPr/>
          <p:nvPr/>
        </p:nvSpPr>
        <p:spPr>
          <a:xfrm>
            <a:off x="4297680" y="1234440"/>
            <a:ext cx="1691640" cy="1920240"/>
          </a:xfrm>
          <a:prstGeom prst="roundRect">
            <a:avLst>
              <a:gd name="adj" fmla="val 4324"/>
            </a:avLst>
          </a:prstGeom>
          <a:solidFill>
            <a:srgbClr val="E8F3F4"/>
          </a:solidFill>
          <a:ln w="12700">
            <a:solidFill>
              <a:srgbClr val="E8F3F4"/>
            </a:solidFill>
            <a:prstDash val="solid"/>
          </a:ln>
        </p:spPr>
      </p:sp>
      <p:sp>
        <p:nvSpPr>
          <p:cNvPr id="16" name="Shape 12"/>
          <p:cNvSpPr/>
          <p:nvPr/>
        </p:nvSpPr>
        <p:spPr>
          <a:xfrm>
            <a:off x="4864608" y="1371600"/>
            <a:ext cx="548640" cy="548640"/>
          </a:xfrm>
          <a:prstGeom prst="ellipse">
            <a:avLst/>
          </a:prstGeom>
          <a:solidFill>
            <a:srgbClr val="14284B"/>
          </a:solidFill>
          <a:ln w="12700">
            <a:solidFill>
              <a:srgbClr val="14284B"/>
            </a:solidFill>
            <a:prstDash val="solid"/>
          </a:ln>
        </p:spPr>
      </p:sp>
      <p:pic>
        <p:nvPicPr>
          <p:cNvPr id="17" name="Image 2" descr="preencoded.png">    </p:cNvPr>
          <p:cNvPicPr>
            <a:picLocks noChangeAspect="1"/>
          </p:cNvPicPr>
          <p:nvPr/>
        </p:nvPicPr>
        <p:blipFill>
          <a:blip r:embed="rId3"/>
          <a:stretch>
            <a:fillRect/>
          </a:stretch>
        </p:blipFill>
        <p:spPr>
          <a:xfrm>
            <a:off x="4996282" y="1503274"/>
            <a:ext cx="285293" cy="285293"/>
          </a:xfrm>
          <a:prstGeom prst="rect">
            <a:avLst/>
          </a:prstGeom>
        </p:spPr>
      </p:pic>
      <p:sp>
        <p:nvSpPr>
          <p:cNvPr id="18" name="Text 13"/>
          <p:cNvSpPr txBox="1"/>
          <p:nvPr/>
        </p:nvSpPr>
        <p:spPr>
          <a:xfrm>
            <a:off x="4370832" y="2011680"/>
            <a:ext cx="1554480" cy="320040"/>
          </a:xfrm>
          <a:prstGeom prst="rect">
            <a:avLst/>
          </a:prstGeom>
          <a:noFill/>
          <a:ln/>
        </p:spPr>
        <p:txBody>
          <a:bodyPr wrap="square" lIns="0" tIns="0" rIns="0" bIns="0" rtlCol="0" anchor="t"/>
          <a:lstStyle/>
          <a:p>
            <a:pPr algn="ctr" indent="0" marL="0">
              <a:buNone/>
            </a:pPr>
            <a:r>
              <a:rPr lang="en-US" sz="1400" b="1" dirty="0">
                <a:solidFill>
                  <a:srgbClr val="14284B"/>
                </a:solidFill>
                <a:latin typeface="Calibri" pitchFamily="34" charset="0"/>
                <a:ea typeface="Calibri" pitchFamily="34" charset="-122"/>
                <a:cs typeface="Calibri" pitchFamily="34" charset="-120"/>
              </a:rPr>
              <a:t>Commits</a:t>
            </a:r>
            <a:endParaRPr lang="en-US" sz="1400" dirty="0"/>
          </a:p>
        </p:txBody>
      </p:sp>
      <p:sp>
        <p:nvSpPr>
          <p:cNvPr id="19" name="Text 14"/>
          <p:cNvSpPr txBox="1"/>
          <p:nvPr/>
        </p:nvSpPr>
        <p:spPr>
          <a:xfrm>
            <a:off x="4389120" y="2359152"/>
            <a:ext cx="1508760" cy="7315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"config: add assignment plugin settings (#45)"</a:t>
            </a:r>
            <a:endParaRPr lang="en-US" sz="1100" dirty="0"/>
          </a:p>
        </p:txBody>
      </p:sp>
      <p:sp>
        <p:nvSpPr>
          <p:cNvPr id="20" name="Shape 15"/>
          <p:cNvSpPr/>
          <p:nvPr/>
        </p:nvSpPr>
        <p:spPr>
          <a:xfrm>
            <a:off x="6007608" y="2057400"/>
            <a:ext cx="146304" cy="228600"/>
          </a:xfrm>
          <a:prstGeom prst="rightArrow">
            <a:avLst/>
          </a:prstGeom>
          <a:solidFill>
            <a:srgbClr val="E8A33D"/>
          </a:solidFill>
          <a:ln w="12700">
            <a:solidFill>
              <a:srgbClr val="E8A33D"/>
            </a:solidFill>
            <a:prstDash val="solid"/>
          </a:ln>
        </p:spPr>
      </p:sp>
      <p:sp>
        <p:nvSpPr>
          <p:cNvPr id="21" name="Shape 16"/>
          <p:cNvSpPr/>
          <p:nvPr/>
        </p:nvSpPr>
        <p:spPr>
          <a:xfrm>
            <a:off x="6172200" y="1234440"/>
            <a:ext cx="1691640" cy="1920240"/>
          </a:xfrm>
          <a:prstGeom prst="roundRect">
            <a:avLst>
              <a:gd name="adj" fmla="val 4324"/>
            </a:avLst>
          </a:prstGeom>
          <a:solidFill>
            <a:srgbClr val="E8F3F4"/>
          </a:solidFill>
          <a:ln w="12700">
            <a:solidFill>
              <a:srgbClr val="E8F3F4"/>
            </a:solidFill>
            <a:prstDash val="solid"/>
          </a:ln>
        </p:spPr>
      </p:sp>
      <p:sp>
        <p:nvSpPr>
          <p:cNvPr id="22" name="Shape 17"/>
          <p:cNvSpPr/>
          <p:nvPr/>
        </p:nvSpPr>
        <p:spPr>
          <a:xfrm>
            <a:off x="6739128" y="1371600"/>
            <a:ext cx="548640" cy="548640"/>
          </a:xfrm>
          <a:prstGeom prst="ellipse">
            <a:avLst/>
          </a:prstGeom>
          <a:solidFill>
            <a:srgbClr val="14284B"/>
          </a:solidFill>
          <a:ln w="12700">
            <a:solidFill>
              <a:srgbClr val="14284B"/>
            </a:solidFill>
            <a:prstDash val="solid"/>
          </a:ln>
        </p:spPr>
      </p:sp>
      <p:pic>
        <p:nvPicPr>
          <p:cNvPr id="23" name="Image 3" descr="preencoded.png">    </p:cNvPr>
          <p:cNvPicPr>
            <a:picLocks noChangeAspect="1"/>
          </p:cNvPicPr>
          <p:nvPr/>
        </p:nvPicPr>
        <p:blipFill>
          <a:blip r:embed="rId4"/>
          <a:stretch>
            <a:fillRect/>
          </a:stretch>
        </p:blipFill>
        <p:spPr>
          <a:xfrm>
            <a:off x="6870802" y="1503274"/>
            <a:ext cx="285293" cy="285293"/>
          </a:xfrm>
          <a:prstGeom prst="rect">
            <a:avLst/>
          </a:prstGeom>
        </p:spPr>
      </p:pic>
      <p:sp>
        <p:nvSpPr>
          <p:cNvPr id="24" name="Text 18"/>
          <p:cNvSpPr txBox="1"/>
          <p:nvPr/>
        </p:nvSpPr>
        <p:spPr>
          <a:xfrm>
            <a:off x="6245352" y="2011680"/>
            <a:ext cx="1554480" cy="320040"/>
          </a:xfrm>
          <a:prstGeom prst="rect">
            <a:avLst/>
          </a:prstGeom>
          <a:noFill/>
          <a:ln/>
        </p:spPr>
        <p:txBody>
          <a:bodyPr wrap="square" lIns="0" tIns="0" rIns="0" bIns="0" rtlCol="0" anchor="t"/>
          <a:lstStyle/>
          <a:p>
            <a:pPr algn="ctr" indent="0" marL="0">
              <a:buNone/>
            </a:pPr>
            <a:r>
              <a:rPr lang="en-US" sz="1400" b="1" dirty="0">
                <a:solidFill>
                  <a:srgbClr val="14284B"/>
                </a:solidFill>
                <a:latin typeface="Calibri" pitchFamily="34" charset="0"/>
                <a:ea typeface="Calibri" pitchFamily="34" charset="-122"/>
                <a:cs typeface="Calibri" pitchFamily="34" charset="-120"/>
              </a:rPr>
              <a:t>Pull request</a:t>
            </a:r>
            <a:endParaRPr lang="en-US" sz="1400" dirty="0"/>
          </a:p>
        </p:txBody>
      </p:sp>
      <p:sp>
        <p:nvSpPr>
          <p:cNvPr id="25" name="Text 19"/>
          <p:cNvSpPr txBox="1"/>
          <p:nvPr/>
        </p:nvSpPr>
        <p:spPr>
          <a:xfrm>
            <a:off x="6263640" y="2359152"/>
            <a:ext cx="1508760" cy="7315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References issue; one reviewer approves</a:t>
            </a:r>
            <a:endParaRPr lang="en-US" sz="1100" dirty="0"/>
          </a:p>
        </p:txBody>
      </p:sp>
      <p:sp>
        <p:nvSpPr>
          <p:cNvPr id="26" name="Shape 20"/>
          <p:cNvSpPr/>
          <p:nvPr/>
        </p:nvSpPr>
        <p:spPr>
          <a:xfrm>
            <a:off x="7882128" y="2057400"/>
            <a:ext cx="146304" cy="228600"/>
          </a:xfrm>
          <a:prstGeom prst="rightArrow">
            <a:avLst/>
          </a:prstGeom>
          <a:solidFill>
            <a:srgbClr val="E8A33D"/>
          </a:solidFill>
          <a:ln w="12700">
            <a:solidFill>
              <a:srgbClr val="E8A33D"/>
            </a:solidFill>
            <a:prstDash val="solid"/>
          </a:ln>
        </p:spPr>
      </p:sp>
      <p:sp>
        <p:nvSpPr>
          <p:cNvPr id="27" name="Shape 21"/>
          <p:cNvSpPr/>
          <p:nvPr/>
        </p:nvSpPr>
        <p:spPr>
          <a:xfrm>
            <a:off x="8046720" y="1234440"/>
            <a:ext cx="1691640" cy="1920240"/>
          </a:xfrm>
          <a:prstGeom prst="roundRect">
            <a:avLst>
              <a:gd name="adj" fmla="val 4324"/>
            </a:avLst>
          </a:prstGeom>
          <a:solidFill>
            <a:srgbClr val="14284B"/>
          </a:solidFill>
          <a:ln w="12700">
            <a:solidFill>
              <a:srgbClr val="14284B"/>
            </a:solidFill>
            <a:prstDash val="solid"/>
          </a:ln>
        </p:spPr>
      </p:sp>
      <p:sp>
        <p:nvSpPr>
          <p:cNvPr id="28" name="Shape 22"/>
          <p:cNvSpPr/>
          <p:nvPr/>
        </p:nvSpPr>
        <p:spPr>
          <a:xfrm>
            <a:off x="8613648" y="1371600"/>
            <a:ext cx="548640" cy="548640"/>
          </a:xfrm>
          <a:prstGeom prst="ellipse">
            <a:avLst/>
          </a:prstGeom>
          <a:solidFill>
            <a:srgbClr val="0F8B8D"/>
          </a:solidFill>
          <a:ln w="12700">
            <a:solidFill>
              <a:srgbClr val="0F8B8D"/>
            </a:solidFill>
            <a:prstDash val="solid"/>
          </a:ln>
        </p:spPr>
      </p:sp>
      <p:pic>
        <p:nvPicPr>
          <p:cNvPr id="29" name="Image 4" descr="preencoded.png">    </p:cNvPr>
          <p:cNvPicPr>
            <a:picLocks noChangeAspect="1"/>
          </p:cNvPicPr>
          <p:nvPr/>
        </p:nvPicPr>
        <p:blipFill>
          <a:blip r:embed="rId5"/>
          <a:stretch>
            <a:fillRect/>
          </a:stretch>
        </p:blipFill>
        <p:spPr>
          <a:xfrm>
            <a:off x="8745322" y="1503274"/>
            <a:ext cx="285293" cy="285293"/>
          </a:xfrm>
          <a:prstGeom prst="rect">
            <a:avLst/>
          </a:prstGeom>
        </p:spPr>
      </p:pic>
      <p:sp>
        <p:nvSpPr>
          <p:cNvPr id="30" name="Text 23"/>
          <p:cNvSpPr txBox="1"/>
          <p:nvPr/>
        </p:nvSpPr>
        <p:spPr>
          <a:xfrm>
            <a:off x="8119872" y="2011680"/>
            <a:ext cx="15544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Calibri" pitchFamily="34" charset="0"/>
                <a:ea typeface="Calibri" pitchFamily="34" charset="-122"/>
                <a:cs typeface="Calibri" pitchFamily="34" charset="-120"/>
              </a:rPr>
              <a:t>Protected main</a:t>
            </a:r>
            <a:endParaRPr lang="en-US" sz="1400" dirty="0"/>
          </a:p>
        </p:txBody>
      </p:sp>
      <p:sp>
        <p:nvSpPr>
          <p:cNvPr id="31" name="Text 24"/>
          <p:cNvSpPr txBox="1"/>
          <p:nvPr/>
        </p:nvSpPr>
        <p:spPr>
          <a:xfrm>
            <a:off x="8138160" y="2359152"/>
            <a:ext cx="1508760" cy="73152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Merge only via reviewed PR [23]</a:t>
            </a:r>
            <a:endParaRPr lang="en-US" sz="1100" dirty="0"/>
          </a:p>
        </p:txBody>
      </p:sp>
      <p:sp>
        <p:nvSpPr>
          <p:cNvPr id="32" name="Shape 25"/>
          <p:cNvSpPr/>
          <p:nvPr/>
        </p:nvSpPr>
        <p:spPr>
          <a:xfrm>
            <a:off x="9756648" y="2057400"/>
            <a:ext cx="146304" cy="228600"/>
          </a:xfrm>
          <a:prstGeom prst="rightArrow">
            <a:avLst/>
          </a:prstGeom>
          <a:solidFill>
            <a:srgbClr val="E8A33D"/>
          </a:solidFill>
          <a:ln w="12700">
            <a:solidFill>
              <a:srgbClr val="E8A33D"/>
            </a:solidFill>
            <a:prstDash val="solid"/>
          </a:ln>
        </p:spPr>
      </p:sp>
      <p:sp>
        <p:nvSpPr>
          <p:cNvPr id="33" name="Shape 26"/>
          <p:cNvSpPr/>
          <p:nvPr/>
        </p:nvSpPr>
        <p:spPr>
          <a:xfrm>
            <a:off x="9921240" y="1234440"/>
            <a:ext cx="1691640" cy="1920240"/>
          </a:xfrm>
          <a:prstGeom prst="roundRect">
            <a:avLst>
              <a:gd name="adj" fmla="val 4324"/>
            </a:avLst>
          </a:prstGeom>
          <a:solidFill>
            <a:srgbClr val="E8F3F4"/>
          </a:solidFill>
          <a:ln w="12700">
            <a:solidFill>
              <a:srgbClr val="E8F3F4"/>
            </a:solidFill>
            <a:prstDash val="solid"/>
          </a:ln>
        </p:spPr>
      </p:sp>
      <p:sp>
        <p:nvSpPr>
          <p:cNvPr id="34" name="Shape 27"/>
          <p:cNvSpPr/>
          <p:nvPr/>
        </p:nvSpPr>
        <p:spPr>
          <a:xfrm>
            <a:off x="10488168" y="1371600"/>
            <a:ext cx="548640" cy="548640"/>
          </a:xfrm>
          <a:prstGeom prst="ellipse">
            <a:avLst/>
          </a:prstGeom>
          <a:solidFill>
            <a:srgbClr val="14284B"/>
          </a:solidFill>
          <a:ln w="12700">
            <a:solidFill>
              <a:srgbClr val="14284B"/>
            </a:solidFill>
            <a:prstDash val="solid"/>
          </a:ln>
        </p:spPr>
      </p:sp>
      <p:pic>
        <p:nvPicPr>
          <p:cNvPr id="35" name="Image 5" descr="preencoded.png">    </p:cNvPr>
          <p:cNvPicPr>
            <a:picLocks noChangeAspect="1"/>
          </p:cNvPicPr>
          <p:nvPr/>
        </p:nvPicPr>
        <p:blipFill>
          <a:blip r:embed="rId6"/>
          <a:stretch>
            <a:fillRect/>
          </a:stretch>
        </p:blipFill>
        <p:spPr>
          <a:xfrm>
            <a:off x="10619842" y="1503274"/>
            <a:ext cx="285293" cy="285293"/>
          </a:xfrm>
          <a:prstGeom prst="rect">
            <a:avLst/>
          </a:prstGeom>
        </p:spPr>
      </p:pic>
      <p:sp>
        <p:nvSpPr>
          <p:cNvPr id="36" name="Text 28"/>
          <p:cNvSpPr txBox="1"/>
          <p:nvPr/>
        </p:nvSpPr>
        <p:spPr>
          <a:xfrm>
            <a:off x="9994392" y="2011680"/>
            <a:ext cx="1554480" cy="320040"/>
          </a:xfrm>
          <a:prstGeom prst="rect">
            <a:avLst/>
          </a:prstGeom>
          <a:noFill/>
          <a:ln/>
        </p:spPr>
        <p:txBody>
          <a:bodyPr wrap="square" lIns="0" tIns="0" rIns="0" bIns="0" rtlCol="0" anchor="t"/>
          <a:lstStyle/>
          <a:p>
            <a:pPr algn="ctr" indent="0" marL="0">
              <a:buNone/>
            </a:pPr>
            <a:r>
              <a:rPr lang="en-US" sz="1400" b="1" dirty="0">
                <a:solidFill>
                  <a:srgbClr val="14284B"/>
                </a:solidFill>
                <a:latin typeface="Calibri" pitchFamily="34" charset="0"/>
                <a:ea typeface="Calibri" pitchFamily="34" charset="-122"/>
                <a:cs typeface="Calibri" pitchFamily="34" charset="-120"/>
              </a:rPr>
              <a:t>Release tag</a:t>
            </a:r>
            <a:endParaRPr lang="en-US" sz="1400" dirty="0"/>
          </a:p>
        </p:txBody>
      </p:sp>
      <p:sp>
        <p:nvSpPr>
          <p:cNvPr id="37" name="Text 29"/>
          <p:cNvSpPr txBox="1"/>
          <p:nvPr/>
        </p:nvSpPr>
        <p:spPr>
          <a:xfrm>
            <a:off x="10012680" y="2359152"/>
            <a:ext cx="1508760" cy="731520"/>
          </a:xfrm>
          <a:prstGeom prst="rect">
            <a:avLst/>
          </a:prstGeom>
          <a:noFill/>
          <a:ln/>
        </p:spPr>
        <p:txBody>
          <a:bodyPr wrap="square" lIns="0" tIns="0" rIns="0" bIns="0" rtlCol="0" anchor="t"/>
          <a:lstStyle/>
          <a:p>
            <a:pPr algn="ctr" indent="0" marL="0">
              <a:buNone/>
            </a:pPr>
            <a:r>
              <a:rPr lang="en-US" sz="1100" dirty="0">
                <a:solidFill>
                  <a:srgbClr val="5B6576"/>
                </a:solidFill>
                <a:latin typeface="Calibri" pitchFamily="34" charset="0"/>
                <a:ea typeface="Calibri" pitchFamily="34" charset="-122"/>
                <a:cs typeface="Calibri" pitchFamily="34" charset="-120"/>
              </a:rPr>
              <a:t>Baseline with release notes</a:t>
            </a:r>
            <a:endParaRPr lang="en-US" sz="1100" dirty="0"/>
          </a:p>
        </p:txBody>
      </p:sp>
      <p:sp>
        <p:nvSpPr>
          <p:cNvPr id="38" name="Text 30"/>
          <p:cNvSpPr txBox="1"/>
          <p:nvPr/>
        </p:nvSpPr>
        <p:spPr>
          <a:xfrm>
            <a:off x="548640" y="3383280"/>
            <a:ext cx="548640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Planned release baselines</a:t>
            </a:r>
            <a:endParaRPr lang="en-US" sz="1500" dirty="0"/>
          </a:p>
        </p:txBody>
      </p:sp>
      <p:sp>
        <p:nvSpPr>
          <p:cNvPr id="39" name="Shape 31"/>
          <p:cNvSpPr/>
          <p:nvPr/>
        </p:nvSpPr>
        <p:spPr>
          <a:xfrm>
            <a:off x="548640" y="3749040"/>
            <a:ext cx="1371600" cy="914400"/>
          </a:xfrm>
          <a:prstGeom prst="roundRect">
            <a:avLst>
              <a:gd name="adj" fmla="val 8000"/>
            </a:avLst>
          </a:prstGeom>
          <a:solidFill>
            <a:srgbClr val="F3F5F8"/>
          </a:solidFill>
          <a:ln w="12700">
            <a:solidFill>
              <a:srgbClr val="F3F5F8"/>
            </a:solidFill>
            <a:prstDash val="solid"/>
          </a:ln>
        </p:spPr>
      </p:sp>
      <p:sp>
        <p:nvSpPr>
          <p:cNvPr id="40" name="Text 32"/>
          <p:cNvSpPr txBox="1"/>
          <p:nvPr/>
        </p:nvSpPr>
        <p:spPr>
          <a:xfrm>
            <a:off x="548640" y="3749040"/>
            <a:ext cx="1371600" cy="91440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v0.1</a:t>
            </a:r>
            <a:endParaRPr lang="en-US" sz="1400" dirty="0"/>
          </a:p>
          <a:p>
            <a:pPr algn="ctr" indent="0" marL="0">
              <a:buNone/>
            </a:pPr>
            <a:r>
              <a:rPr lang="en-US" sz="1100" dirty="0">
                <a:solidFill>
                  <a:srgbClr val="1F2937"/>
                </a:solidFill>
                <a:latin typeface="Calibri" pitchFamily="34" charset="0"/>
                <a:ea typeface="Calibri" pitchFamily="34" charset="-122"/>
                <a:cs typeface="Calibri" pitchFamily="34" charset="-120"/>
              </a:rPr>
              <a:t>Approved project plan</a:t>
            </a:r>
            <a:endParaRPr lang="en-US" sz="1400" dirty="0"/>
          </a:p>
        </p:txBody>
      </p:sp>
      <p:sp>
        <p:nvSpPr>
          <p:cNvPr id="41" name="Shape 33"/>
          <p:cNvSpPr/>
          <p:nvPr/>
        </p:nvSpPr>
        <p:spPr>
          <a:xfrm>
            <a:off x="2029968" y="3749040"/>
            <a:ext cx="1371600" cy="914400"/>
          </a:xfrm>
          <a:prstGeom prst="roundRect">
            <a:avLst>
              <a:gd name="adj" fmla="val 8000"/>
            </a:avLst>
          </a:prstGeom>
          <a:solidFill>
            <a:srgbClr val="F3F5F8"/>
          </a:solidFill>
          <a:ln w="12700">
            <a:solidFill>
              <a:srgbClr val="F3F5F8"/>
            </a:solidFill>
            <a:prstDash val="solid"/>
          </a:ln>
        </p:spPr>
      </p:sp>
      <p:sp>
        <p:nvSpPr>
          <p:cNvPr id="42" name="Text 34"/>
          <p:cNvSpPr txBox="1"/>
          <p:nvPr/>
        </p:nvSpPr>
        <p:spPr>
          <a:xfrm>
            <a:off x="2029968" y="3749040"/>
            <a:ext cx="1371600" cy="91440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v0.2</a:t>
            </a:r>
            <a:endParaRPr lang="en-US" sz="1400" dirty="0"/>
          </a:p>
          <a:p>
            <a:pPr algn="ctr" indent="0" marL="0">
              <a:buNone/>
            </a:pPr>
            <a:r>
              <a:rPr lang="en-US" sz="1100" dirty="0">
                <a:solidFill>
                  <a:srgbClr val="1F2937"/>
                </a:solidFill>
                <a:latin typeface="Calibri" pitchFamily="34" charset="0"/>
                <a:ea typeface="Calibri" pitchFamily="34" charset="-122"/>
                <a:cs typeface="Calibri" pitchFamily="34" charset="-120"/>
              </a:rPr>
              <a:t>Approved requirements</a:t>
            </a:r>
            <a:endParaRPr lang="en-US" sz="1400" dirty="0"/>
          </a:p>
        </p:txBody>
      </p:sp>
      <p:sp>
        <p:nvSpPr>
          <p:cNvPr id="43" name="Shape 35"/>
          <p:cNvSpPr/>
          <p:nvPr/>
        </p:nvSpPr>
        <p:spPr>
          <a:xfrm>
            <a:off x="3511296" y="3749040"/>
            <a:ext cx="1371600" cy="914400"/>
          </a:xfrm>
          <a:prstGeom prst="roundRect">
            <a:avLst>
              <a:gd name="adj" fmla="val 8000"/>
            </a:avLst>
          </a:prstGeom>
          <a:solidFill>
            <a:srgbClr val="E8A33D"/>
          </a:solidFill>
          <a:ln w="12700">
            <a:solidFill>
              <a:srgbClr val="E8A33D"/>
            </a:solidFill>
            <a:prstDash val="solid"/>
          </a:ln>
        </p:spPr>
      </p:sp>
      <p:sp>
        <p:nvSpPr>
          <p:cNvPr id="44" name="Text 36"/>
          <p:cNvSpPr txBox="1"/>
          <p:nvPr/>
        </p:nvSpPr>
        <p:spPr>
          <a:xfrm>
            <a:off x="3511296" y="3749040"/>
            <a:ext cx="1371600" cy="91440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v1.0</a:t>
            </a:r>
            <a:endParaRPr lang="en-US" sz="1400" dirty="0"/>
          </a:p>
          <a:p>
            <a:pPr algn="ctr" indent="0" marL="0">
              <a:buNone/>
            </a:pPr>
            <a:r>
              <a:rPr lang="en-US" sz="1100" dirty="0">
                <a:solidFill>
                  <a:srgbClr val="1F2937"/>
                </a:solidFill>
                <a:latin typeface="Calibri" pitchFamily="34" charset="0"/>
                <a:ea typeface="Calibri" pitchFamily="34" charset="-122"/>
                <a:cs typeface="Calibri" pitchFamily="34" charset="-120"/>
              </a:rPr>
              <a:t>Configuration baseline (M4)</a:t>
            </a:r>
            <a:endParaRPr lang="en-US" sz="1400" dirty="0"/>
          </a:p>
        </p:txBody>
      </p:sp>
      <p:sp>
        <p:nvSpPr>
          <p:cNvPr id="45" name="Shape 37"/>
          <p:cNvSpPr/>
          <p:nvPr/>
        </p:nvSpPr>
        <p:spPr>
          <a:xfrm>
            <a:off x="4992624" y="3749040"/>
            <a:ext cx="1371600" cy="914400"/>
          </a:xfrm>
          <a:prstGeom prst="roundRect">
            <a:avLst>
              <a:gd name="adj" fmla="val 8000"/>
            </a:avLst>
          </a:prstGeom>
          <a:solidFill>
            <a:srgbClr val="F3F5F8"/>
          </a:solidFill>
          <a:ln w="12700">
            <a:solidFill>
              <a:srgbClr val="F3F5F8"/>
            </a:solidFill>
            <a:prstDash val="solid"/>
          </a:ln>
        </p:spPr>
      </p:sp>
      <p:sp>
        <p:nvSpPr>
          <p:cNvPr id="46" name="Text 38"/>
          <p:cNvSpPr txBox="1"/>
          <p:nvPr/>
        </p:nvSpPr>
        <p:spPr>
          <a:xfrm>
            <a:off x="4992624" y="3749040"/>
            <a:ext cx="1371600" cy="91440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v1.1</a:t>
            </a:r>
            <a:endParaRPr lang="en-US" sz="1400" dirty="0"/>
          </a:p>
          <a:p>
            <a:pPr algn="ctr" indent="0" marL="0">
              <a:buNone/>
            </a:pPr>
            <a:r>
              <a:rPr lang="en-US" sz="1100" dirty="0">
                <a:solidFill>
                  <a:srgbClr val="1F2937"/>
                </a:solidFill>
                <a:latin typeface="Calibri" pitchFamily="34" charset="0"/>
                <a:ea typeface="Calibri" pitchFamily="34" charset="-122"/>
                <a:cs typeface="Calibri" pitchFamily="34" charset="-120"/>
              </a:rPr>
              <a:t>Post-pilot configuration</a:t>
            </a:r>
            <a:endParaRPr lang="en-US" sz="1400" dirty="0"/>
          </a:p>
        </p:txBody>
      </p:sp>
      <p:sp>
        <p:nvSpPr>
          <p:cNvPr id="47" name="Shape 39"/>
          <p:cNvSpPr/>
          <p:nvPr/>
        </p:nvSpPr>
        <p:spPr>
          <a:xfrm>
            <a:off x="6473952" y="3749040"/>
            <a:ext cx="1371600" cy="914400"/>
          </a:xfrm>
          <a:prstGeom prst="roundRect">
            <a:avLst>
              <a:gd name="adj" fmla="val 8000"/>
            </a:avLst>
          </a:prstGeom>
          <a:solidFill>
            <a:srgbClr val="F3F5F8"/>
          </a:solidFill>
          <a:ln w="12700">
            <a:solidFill>
              <a:srgbClr val="F3F5F8"/>
            </a:solidFill>
            <a:prstDash val="solid"/>
          </a:ln>
        </p:spPr>
      </p:sp>
      <p:sp>
        <p:nvSpPr>
          <p:cNvPr id="48" name="Text 40"/>
          <p:cNvSpPr txBox="1"/>
          <p:nvPr/>
        </p:nvSpPr>
        <p:spPr>
          <a:xfrm>
            <a:off x="6473952" y="3749040"/>
            <a:ext cx="1371600" cy="914400"/>
          </a:xfrm>
          <a:prstGeom prst="rect">
            <a:avLst/>
          </a:prstGeom>
          <a:noFill/>
          <a:ln/>
        </p:spPr>
        <p:txBody>
          <a:bodyPr wrap="square" lIns="0" tIns="0" rIns="0" bIns="0" rtlCol="0" anchor="ctr"/>
          <a:lstStyle/>
          <a:p>
            <a:pPr algn="ctr" indent="0" marL="0">
              <a:buNone/>
            </a:pPr>
            <a:r>
              <a:rPr lang="en-US" sz="1600" b="1" dirty="0">
                <a:solidFill>
                  <a:srgbClr val="1F2937"/>
                </a:solidFill>
                <a:latin typeface="Calibri" pitchFamily="34" charset="0"/>
                <a:ea typeface="Calibri" pitchFamily="34" charset="-122"/>
                <a:cs typeface="Calibri" pitchFamily="34" charset="-120"/>
              </a:rPr>
              <a:t>v2.0</a:t>
            </a:r>
            <a:endParaRPr lang="en-US" sz="1400" dirty="0"/>
          </a:p>
          <a:p>
            <a:pPr algn="ctr" indent="0" marL="0">
              <a:buNone/>
            </a:pPr>
            <a:r>
              <a:rPr lang="en-US" sz="1100" dirty="0">
                <a:solidFill>
                  <a:srgbClr val="1F2937"/>
                </a:solidFill>
                <a:latin typeface="Calibri" pitchFamily="34" charset="0"/>
                <a:ea typeface="Calibri" pitchFamily="34" charset="-122"/>
                <a:cs typeface="Calibri" pitchFamily="34" charset="-120"/>
              </a:rPr>
              <a:t>Production go-live</a:t>
            </a:r>
            <a:endParaRPr lang="en-US" sz="1400" dirty="0"/>
          </a:p>
        </p:txBody>
      </p:sp>
      <p:sp>
        <p:nvSpPr>
          <p:cNvPr id="49" name="Shape 41"/>
          <p:cNvSpPr/>
          <p:nvPr/>
        </p:nvSpPr>
        <p:spPr>
          <a:xfrm>
            <a:off x="548640" y="4846320"/>
            <a:ext cx="7223760" cy="1143000"/>
          </a:xfrm>
          <a:prstGeom prst="roundRect">
            <a:avLst>
              <a:gd name="adj" fmla="val 6400"/>
            </a:avLst>
          </a:prstGeom>
          <a:solidFill>
            <a:srgbClr val="F3F5F8"/>
          </a:solidFill>
          <a:ln w="12700">
            <a:solidFill>
              <a:srgbClr val="F3F5F8"/>
            </a:solidFill>
            <a:prstDash val="solid"/>
          </a:ln>
        </p:spPr>
      </p:sp>
      <p:sp>
        <p:nvSpPr>
          <p:cNvPr id="50" name="Text 42"/>
          <p:cNvSpPr txBox="1"/>
          <p:nvPr/>
        </p:nvSpPr>
        <p:spPr>
          <a:xfrm>
            <a:off x="731520" y="4892040"/>
            <a:ext cx="6903720" cy="1051560"/>
          </a:xfrm>
          <a:prstGeom prst="rect">
            <a:avLst/>
          </a:prstGeom>
          <a:noFill/>
          <a:ln/>
        </p:spPr>
        <p:txBody>
          <a:bodyPr wrap="square" lIns="0" tIns="0" rIns="0" bIns="0" rtlCol="0" anchor="ctr"/>
          <a:lstStyle/>
          <a:p>
            <a:pPr indent="0" marL="0">
              <a:buNone/>
            </a:pPr>
            <a:r>
              <a:rPr lang="en-US" sz="1300" b="1" dirty="0">
                <a:solidFill>
                  <a:srgbClr val="0F8B8D"/>
                </a:solidFill>
                <a:latin typeface="Calibri" pitchFamily="34" charset="0"/>
                <a:ea typeface="Calibri" pitchFamily="34" charset="-122"/>
                <a:cs typeface="Calibri" pitchFamily="34" charset="-120"/>
              </a:rPr>
              <a:t>Versioned: </a:t>
            </a:r>
            <a:pPr indent="0" marL="0">
              <a:buNone/>
            </a:pPr>
            <a:r>
              <a:rPr lang="en-US" sz="1300" dirty="0">
                <a:solidFill>
                  <a:srgbClr val="1F2937"/>
                </a:solidFill>
                <a:latin typeface="Calibri" pitchFamily="34" charset="0"/>
                <a:ea typeface="Calibri" pitchFamily="34" charset="-122"/>
                <a:cs typeface="Calibri" pitchFamily="34" charset="-120"/>
              </a:rPr>
              <a:t>plans, Moodle config template (no secrets), theme, plugin list, scripts, test plans, CHANGELOG.  </a:t>
            </a:r>
            <a:endParaRPr lang="en-US" sz="1300" dirty="0"/>
          </a:p>
          <a:p>
            <a:pPr indent="0" marL="0">
              <a:buNone/>
            </a:pPr>
            <a:r>
              <a:rPr lang="en-US" sz="1300" b="1" dirty="0">
                <a:solidFill>
                  <a:srgbClr val="C0392B"/>
                </a:solidFill>
                <a:latin typeface="Calibri" pitchFamily="34" charset="0"/>
                <a:ea typeface="Calibri" pitchFamily="34" charset="-122"/>
                <a:cs typeface="Calibri" pitchFamily="34" charset="-120"/>
              </a:rPr>
              <a:t>Excluded: </a:t>
            </a:r>
            <a:pPr indent="0" marL="0">
              <a:buNone/>
            </a:pPr>
            <a:r>
              <a:rPr lang="en-US" sz="1300" dirty="0">
                <a:solidFill>
                  <a:srgbClr val="1F2937"/>
                </a:solidFill>
                <a:latin typeface="Calibri" pitchFamily="34" charset="0"/>
                <a:ea typeface="Calibri" pitchFamily="34" charset="-122"/>
                <a:cs typeface="Calibri" pitchFamily="34" charset="-120"/>
              </a:rPr>
              <a:t>passwords and keys, student data, the database, uploaded course files.</a:t>
            </a:r>
            <a:endParaRPr lang="en-US" sz="1300" dirty="0"/>
          </a:p>
        </p:txBody>
      </p:sp>
      <p:sp>
        <p:nvSpPr>
          <p:cNvPr id="51" name="Shape 43"/>
          <p:cNvSpPr/>
          <p:nvPr/>
        </p:nvSpPr>
        <p:spPr>
          <a:xfrm>
            <a:off x="8046720" y="3383280"/>
            <a:ext cx="3593592" cy="2606040"/>
          </a:xfrm>
          <a:prstGeom prst="roundRect">
            <a:avLst>
              <a:gd name="adj" fmla="val 2807"/>
            </a:avLst>
          </a:prstGeom>
          <a:solidFill>
            <a:srgbClr val="FCF1DE"/>
          </a:solidFill>
          <a:ln w="12700">
            <a:solidFill>
              <a:srgbClr val="FCF1DE"/>
            </a:solidFill>
            <a:prstDash val="solid"/>
          </a:ln>
        </p:spPr>
      </p:sp>
      <p:sp>
        <p:nvSpPr>
          <p:cNvPr id="52" name="Shape 44"/>
          <p:cNvSpPr/>
          <p:nvPr/>
        </p:nvSpPr>
        <p:spPr>
          <a:xfrm>
            <a:off x="8229600" y="3547872"/>
            <a:ext cx="502920" cy="502920"/>
          </a:xfrm>
          <a:prstGeom prst="ellipse">
            <a:avLst/>
          </a:prstGeom>
          <a:solidFill>
            <a:srgbClr val="E8A33D"/>
          </a:solidFill>
          <a:ln w="12700">
            <a:solidFill>
              <a:srgbClr val="E8A33D"/>
            </a:solidFill>
            <a:prstDash val="solid"/>
          </a:ln>
        </p:spPr>
      </p:sp>
      <p:pic>
        <p:nvPicPr>
          <p:cNvPr id="53" name="Image 6" descr="preencoded.png">    </p:cNvPr>
          <p:cNvPicPr>
            <a:picLocks noChangeAspect="1"/>
          </p:cNvPicPr>
          <p:nvPr/>
        </p:nvPicPr>
        <p:blipFill>
          <a:blip r:embed="rId7"/>
          <a:stretch>
            <a:fillRect/>
          </a:stretch>
        </p:blipFill>
        <p:spPr>
          <a:xfrm>
            <a:off x="8350301" y="3668573"/>
            <a:ext cx="261518" cy="261518"/>
          </a:xfrm>
          <a:prstGeom prst="rect">
            <a:avLst/>
          </a:prstGeom>
        </p:spPr>
      </p:pic>
      <p:sp>
        <p:nvSpPr>
          <p:cNvPr id="54" name="Text 45"/>
          <p:cNvSpPr txBox="1"/>
          <p:nvPr/>
        </p:nvSpPr>
        <p:spPr>
          <a:xfrm>
            <a:off x="8823960" y="3611880"/>
            <a:ext cx="2743200" cy="36576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Repository evidence</a:t>
            </a:r>
            <a:endParaRPr lang="en-US" sz="1500" dirty="0"/>
          </a:p>
        </p:txBody>
      </p:sp>
      <p:sp>
        <p:nvSpPr>
          <p:cNvPr id="55" name="Text 46"/>
          <p:cNvSpPr txBox="1"/>
          <p:nvPr/>
        </p:nvSpPr>
        <p:spPr>
          <a:xfrm>
            <a:off x="8229600" y="4160520"/>
            <a:ext cx="3246120" cy="173736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The GitHub workflow is planned; repository evidence has not yet been provided. Commits, pull requests, labelled issues and release tags will be shown once the repository is set up.</a:t>
            </a:r>
            <a:endParaRPr lang="en-US" sz="14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64240" cy="731520"/>
          </a:xfrm>
          <a:prstGeom prst="rect">
            <a:avLst/>
          </a:prstGeom>
          <a:noFill/>
          <a:ln/>
        </p:spPr>
        <p:txBody>
          <a:bodyPr wrap="square" lIns="0" tIns="0" rIns="0" bIns="0" rtlCol="0" anchor="ctr"/>
          <a:lstStyle/>
          <a:p>
            <a:pPr indent="0" marL="0">
              <a:buNone/>
            </a:pPr>
            <a:r>
              <a:rPr lang="en-US" sz="2800" b="1" dirty="0">
                <a:solidFill>
                  <a:srgbClr val="14284B"/>
                </a:solidFill>
                <a:latin typeface="Calibri" pitchFamily="34" charset="0"/>
                <a:ea typeface="Calibri" pitchFamily="34" charset="-122"/>
                <a:cs typeface="Calibri" pitchFamily="34" charset="-120"/>
              </a:rPr>
              <a:t>From pilot to handover, and our recommendation</a:t>
            </a:r>
            <a:endParaRPr lang="en-US" sz="2800" dirty="0"/>
          </a:p>
        </p:txBody>
      </p:sp>
      <p:sp>
        <p:nvSpPr>
          <p:cNvPr id="3" name="Shape 1"/>
          <p:cNvSpPr/>
          <p:nvPr/>
        </p:nvSpPr>
        <p:spPr>
          <a:xfrm>
            <a:off x="960120" y="1234440"/>
            <a:ext cx="658368" cy="658368"/>
          </a:xfrm>
          <a:prstGeom prst="ellipse">
            <a:avLst/>
          </a:prstGeom>
          <a:solidFill>
            <a:srgbClr val="14284B"/>
          </a:solidFill>
          <a:ln w="12700">
            <a:solidFill>
              <a:srgbClr val="14284B"/>
            </a:solidFill>
            <a:prstDash val="solid"/>
          </a:ln>
        </p:spPr>
      </p:sp>
      <p:pic>
        <p:nvPicPr>
          <p:cNvPr id="4" name="Image 0" descr="preencoded.png">    </p:cNvPr>
          <p:cNvPicPr>
            <a:picLocks noChangeAspect="1"/>
          </p:cNvPicPr>
          <p:nvPr/>
        </p:nvPicPr>
        <p:blipFill>
          <a:blip r:embed="rId1"/>
          <a:stretch>
            <a:fillRect/>
          </a:stretch>
        </p:blipFill>
        <p:spPr>
          <a:xfrm>
            <a:off x="1118128" y="1392448"/>
            <a:ext cx="342351" cy="342351"/>
          </a:xfrm>
          <a:prstGeom prst="rect">
            <a:avLst/>
          </a:prstGeom>
        </p:spPr>
      </p:pic>
      <p:sp>
        <p:nvSpPr>
          <p:cNvPr id="5" name="Shape 2"/>
          <p:cNvSpPr/>
          <p:nvPr/>
        </p:nvSpPr>
        <p:spPr>
          <a:xfrm>
            <a:off x="1645920" y="1563624"/>
            <a:ext cx="914400" cy="0"/>
          </a:xfrm>
          <a:prstGeom prst="line">
            <a:avLst/>
          </a:prstGeom>
          <a:noFill/>
          <a:ln w="25400">
            <a:solidFill>
              <a:srgbClr val="9FB3C8"/>
            </a:solidFill>
            <a:prstDash val="solid"/>
            <a:tailEnd type="triangle"/>
          </a:ln>
        </p:spPr>
      </p:sp>
      <p:sp>
        <p:nvSpPr>
          <p:cNvPr id="6" name="Text 3"/>
          <p:cNvSpPr txBox="1"/>
          <p:nvPr/>
        </p:nvSpPr>
        <p:spPr>
          <a:xfrm>
            <a:off x="502920" y="1965960"/>
            <a:ext cx="1508760" cy="9601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Pilot</a:t>
            </a:r>
            <a:endParaRPr lang="en-US" sz="1300" dirty="0"/>
          </a:p>
          <a:p>
            <a:pPr algn="ctr" indent="0" marL="0">
              <a:buNone/>
            </a:pPr>
            <a:r>
              <a:rPr lang="en-US" sz="1100" dirty="0">
                <a:solidFill>
                  <a:srgbClr val="5B6576"/>
                </a:solidFill>
                <a:latin typeface="Calibri" pitchFamily="34" charset="0"/>
                <a:ea typeface="Calibri" pitchFamily="34" charset="-122"/>
                <a:cs typeface="Calibri" pitchFamily="34" charset="-120"/>
              </a:rPr>
              <a:t>5 courses</a:t>
            </a:r>
            <a:endParaRPr lang="en-US" sz="1300" dirty="0"/>
          </a:p>
          <a:p>
            <a:pPr algn="ctr" indent="0" marL="0">
              <a:buNone/>
            </a:pPr>
            <a:r>
              <a:rPr lang="en-US" sz="1200" b="1" dirty="0">
                <a:solidFill>
                  <a:srgbClr val="0F8B8D"/>
                </a:solidFill>
                <a:latin typeface="Calibri" pitchFamily="34" charset="0"/>
                <a:ea typeface="Calibri" pitchFamily="34" charset="-122"/>
                <a:cs typeface="Calibri" pitchFamily="34" charset="-120"/>
              </a:rPr>
              <a:t>W18–20</a:t>
            </a:r>
            <a:endParaRPr lang="en-US" sz="1300" dirty="0"/>
          </a:p>
        </p:txBody>
      </p:sp>
      <p:sp>
        <p:nvSpPr>
          <p:cNvPr id="7" name="Shape 4"/>
          <p:cNvSpPr/>
          <p:nvPr/>
        </p:nvSpPr>
        <p:spPr>
          <a:xfrm>
            <a:off x="2560320" y="1234440"/>
            <a:ext cx="658368" cy="658368"/>
          </a:xfrm>
          <a:prstGeom prst="ellipse">
            <a:avLst/>
          </a:prstGeom>
          <a:solidFill>
            <a:srgbClr val="14284B"/>
          </a:solidFill>
          <a:ln w="12700">
            <a:solidFill>
              <a:srgbClr val="14284B"/>
            </a:solidFill>
            <a:prstDash val="solid"/>
          </a:ln>
        </p:spPr>
      </p:sp>
      <p:pic>
        <p:nvPicPr>
          <p:cNvPr id="8" name="Image 1" descr="preencoded.png">    </p:cNvPr>
          <p:cNvPicPr>
            <a:picLocks noChangeAspect="1"/>
          </p:cNvPicPr>
          <p:nvPr/>
        </p:nvPicPr>
        <p:blipFill>
          <a:blip r:embed="rId2"/>
          <a:stretch>
            <a:fillRect/>
          </a:stretch>
        </p:blipFill>
        <p:spPr>
          <a:xfrm>
            <a:off x="2718328" y="1392448"/>
            <a:ext cx="342351" cy="342351"/>
          </a:xfrm>
          <a:prstGeom prst="rect">
            <a:avLst/>
          </a:prstGeom>
        </p:spPr>
      </p:pic>
      <p:sp>
        <p:nvSpPr>
          <p:cNvPr id="9" name="Shape 5"/>
          <p:cNvSpPr/>
          <p:nvPr/>
        </p:nvSpPr>
        <p:spPr>
          <a:xfrm>
            <a:off x="3246120" y="1563624"/>
            <a:ext cx="914400" cy="0"/>
          </a:xfrm>
          <a:prstGeom prst="line">
            <a:avLst/>
          </a:prstGeom>
          <a:noFill/>
          <a:ln w="25400">
            <a:solidFill>
              <a:srgbClr val="9FB3C8"/>
            </a:solidFill>
            <a:prstDash val="solid"/>
            <a:tailEnd type="triangle"/>
          </a:ln>
        </p:spPr>
      </p:sp>
      <p:sp>
        <p:nvSpPr>
          <p:cNvPr id="10" name="Text 6"/>
          <p:cNvSpPr txBox="1"/>
          <p:nvPr/>
        </p:nvSpPr>
        <p:spPr>
          <a:xfrm>
            <a:off x="2103120" y="1965960"/>
            <a:ext cx="1508760" cy="9601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Evaluate and remediate</a:t>
            </a:r>
            <a:endParaRPr lang="en-US" sz="1300" dirty="0"/>
          </a:p>
          <a:p>
            <a:pPr algn="ctr" indent="0" marL="0">
              <a:buNone/>
            </a:pPr>
            <a:r>
              <a:rPr lang="en-US" sz="1100" dirty="0">
                <a:solidFill>
                  <a:srgbClr val="5B6576"/>
                </a:solidFill>
                <a:latin typeface="Calibri" pitchFamily="34" charset="0"/>
                <a:ea typeface="Calibri" pitchFamily="34" charset="-122"/>
                <a:cs typeface="Calibri" pitchFamily="34" charset="-120"/>
              </a:rPr>
              <a:t>Fix defects</a:t>
            </a:r>
            <a:endParaRPr lang="en-US" sz="1300" dirty="0"/>
          </a:p>
          <a:p>
            <a:pPr algn="ctr" indent="0" marL="0">
              <a:buNone/>
            </a:pPr>
            <a:r>
              <a:rPr lang="en-US" sz="1200" b="1" dirty="0">
                <a:solidFill>
                  <a:srgbClr val="0F8B8D"/>
                </a:solidFill>
                <a:latin typeface="Calibri" pitchFamily="34" charset="0"/>
                <a:ea typeface="Calibri" pitchFamily="34" charset="-122"/>
                <a:cs typeface="Calibri" pitchFamily="34" charset="-120"/>
              </a:rPr>
              <a:t>W21–22</a:t>
            </a:r>
            <a:endParaRPr lang="en-US" sz="1300" dirty="0"/>
          </a:p>
        </p:txBody>
      </p:sp>
      <p:sp>
        <p:nvSpPr>
          <p:cNvPr id="11" name="Shape 7"/>
          <p:cNvSpPr/>
          <p:nvPr/>
        </p:nvSpPr>
        <p:spPr>
          <a:xfrm>
            <a:off x="4160520" y="1234440"/>
            <a:ext cx="658368" cy="658368"/>
          </a:xfrm>
          <a:prstGeom prst="ellipse">
            <a:avLst/>
          </a:prstGeom>
          <a:solidFill>
            <a:srgbClr val="14284B"/>
          </a:solidFill>
          <a:ln w="12700">
            <a:solidFill>
              <a:srgbClr val="14284B"/>
            </a:solidFill>
            <a:prstDash val="solid"/>
          </a:ln>
        </p:spPr>
      </p:sp>
      <p:pic>
        <p:nvPicPr>
          <p:cNvPr id="12" name="Image 2" descr="preencoded.png">    </p:cNvPr>
          <p:cNvPicPr>
            <a:picLocks noChangeAspect="1"/>
          </p:cNvPicPr>
          <p:nvPr/>
        </p:nvPicPr>
        <p:blipFill>
          <a:blip r:embed="rId3"/>
          <a:stretch>
            <a:fillRect/>
          </a:stretch>
        </p:blipFill>
        <p:spPr>
          <a:xfrm>
            <a:off x="4318528" y="1392448"/>
            <a:ext cx="342351" cy="342351"/>
          </a:xfrm>
          <a:prstGeom prst="rect">
            <a:avLst/>
          </a:prstGeom>
        </p:spPr>
      </p:pic>
      <p:sp>
        <p:nvSpPr>
          <p:cNvPr id="13" name="Shape 8"/>
          <p:cNvSpPr/>
          <p:nvPr/>
        </p:nvSpPr>
        <p:spPr>
          <a:xfrm>
            <a:off x="4846320" y="1563624"/>
            <a:ext cx="914400" cy="0"/>
          </a:xfrm>
          <a:prstGeom prst="line">
            <a:avLst/>
          </a:prstGeom>
          <a:noFill/>
          <a:ln w="25400">
            <a:solidFill>
              <a:srgbClr val="9FB3C8"/>
            </a:solidFill>
            <a:prstDash val="solid"/>
            <a:tailEnd type="triangle"/>
          </a:ln>
        </p:spPr>
      </p:sp>
      <p:sp>
        <p:nvSpPr>
          <p:cNvPr id="14" name="Text 9"/>
          <p:cNvSpPr txBox="1"/>
          <p:nvPr/>
        </p:nvSpPr>
        <p:spPr>
          <a:xfrm>
            <a:off x="3703320" y="1965960"/>
            <a:ext cx="1508760" cy="9601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UAT</a:t>
            </a:r>
            <a:endParaRPr lang="en-US" sz="1300" dirty="0"/>
          </a:p>
          <a:p>
            <a:pPr algn="ctr" indent="0" marL="0">
              <a:buNone/>
            </a:pPr>
            <a:r>
              <a:rPr lang="en-US" sz="1100" dirty="0">
                <a:solidFill>
                  <a:srgbClr val="5B6576"/>
                </a:solidFill>
                <a:latin typeface="Calibri" pitchFamily="34" charset="0"/>
                <a:ea typeface="Calibri" pitchFamily="34" charset="-122"/>
                <a:cs typeface="Calibri" pitchFamily="34" charset="-120"/>
              </a:rPr>
              <a:t>Real scenarios</a:t>
            </a:r>
            <a:endParaRPr lang="en-US" sz="1300" dirty="0"/>
          </a:p>
          <a:p>
            <a:pPr algn="ctr" indent="0" marL="0">
              <a:buNone/>
            </a:pPr>
            <a:r>
              <a:rPr lang="en-US" sz="1200" b="1" dirty="0">
                <a:solidFill>
                  <a:srgbClr val="0F8B8D"/>
                </a:solidFill>
                <a:latin typeface="Calibri" pitchFamily="34" charset="0"/>
                <a:ea typeface="Calibri" pitchFamily="34" charset="-122"/>
                <a:cs typeface="Calibri" pitchFamily="34" charset="-120"/>
              </a:rPr>
              <a:t>W23</a:t>
            </a:r>
            <a:endParaRPr lang="en-US" sz="1300" dirty="0"/>
          </a:p>
        </p:txBody>
      </p:sp>
      <p:sp>
        <p:nvSpPr>
          <p:cNvPr id="15" name="Shape 10"/>
          <p:cNvSpPr/>
          <p:nvPr/>
        </p:nvSpPr>
        <p:spPr>
          <a:xfrm>
            <a:off x="5760720" y="1234440"/>
            <a:ext cx="658368" cy="658368"/>
          </a:xfrm>
          <a:prstGeom prst="ellipse">
            <a:avLst/>
          </a:prstGeom>
          <a:solidFill>
            <a:srgbClr val="14284B"/>
          </a:solidFill>
          <a:ln w="12700">
            <a:solidFill>
              <a:srgbClr val="14284B"/>
            </a:solidFill>
            <a:prstDash val="solid"/>
          </a:ln>
        </p:spPr>
      </p:sp>
      <p:pic>
        <p:nvPicPr>
          <p:cNvPr id="16" name="Image 3" descr="preencoded.png">    </p:cNvPr>
          <p:cNvPicPr>
            <a:picLocks noChangeAspect="1"/>
          </p:cNvPicPr>
          <p:nvPr/>
        </p:nvPicPr>
        <p:blipFill>
          <a:blip r:embed="rId4"/>
          <a:stretch>
            <a:fillRect/>
          </a:stretch>
        </p:blipFill>
        <p:spPr>
          <a:xfrm>
            <a:off x="5918728" y="1392448"/>
            <a:ext cx="342351" cy="342351"/>
          </a:xfrm>
          <a:prstGeom prst="rect">
            <a:avLst/>
          </a:prstGeom>
        </p:spPr>
      </p:pic>
      <p:sp>
        <p:nvSpPr>
          <p:cNvPr id="17" name="Shape 11"/>
          <p:cNvSpPr/>
          <p:nvPr/>
        </p:nvSpPr>
        <p:spPr>
          <a:xfrm>
            <a:off x="6446520" y="1563624"/>
            <a:ext cx="914400" cy="0"/>
          </a:xfrm>
          <a:prstGeom prst="line">
            <a:avLst/>
          </a:prstGeom>
          <a:noFill/>
          <a:ln w="25400">
            <a:solidFill>
              <a:srgbClr val="9FB3C8"/>
            </a:solidFill>
            <a:prstDash val="solid"/>
            <a:tailEnd type="triangle"/>
          </a:ln>
        </p:spPr>
      </p:sp>
      <p:sp>
        <p:nvSpPr>
          <p:cNvPr id="18" name="Text 12"/>
          <p:cNvSpPr txBox="1"/>
          <p:nvPr/>
        </p:nvSpPr>
        <p:spPr>
          <a:xfrm>
            <a:off x="5303520" y="1965960"/>
            <a:ext cx="1508760" cy="9601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Retest and go/no-go</a:t>
            </a:r>
            <a:endParaRPr lang="en-US" sz="1300" dirty="0"/>
          </a:p>
          <a:p>
            <a:pPr algn="ctr" indent="0" marL="0">
              <a:buNone/>
            </a:pPr>
            <a:r>
              <a:rPr lang="en-US" sz="1100" dirty="0">
                <a:solidFill>
                  <a:srgbClr val="5B6576"/>
                </a:solidFill>
                <a:latin typeface="Calibri" pitchFamily="34" charset="0"/>
                <a:ea typeface="Calibri" pitchFamily="34" charset="-122"/>
                <a:cs typeface="Calibri" pitchFamily="34" charset="-120"/>
              </a:rPr>
              <a:t>Sponsor decides (M7)</a:t>
            </a:r>
            <a:endParaRPr lang="en-US" sz="1300" dirty="0"/>
          </a:p>
          <a:p>
            <a:pPr algn="ctr" indent="0" marL="0">
              <a:buNone/>
            </a:pPr>
            <a:r>
              <a:rPr lang="en-US" sz="1200" b="1" dirty="0">
                <a:solidFill>
                  <a:srgbClr val="0F8B8D"/>
                </a:solidFill>
                <a:latin typeface="Calibri" pitchFamily="34" charset="0"/>
                <a:ea typeface="Calibri" pitchFamily="34" charset="-122"/>
                <a:cs typeface="Calibri" pitchFamily="34" charset="-120"/>
              </a:rPr>
              <a:t>W24</a:t>
            </a:r>
            <a:endParaRPr lang="en-US" sz="1300" dirty="0"/>
          </a:p>
        </p:txBody>
      </p:sp>
      <p:sp>
        <p:nvSpPr>
          <p:cNvPr id="19" name="Shape 13"/>
          <p:cNvSpPr/>
          <p:nvPr/>
        </p:nvSpPr>
        <p:spPr>
          <a:xfrm>
            <a:off x="7360920" y="1234440"/>
            <a:ext cx="658368" cy="658368"/>
          </a:xfrm>
          <a:prstGeom prst="ellipse">
            <a:avLst/>
          </a:prstGeom>
          <a:solidFill>
            <a:srgbClr val="E8A33D"/>
          </a:solidFill>
          <a:ln w="12700">
            <a:solidFill>
              <a:srgbClr val="E8A33D"/>
            </a:solidFill>
            <a:prstDash val="solid"/>
          </a:ln>
        </p:spPr>
      </p:sp>
      <p:pic>
        <p:nvPicPr>
          <p:cNvPr id="20" name="Image 4" descr="preencoded.png">    </p:cNvPr>
          <p:cNvPicPr>
            <a:picLocks noChangeAspect="1"/>
          </p:cNvPicPr>
          <p:nvPr/>
        </p:nvPicPr>
        <p:blipFill>
          <a:blip r:embed="rId5"/>
          <a:stretch>
            <a:fillRect/>
          </a:stretch>
        </p:blipFill>
        <p:spPr>
          <a:xfrm>
            <a:off x="7518928" y="1392448"/>
            <a:ext cx="342351" cy="342351"/>
          </a:xfrm>
          <a:prstGeom prst="rect">
            <a:avLst/>
          </a:prstGeom>
        </p:spPr>
      </p:pic>
      <p:sp>
        <p:nvSpPr>
          <p:cNvPr id="21" name="Shape 14"/>
          <p:cNvSpPr/>
          <p:nvPr/>
        </p:nvSpPr>
        <p:spPr>
          <a:xfrm>
            <a:off x="8046720" y="1563624"/>
            <a:ext cx="914400" cy="0"/>
          </a:xfrm>
          <a:prstGeom prst="line">
            <a:avLst/>
          </a:prstGeom>
          <a:noFill/>
          <a:ln w="25400">
            <a:solidFill>
              <a:srgbClr val="9FB3C8"/>
            </a:solidFill>
            <a:prstDash val="solid"/>
            <a:tailEnd type="triangle"/>
          </a:ln>
        </p:spPr>
      </p:sp>
      <p:sp>
        <p:nvSpPr>
          <p:cNvPr id="22" name="Text 15"/>
          <p:cNvSpPr txBox="1"/>
          <p:nvPr/>
        </p:nvSpPr>
        <p:spPr>
          <a:xfrm>
            <a:off x="6903720" y="1965960"/>
            <a:ext cx="1508760" cy="9601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Go-live</a:t>
            </a:r>
            <a:endParaRPr lang="en-US" sz="1300" dirty="0"/>
          </a:p>
          <a:p>
            <a:pPr algn="ctr" indent="0" marL="0">
              <a:buNone/>
            </a:pPr>
            <a:r>
              <a:rPr lang="en-US" sz="1100" dirty="0">
                <a:solidFill>
                  <a:srgbClr val="5B6576"/>
                </a:solidFill>
                <a:latin typeface="Calibri" pitchFamily="34" charset="0"/>
                <a:ea typeface="Calibri" pitchFamily="34" charset="-122"/>
                <a:cs typeface="Calibri" pitchFamily="34" charset="-120"/>
              </a:rPr>
              <a:t>Production cut-over</a:t>
            </a:r>
            <a:endParaRPr lang="en-US" sz="1300" dirty="0"/>
          </a:p>
          <a:p>
            <a:pPr algn="ctr" indent="0" marL="0">
              <a:buNone/>
            </a:pPr>
            <a:r>
              <a:rPr lang="en-US" sz="1200" b="1" dirty="0">
                <a:solidFill>
                  <a:srgbClr val="0F8B8D"/>
                </a:solidFill>
                <a:latin typeface="Calibri" pitchFamily="34" charset="0"/>
                <a:ea typeface="Calibri" pitchFamily="34" charset="-122"/>
                <a:cs typeface="Calibri" pitchFamily="34" charset="-120"/>
              </a:rPr>
              <a:t>W25</a:t>
            </a:r>
            <a:endParaRPr lang="en-US" sz="1300" dirty="0"/>
          </a:p>
        </p:txBody>
      </p:sp>
      <p:sp>
        <p:nvSpPr>
          <p:cNvPr id="23" name="Shape 16"/>
          <p:cNvSpPr/>
          <p:nvPr/>
        </p:nvSpPr>
        <p:spPr>
          <a:xfrm>
            <a:off x="8961120" y="1234440"/>
            <a:ext cx="658368" cy="658368"/>
          </a:xfrm>
          <a:prstGeom prst="ellipse">
            <a:avLst/>
          </a:prstGeom>
          <a:solidFill>
            <a:srgbClr val="14284B"/>
          </a:solidFill>
          <a:ln w="12700">
            <a:solidFill>
              <a:srgbClr val="14284B"/>
            </a:solidFill>
            <a:prstDash val="solid"/>
          </a:ln>
        </p:spPr>
      </p:sp>
      <p:pic>
        <p:nvPicPr>
          <p:cNvPr id="24" name="Image 5" descr="preencoded.png">    </p:cNvPr>
          <p:cNvPicPr>
            <a:picLocks noChangeAspect="1"/>
          </p:cNvPicPr>
          <p:nvPr/>
        </p:nvPicPr>
        <p:blipFill>
          <a:blip r:embed="rId6"/>
          <a:stretch>
            <a:fillRect/>
          </a:stretch>
        </p:blipFill>
        <p:spPr>
          <a:xfrm>
            <a:off x="9119128" y="1392448"/>
            <a:ext cx="342351" cy="342351"/>
          </a:xfrm>
          <a:prstGeom prst="rect">
            <a:avLst/>
          </a:prstGeom>
        </p:spPr>
      </p:pic>
      <p:sp>
        <p:nvSpPr>
          <p:cNvPr id="25" name="Shape 17"/>
          <p:cNvSpPr/>
          <p:nvPr/>
        </p:nvSpPr>
        <p:spPr>
          <a:xfrm>
            <a:off x="9646920" y="1563624"/>
            <a:ext cx="914400" cy="0"/>
          </a:xfrm>
          <a:prstGeom prst="line">
            <a:avLst/>
          </a:prstGeom>
          <a:noFill/>
          <a:ln w="25400">
            <a:solidFill>
              <a:srgbClr val="9FB3C8"/>
            </a:solidFill>
            <a:prstDash val="solid"/>
            <a:tailEnd type="triangle"/>
          </a:ln>
        </p:spPr>
      </p:sp>
      <p:sp>
        <p:nvSpPr>
          <p:cNvPr id="26" name="Text 18"/>
          <p:cNvSpPr txBox="1"/>
          <p:nvPr/>
        </p:nvSpPr>
        <p:spPr>
          <a:xfrm>
            <a:off x="8503920" y="1965960"/>
            <a:ext cx="1508760" cy="9601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Hypercare</a:t>
            </a:r>
            <a:endParaRPr lang="en-US" sz="1300" dirty="0"/>
          </a:p>
          <a:p>
            <a:pPr algn="ctr" indent="0" marL="0">
              <a:buNone/>
            </a:pPr>
            <a:r>
              <a:rPr lang="en-US" sz="1100" dirty="0">
                <a:solidFill>
                  <a:srgbClr val="5B6576"/>
                </a:solidFill>
                <a:latin typeface="Calibri" pitchFamily="34" charset="0"/>
                <a:ea typeface="Calibri" pitchFamily="34" charset="-122"/>
                <a:cs typeface="Calibri" pitchFamily="34" charset="-120"/>
              </a:rPr>
              <a:t>2 weeks</a:t>
            </a:r>
            <a:endParaRPr lang="en-US" sz="1300" dirty="0"/>
          </a:p>
          <a:p>
            <a:pPr algn="ctr" indent="0" marL="0">
              <a:buNone/>
            </a:pPr>
            <a:r>
              <a:rPr lang="en-US" sz="1200" b="1" dirty="0">
                <a:solidFill>
                  <a:srgbClr val="0F8B8D"/>
                </a:solidFill>
                <a:latin typeface="Calibri" pitchFamily="34" charset="0"/>
                <a:ea typeface="Calibri" pitchFamily="34" charset="-122"/>
                <a:cs typeface="Calibri" pitchFamily="34" charset="-120"/>
              </a:rPr>
              <a:t>W26–27</a:t>
            </a:r>
            <a:endParaRPr lang="en-US" sz="1300" dirty="0"/>
          </a:p>
        </p:txBody>
      </p:sp>
      <p:sp>
        <p:nvSpPr>
          <p:cNvPr id="27" name="Shape 19"/>
          <p:cNvSpPr/>
          <p:nvPr/>
        </p:nvSpPr>
        <p:spPr>
          <a:xfrm>
            <a:off x="10561320" y="1234440"/>
            <a:ext cx="658368" cy="658368"/>
          </a:xfrm>
          <a:prstGeom prst="ellipse">
            <a:avLst/>
          </a:prstGeom>
          <a:solidFill>
            <a:srgbClr val="14284B"/>
          </a:solidFill>
          <a:ln w="12700">
            <a:solidFill>
              <a:srgbClr val="14284B"/>
            </a:solidFill>
            <a:prstDash val="solid"/>
          </a:ln>
        </p:spPr>
      </p:sp>
      <p:pic>
        <p:nvPicPr>
          <p:cNvPr id="28" name="Image 6" descr="preencoded.png">    </p:cNvPr>
          <p:cNvPicPr>
            <a:picLocks noChangeAspect="1"/>
          </p:cNvPicPr>
          <p:nvPr/>
        </p:nvPicPr>
        <p:blipFill>
          <a:blip r:embed="rId7"/>
          <a:stretch>
            <a:fillRect/>
          </a:stretch>
        </p:blipFill>
        <p:spPr>
          <a:xfrm>
            <a:off x="10719328" y="1392448"/>
            <a:ext cx="342351" cy="342351"/>
          </a:xfrm>
          <a:prstGeom prst="rect">
            <a:avLst/>
          </a:prstGeom>
        </p:spPr>
      </p:pic>
      <p:sp>
        <p:nvSpPr>
          <p:cNvPr id="29" name="Text 20"/>
          <p:cNvSpPr txBox="1"/>
          <p:nvPr/>
        </p:nvSpPr>
        <p:spPr>
          <a:xfrm>
            <a:off x="10104120" y="1965960"/>
            <a:ext cx="1508760" cy="960120"/>
          </a:xfrm>
          <a:prstGeom prst="rect">
            <a:avLst/>
          </a:prstGeom>
          <a:noFill/>
          <a:ln/>
        </p:spPr>
        <p:txBody>
          <a:bodyPr wrap="square" lIns="0" tIns="0" rIns="0" bIns="0" rtlCol="0" anchor="t"/>
          <a:lstStyle/>
          <a:p>
            <a:pPr algn="ctr" indent="0" marL="0">
              <a:buNone/>
            </a:pPr>
            <a:r>
              <a:rPr lang="en-US" sz="1300" b="1" dirty="0">
                <a:solidFill>
                  <a:srgbClr val="14284B"/>
                </a:solidFill>
                <a:latin typeface="Calibri" pitchFamily="34" charset="0"/>
                <a:ea typeface="Calibri" pitchFamily="34" charset="-122"/>
                <a:cs typeface="Calibri" pitchFamily="34" charset="-120"/>
              </a:rPr>
              <a:t>Handover and close</a:t>
            </a:r>
            <a:endParaRPr lang="en-US" sz="1300" dirty="0"/>
          </a:p>
          <a:p>
            <a:pPr algn="ctr" indent="0" marL="0">
              <a:buNone/>
            </a:pPr>
            <a:r>
              <a:rPr lang="en-US" sz="1100" dirty="0">
                <a:solidFill>
                  <a:srgbClr val="5B6576"/>
                </a:solidFill>
                <a:latin typeface="Calibri" pitchFamily="34" charset="0"/>
                <a:ea typeface="Calibri" pitchFamily="34" charset="-122"/>
                <a:cs typeface="Calibri" pitchFamily="34" charset="-120"/>
              </a:rPr>
              <a:t>Lessons learned (M9)</a:t>
            </a:r>
            <a:endParaRPr lang="en-US" sz="1300" dirty="0"/>
          </a:p>
          <a:p>
            <a:pPr algn="ctr" indent="0" marL="0">
              <a:buNone/>
            </a:pPr>
            <a:r>
              <a:rPr lang="en-US" sz="1200" b="1" dirty="0">
                <a:solidFill>
                  <a:srgbClr val="0F8B8D"/>
                </a:solidFill>
                <a:latin typeface="Calibri" pitchFamily="34" charset="0"/>
                <a:ea typeface="Calibri" pitchFamily="34" charset="-122"/>
                <a:cs typeface="Calibri" pitchFamily="34" charset="-120"/>
              </a:rPr>
              <a:t>W28</a:t>
            </a:r>
            <a:endParaRPr lang="en-US" sz="1300" dirty="0"/>
          </a:p>
        </p:txBody>
      </p:sp>
      <p:sp>
        <p:nvSpPr>
          <p:cNvPr id="30" name="Shape 21"/>
          <p:cNvSpPr/>
          <p:nvPr/>
        </p:nvSpPr>
        <p:spPr>
          <a:xfrm>
            <a:off x="548640" y="3154680"/>
            <a:ext cx="5394960" cy="2834640"/>
          </a:xfrm>
          <a:prstGeom prst="roundRect">
            <a:avLst>
              <a:gd name="adj" fmla="val 2581"/>
            </a:avLst>
          </a:prstGeom>
          <a:solidFill>
            <a:srgbClr val="F3F5F8"/>
          </a:solidFill>
          <a:ln w="12700">
            <a:solidFill>
              <a:srgbClr val="F3F5F8"/>
            </a:solidFill>
            <a:prstDash val="solid"/>
          </a:ln>
        </p:spPr>
      </p:sp>
      <p:sp>
        <p:nvSpPr>
          <p:cNvPr id="31" name="Text 22"/>
          <p:cNvSpPr txBox="1"/>
          <p:nvPr/>
        </p:nvSpPr>
        <p:spPr>
          <a:xfrm>
            <a:off x="777240" y="3246120"/>
            <a:ext cx="4937760" cy="320040"/>
          </a:xfrm>
          <a:prstGeom prst="rect">
            <a:avLst/>
          </a:prstGeom>
          <a:noFill/>
          <a:ln/>
        </p:spPr>
        <p:txBody>
          <a:bodyPr wrap="square" lIns="0" tIns="0" rIns="0" bIns="0" rtlCol="0" anchor="t"/>
          <a:lstStyle/>
          <a:p>
            <a:pPr indent="0" marL="0">
              <a:buNone/>
            </a:pPr>
            <a:r>
              <a:rPr lang="en-US" sz="1500" b="1" dirty="0">
                <a:solidFill>
                  <a:srgbClr val="14284B"/>
                </a:solidFill>
                <a:latin typeface="Calibri" pitchFamily="34" charset="0"/>
                <a:ea typeface="Calibri" pitchFamily="34" charset="-122"/>
                <a:cs typeface="Calibri" pitchFamily="34" charset="-120"/>
              </a:rPr>
              <a:t>Pilot exit and rollback</a:t>
            </a:r>
            <a:endParaRPr lang="en-US" sz="1500" dirty="0"/>
          </a:p>
        </p:txBody>
      </p:sp>
      <p:sp>
        <p:nvSpPr>
          <p:cNvPr id="32" name="Text 23"/>
          <p:cNvSpPr txBox="1"/>
          <p:nvPr/>
        </p:nvSpPr>
        <p:spPr>
          <a:xfrm>
            <a:off x="777240" y="3657600"/>
            <a:ext cx="4983480" cy="228600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All pilot assessments submitted and graded without data loss</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No open critical defects; others logged for remediation</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Pilot satisfaction of at least 3.5 / 5, or an approved remediation plan</a:t>
            </a:r>
            <a:endParaRPr lang="en-US" sz="1500" dirty="0"/>
          </a:p>
          <a:p>
            <a:pPr marL="203200" indent="-2032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Cut-over failure: restore last verified backup and previous release tag</a:t>
            </a:r>
            <a:endParaRPr lang="en-US" sz="1500" dirty="0"/>
          </a:p>
        </p:txBody>
      </p:sp>
      <p:sp>
        <p:nvSpPr>
          <p:cNvPr id="33" name="Shape 24"/>
          <p:cNvSpPr/>
          <p:nvPr/>
        </p:nvSpPr>
        <p:spPr>
          <a:xfrm>
            <a:off x="6217920" y="3154680"/>
            <a:ext cx="5422392" cy="2834640"/>
          </a:xfrm>
          <a:prstGeom prst="roundRect">
            <a:avLst>
              <a:gd name="adj" fmla="val 2581"/>
            </a:avLst>
          </a:prstGeom>
          <a:solidFill>
            <a:srgbClr val="14284B"/>
          </a:solidFill>
          <a:ln w="12700">
            <a:solidFill>
              <a:srgbClr val="14284B"/>
            </a:solidFill>
            <a:prstDash val="solid"/>
          </a:ln>
        </p:spPr>
      </p:sp>
      <p:sp>
        <p:nvSpPr>
          <p:cNvPr id="34" name="Text 25"/>
          <p:cNvSpPr txBox="1"/>
          <p:nvPr/>
        </p:nvSpPr>
        <p:spPr>
          <a:xfrm>
            <a:off x="6446520" y="3273552"/>
            <a:ext cx="4937760" cy="365760"/>
          </a:xfrm>
          <a:prstGeom prst="rect">
            <a:avLst/>
          </a:prstGeom>
          <a:noFill/>
          <a:ln/>
        </p:spPr>
        <p:txBody>
          <a:bodyPr wrap="square" lIns="0" tIns="0" rIns="0" bIns="0" rtlCol="0" anchor="t"/>
          <a:lstStyle/>
          <a:p>
            <a:pPr indent="0" marL="0">
              <a:buNone/>
            </a:pPr>
            <a:r>
              <a:rPr lang="en-US" sz="1800" b="1" dirty="0">
                <a:solidFill>
                  <a:srgbClr val="E8A33D"/>
                </a:solidFill>
                <a:latin typeface="Calibri" pitchFamily="34" charset="0"/>
                <a:ea typeface="Calibri" pitchFamily="34" charset="-122"/>
                <a:cs typeface="Calibri" pitchFamily="34" charset="-120"/>
              </a:rPr>
              <a:t>Conclusion</a:t>
            </a:r>
            <a:endParaRPr lang="en-US" sz="1800" dirty="0"/>
          </a:p>
        </p:txBody>
      </p:sp>
      <p:sp>
        <p:nvSpPr>
          <p:cNvPr id="35" name="Text 26"/>
          <p:cNvSpPr txBox="1"/>
          <p:nvPr/>
        </p:nvSpPr>
        <p:spPr>
          <a:xfrm>
            <a:off x="6446520" y="3703320"/>
            <a:ext cx="4983480" cy="16459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 pilot-led, change-managed Moodle implementation, supported by formal governance, risk management, quality gates and structured training, is proposed as the lowest-risk way for RIHE to replace its fragmented tools within budget and before a teaching trimester.</a:t>
            </a:r>
            <a:endParaRPr lang="en-US" sz="1600" dirty="0"/>
          </a:p>
        </p:txBody>
      </p:sp>
      <p:sp>
        <p:nvSpPr>
          <p:cNvPr id="36" name="Text 27"/>
          <p:cNvSpPr txBox="1"/>
          <p:nvPr/>
        </p:nvSpPr>
        <p:spPr>
          <a:xfrm>
            <a:off x="6446520" y="5349240"/>
            <a:ext cx="4983480" cy="502920"/>
          </a:xfrm>
          <a:prstGeom prst="rect">
            <a:avLst/>
          </a:prstGeom>
          <a:noFill/>
          <a:ln/>
        </p:spPr>
        <p:txBody>
          <a:bodyPr wrap="square" lIns="0" tIns="0" rIns="0" bIns="0" rtlCol="0" anchor="t"/>
          <a:lstStyle/>
          <a:p>
            <a:pPr indent="0" marL="0">
              <a:buNone/>
            </a:pPr>
            <a:r>
              <a:rPr lang="en-US" sz="1200" i="1" dirty="0">
                <a:solidFill>
                  <a:srgbClr val="C9D6E8"/>
                </a:solidFill>
                <a:latin typeface="Calibri" pitchFamily="34" charset="0"/>
                <a:ea typeface="Calibri" pitchFamily="34" charset="-122"/>
                <a:cs typeface="Calibri" pitchFamily="34" charset="-120"/>
              </a:rPr>
              <a:t>This presentation describes a plan, not a completed implementation.</a:t>
            </a:r>
            <a:endParaRPr lang="en-US" sz="1200" dirty="0"/>
          </a:p>
        </p:txBody>
      </p:sp>
      <p:sp>
        <p:nvSpPr>
          <p:cNvPr id="25" name="Slide Number Placeholder 0"/>
          <p:cNvSpPr>
            <a:spLocks noGrp="1"/>
          </p:cNvSpPr>
          <p:nvPr>
            <p:ph type="sldNum" sz="quarter" idx="4294967295"/>
          </p:nvPr>
        </p:nvSpPr>
        <p:spPr>
          <a:xfrm>
            <a:off x="11091672"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6"/>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assets/final.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4284B">
              <a:alpha val="82000"/>
            </a:srgbClr>
          </a:solidFill>
          <a:ln w="12700">
            <a:solidFill>
              <a:srgbClr val="14284B"/>
            </a:solidFill>
            <a:prstDash val="solid"/>
          </a:ln>
        </p:spPr>
      </p:sp>
      <p:sp>
        <p:nvSpPr>
          <p:cNvPr id="4" name="Text 1"/>
          <p:cNvSpPr txBox="1"/>
          <p:nvPr/>
        </p:nvSpPr>
        <p:spPr>
          <a:xfrm>
            <a:off x="822960" y="2011680"/>
            <a:ext cx="10515600" cy="100584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Questions &amp; Discussion</a:t>
            </a:r>
            <a:endParaRPr lang="en-US" sz="4400" dirty="0"/>
          </a:p>
        </p:txBody>
      </p:sp>
      <p:sp>
        <p:nvSpPr>
          <p:cNvPr id="5" name="Text 2"/>
          <p:cNvSpPr txBox="1"/>
          <p:nvPr/>
        </p:nvSpPr>
        <p:spPr>
          <a:xfrm>
            <a:off x="822960" y="3063240"/>
            <a:ext cx="10515600" cy="822960"/>
          </a:xfrm>
          <a:prstGeom prst="rect">
            <a:avLst/>
          </a:prstGeom>
          <a:noFill/>
          <a:ln/>
        </p:spPr>
        <p:txBody>
          <a:bodyPr wrap="square" lIns="0" tIns="0" rIns="0" bIns="0" rtlCol="0" anchor="t"/>
          <a:lstStyle/>
          <a:p>
            <a:pPr indent="0" marL="0">
              <a:buNone/>
            </a:pPr>
            <a:r>
              <a:rPr lang="en-US" sz="3600" b="1" dirty="0">
                <a:solidFill>
                  <a:srgbClr val="E8A33D"/>
                </a:solidFill>
                <a:latin typeface="Calibri" pitchFamily="34" charset="0"/>
                <a:ea typeface="Calibri" pitchFamily="34" charset="-122"/>
                <a:cs typeface="Calibri" pitchFamily="34" charset="-120"/>
              </a:rPr>
              <a:t>Thank You</a:t>
            </a:r>
            <a:endParaRPr lang="en-US" sz="3600" dirty="0"/>
          </a:p>
        </p:txBody>
      </p:sp>
      <p:sp>
        <p:nvSpPr>
          <p:cNvPr id="6" name="Text 3"/>
          <p:cNvSpPr txBox="1"/>
          <p:nvPr/>
        </p:nvSpPr>
        <p:spPr>
          <a:xfrm>
            <a:off x="822960" y="3977640"/>
            <a:ext cx="10515600" cy="457200"/>
          </a:xfrm>
          <a:prstGeom prst="rect">
            <a:avLst/>
          </a:prstGeom>
          <a:noFill/>
          <a:ln/>
        </p:spPr>
        <p:txBody>
          <a:bodyPr wrap="square" lIns="0" tIns="0" rIns="0" bIns="0" rtlCol="0" anchor="t"/>
          <a:lstStyle/>
          <a:p>
            <a:pPr indent="0" marL="0">
              <a:buNone/>
            </a:pPr>
            <a:r>
              <a:rPr lang="en-US" sz="1800" dirty="0">
                <a:solidFill>
                  <a:srgbClr val="DCE4F0"/>
                </a:solidFill>
                <a:latin typeface="Calibri" pitchFamily="34" charset="0"/>
                <a:ea typeface="Calibri" pitchFamily="34" charset="-122"/>
                <a:cs typeface="Calibri" pitchFamily="34" charset="-120"/>
              </a:rPr>
              <a:t>We welcome your questions and feedback.</a:t>
            </a:r>
            <a:endParaRPr lang="en-US" sz="1800" dirty="0"/>
          </a:p>
        </p:txBody>
      </p:sp>
      <p:sp>
        <p:nvSpPr>
          <p:cNvPr id="7" name="Text 4"/>
          <p:cNvSpPr txBox="1"/>
          <p:nvPr/>
        </p:nvSpPr>
        <p:spPr>
          <a:xfrm>
            <a:off x="822960" y="5852160"/>
            <a:ext cx="1051560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MD Sabid Hossen  ·  Yousuf Ali  ·  M Arnab bin Zaman  ·  Mahmudul Hassan Joy</a:t>
            </a:r>
            <a:endParaRPr lang="en-US" sz="1400" dirty="0"/>
          </a:p>
        </p:txBody>
      </p:sp>
      <p:sp>
        <p:nvSpPr>
          <p:cNvPr id="8" name="Text 5"/>
          <p:cNvSpPr txBox="1"/>
          <p:nvPr/>
        </p:nvSpPr>
        <p:spPr>
          <a:xfrm>
            <a:off x="822960" y="6217920"/>
            <a:ext cx="10515600" cy="320040"/>
          </a:xfrm>
          <a:prstGeom prst="rect">
            <a:avLst/>
          </a:prstGeom>
          <a:noFill/>
          <a:ln/>
        </p:spPr>
        <p:txBody>
          <a:bodyPr wrap="square" lIns="0" tIns="0" rIns="0" bIns="0" rtlCol="0" anchor="t"/>
          <a:lstStyle/>
          <a:p>
            <a:pPr indent="0" marL="0">
              <a:buNone/>
            </a:pPr>
            <a:r>
              <a:rPr lang="en-US" sz="1200" dirty="0">
                <a:solidFill>
                  <a:srgbClr val="C9D6E8"/>
                </a:solidFill>
                <a:latin typeface="Calibri" pitchFamily="34" charset="0"/>
                <a:ea typeface="Calibri" pitchFamily="34" charset="-122"/>
                <a:cs typeface="Calibri" pitchFamily="34" charset="-120"/>
              </a:rPr>
              <a:t>ITSU2006R Project Management  |  Victorian Institute of Technology</a:t>
            </a:r>
            <a:endParaRPr lang="en-US" sz="1200" dirty="0"/>
          </a:p>
        </p:txBody>
      </p:sp>
    </p:spTree>
  </p:cSld>
  <p:clrMapOvr>
    <a:masterClrMapping/>
  </p:clrMapOvr>
</p:sld>
</file>

<file path=ppt/theme/theme1.xml><?xml version="1.0" encoding="utf-8"?>
<a:theme xmlns:a="http://schemas.openxmlformats.org/drawingml/2006/main" name="RIHE LMS Academic">
  <a:themeElements>
    <a:clrScheme name="RIHE LMS Academic">
      <a:dk1>
        <a:srgbClr val="1F2937"/>
      </a:dk1>
      <a:lt1>
        <a:srgbClr val="FFFFFF"/>
      </a:lt1>
      <a:dk2>
        <a:srgbClr val="14284B"/>
      </a:dk2>
      <a:lt2>
        <a:srgbClr val="F3F5F8"/>
      </a:lt2>
      <a:accent1>
        <a:srgbClr val="14284B"/>
      </a:accent1>
      <a:accent2>
        <a:srgbClr val="0F8B8D"/>
      </a:accent2>
      <a:accent3>
        <a:srgbClr val="E8A33D"/>
      </a:accent3>
      <a:accent4>
        <a:srgbClr val="5B6576"/>
      </a:accent4>
      <a:accent5>
        <a:srgbClr val="C0392B"/>
      </a:accent5>
      <a:accent6>
        <a:srgbClr val="7FA7C9"/>
      </a:accent6>
      <a:hlink>
        <a:srgbClr val="0F8B8D"/>
      </a:hlink>
      <a:folHlink>
        <a:srgbClr val="5B6576"/>
      </a:folHlink>
    </a:clrScheme>
    <a:fontScheme name="RIHE LMS Academi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Victorian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and Deployment of a Learning Management System (LMS) for Online Education</dc:title>
  <dc:subject>ITSU2006R Project Management - Assessment Item 3</dc:subject>
  <dc:creator>MD Sabid Hossen, Yousuf Ali, M Arnab bin Zaman, Mahmudul Hassan Joy</dc:creator>
  <cp:lastModifiedBy>MD Sabid Hossen, Yousuf Ali, M Arnab bin Zaman, Mahmudul Hassan Joy</cp:lastModifiedBy>
  <cp:revision>1</cp:revision>
  <dcterms:created xsi:type="dcterms:W3CDTF">2026-10-22T08:03:43Z</dcterms:created>
  <dcterms:modified xsi:type="dcterms:W3CDTF">2026-10-22T08:03:43Z</dcterms:modified>
</cp:coreProperties>
</file>